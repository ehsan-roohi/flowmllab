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5-2.svg" ContentType="image/svg+xml"/>
  <Override PartName="/ppt/media/image-21-2.svg" ContentType="image/svg+xml"/>
  <Override PartName="/ppt/media/image-6-2.svg" ContentType="image/svg+xml"/>
  <Override PartName="/ppt/media/image-8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41"/>
    <p:sldId id="291" r:id="rId42"/>
    <p:sldId id="292" r:id="rId43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latin typeface="Times New Roman"/>
        <a:ea typeface="Times New Roman"/>
        <a:cs typeface="Times New Roman"/>
        <a:solidFill>
          <a:srgbClr val="000000"/>
        </a:solidFill>
      </a:defRPr>
    </a:lvl1pPr>
    <a:lvl2pPr marL="457200" algn="l" defTabSz="914400" rtl="0" eaLnBrk="1" latinLnBrk="0" hangingPunct="1">
      <a:defRPr sz="1800" kern="1200">
        <a:latin typeface="Times New Roman"/>
        <a:ea typeface="Times New Roman"/>
        <a:cs typeface="Times New Roman"/>
        <a:solidFill>
          <a:srgbClr val="000000"/>
        </a:solidFill>
      </a:defRPr>
    </a:lvl2pPr>
    <a:lvl3pPr marL="914400" algn="l" defTabSz="914400" rtl="0" eaLnBrk="1" latinLnBrk="0" hangingPunct="1">
      <a:defRPr sz="1800" kern="1200">
        <a:latin typeface="Times New Roman"/>
        <a:ea typeface="Times New Roman"/>
        <a:cs typeface="Times New Roman"/>
        <a:solidFill>
          <a:srgbClr val="000000"/>
        </a:solidFill>
      </a:defRPr>
    </a:lvl3pPr>
    <a:lvl4pPr marL="1371600" algn="l" defTabSz="914400" rtl="0" eaLnBrk="1" latinLnBrk="0" hangingPunct="1">
      <a:defRPr sz="1800" kern="1200">
        <a:latin typeface="Times New Roman"/>
        <a:ea typeface="Times New Roman"/>
        <a:cs typeface="Times New Roman"/>
        <a:solidFill>
          <a:srgbClr val="000000"/>
        </a:solidFill>
      </a:defRPr>
    </a:lvl4pPr>
    <a:lvl5pPr marL="1828800" algn="l" defTabSz="914400" rtl="0" eaLnBrk="1" latinLnBrk="0" hangingPunct="1">
      <a:defRPr sz="1800" kern="1200">
        <a:latin typeface="Times New Roman"/>
        <a:ea typeface="Times New Roman"/>
        <a:cs typeface="Times New Roman"/>
        <a:solidFill>
          <a:srgbClr val="000000"/>
        </a:solidFill>
      </a:defRPr>
    </a:lvl5pPr>
    <a:lvl6pPr marL="2286000" algn="l" defTabSz="914400" rtl="0" eaLnBrk="1" latinLnBrk="0" hangingPunct="1">
      <a:defRPr sz="1800" kern="1200">
        <a:latin typeface="Times New Roman"/>
        <a:ea typeface="Times New Roman"/>
        <a:cs typeface="Times New Roman"/>
        <a:solidFill>
          <a:srgbClr val="000000"/>
        </a:solidFill>
      </a:defRPr>
    </a:lvl6pPr>
    <a:lvl7pPr marL="2743200" algn="l" defTabSz="914400" rtl="0" eaLnBrk="1" latinLnBrk="0" hangingPunct="1">
      <a:defRPr sz="1800" kern="1200">
        <a:latin typeface="Times New Roman"/>
        <a:ea typeface="Times New Roman"/>
        <a:cs typeface="Times New Roman"/>
        <a:solidFill>
          <a:srgbClr val="000000"/>
        </a:solidFill>
      </a:defRPr>
    </a:lvl7pPr>
    <a:lvl8pPr marL="3200400" algn="l" defTabSz="914400" rtl="0" eaLnBrk="1" latinLnBrk="0" hangingPunct="1">
      <a:defRPr sz="1800" kern="1200">
        <a:latin typeface="Times New Roman"/>
        <a:ea typeface="Times New Roman"/>
        <a:cs typeface="Times New Roman"/>
        <a:solidFill>
          <a:srgbClr val="000000"/>
        </a:solidFill>
      </a:defRPr>
    </a:lvl8pPr>
    <a:lvl9pPr marL="3657600" algn="l" defTabSz="914400" rtl="0" eaLnBrk="1" latinLnBrk="0" hangingPunct="1">
      <a:defRPr sz="1800" kern="1200">
        <a:latin typeface="Times New Roman"/>
        <a:ea typeface="Times New Roman"/>
        <a:cs typeface="Times New Roman"/>
        <a:solidFill>
          <a:srgbClr val="000000"/>
        </a:solidFill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fld id="{5282F153-3F37-0F45-9E97-73ACFA13230C}" type="datetimeFigureOut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7/23/19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fld id="{CE5E9CC1-C706-0F49-92D6-E571CC5EEA8F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‹#›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Times New Roman"/>
        <a:ea typeface="Times New Roman"/>
        <a:cs typeface="Times New Roman"/>
        <a:solidFill>
          <a:srgbClr val="000000"/>
        </a:solidFill>
      </a:defRPr>
    </a:lvl1pPr>
    <a:lvl2pPr marL="457200" algn="l" defTabSz="914400" rtl="0" eaLnBrk="1" latinLnBrk="0" hangingPunct="1">
      <a:defRPr sz="1200" kern="1200">
        <a:latin typeface="Times New Roman"/>
        <a:ea typeface="Times New Roman"/>
        <a:cs typeface="Times New Roman"/>
        <a:solidFill>
          <a:srgbClr val="000000"/>
        </a:solidFill>
      </a:defRPr>
    </a:lvl2pPr>
    <a:lvl3pPr marL="914400" algn="l" defTabSz="914400" rtl="0" eaLnBrk="1" latinLnBrk="0" hangingPunct="1">
      <a:defRPr sz="1200" kern="1200">
        <a:latin typeface="Times New Roman"/>
        <a:ea typeface="Times New Roman"/>
        <a:cs typeface="Times New Roman"/>
        <a:solidFill>
          <a:srgbClr val="000000"/>
        </a:solidFill>
      </a:defRPr>
    </a:lvl3pPr>
    <a:lvl4pPr marL="1371600" algn="l" defTabSz="914400" rtl="0" eaLnBrk="1" latinLnBrk="0" hangingPunct="1">
      <a:defRPr sz="1200" kern="1200">
        <a:latin typeface="Times New Roman"/>
        <a:ea typeface="Times New Roman"/>
        <a:cs typeface="Times New Roman"/>
        <a:solidFill>
          <a:srgbClr val="000000"/>
        </a:solidFill>
      </a:defRPr>
    </a:lvl4pPr>
    <a:lvl5pPr marL="1828800" algn="l" defTabSz="914400" rtl="0" eaLnBrk="1" latinLnBrk="0" hangingPunct="1">
      <a:defRPr sz="1200" kern="1200">
        <a:latin typeface="Times New Roman"/>
        <a:ea typeface="Times New Roman"/>
        <a:cs typeface="Times New Roman"/>
        <a:solidFill>
          <a:srgbClr val="000000"/>
        </a:solidFill>
      </a:defRPr>
    </a:lvl5pPr>
    <a:lvl6pPr marL="2286000" algn="l" defTabSz="914400" rtl="0" eaLnBrk="1" latinLnBrk="0" hangingPunct="1">
      <a:defRPr sz="1200" kern="1200">
        <a:latin typeface="Times New Roman"/>
        <a:ea typeface="Times New Roman"/>
        <a:cs typeface="Times New Roman"/>
        <a:solidFill>
          <a:srgbClr val="000000"/>
        </a:solidFill>
      </a:defRPr>
    </a:lvl6pPr>
    <a:lvl7pPr marL="2743200" algn="l" defTabSz="914400" rtl="0" eaLnBrk="1" latinLnBrk="0" hangingPunct="1">
      <a:defRPr sz="1200" kern="1200">
        <a:latin typeface="Times New Roman"/>
        <a:ea typeface="Times New Roman"/>
        <a:cs typeface="Times New Roman"/>
        <a:solidFill>
          <a:srgbClr val="000000"/>
        </a:solidFill>
      </a:defRPr>
    </a:lvl7pPr>
    <a:lvl8pPr marL="3200400" algn="l" defTabSz="914400" rtl="0" eaLnBrk="1" latinLnBrk="0" hangingPunct="1">
      <a:defRPr sz="1200" kern="1200">
        <a:latin typeface="Times New Roman"/>
        <a:ea typeface="Times New Roman"/>
        <a:cs typeface="Times New Roman"/>
        <a:solidFill>
          <a:srgbClr val="000000"/>
        </a:solidFill>
      </a:defRPr>
    </a:lvl8pPr>
    <a:lvl9pPr marL="3657600" algn="l" defTabSz="914400" rtl="0" eaLnBrk="1" latinLnBrk="0" hangingPunct="1">
      <a:defRPr sz="1200" kern="1200">
        <a:latin typeface="Times New Roman"/>
        <a:ea typeface="Times New Roman"/>
        <a:cs typeface="Times New Roman"/>
        <a:solidFill>
          <a:srgbClr val="000000"/>
        </a:solidFill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1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2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3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4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5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6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7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8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9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10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11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12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13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14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15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16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17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18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19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20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21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22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23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24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25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26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27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28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29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30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31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32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33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/>
            </a:r>
            <a:endParaRPr lang="en-US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34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8DBD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  <a:solidFill>
                  <a:srgbClr val="000000"/>
                </a:solidFill>
              </a:rPr>
              <a:t>AI in Fluid Dynamics</a:t>
            </a:r>
            <a:endParaRPr lang="en-US" sz="1100" dirty="0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698480" y="731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  <a:solidFill>
                  <a:srgbClr val="000000"/>
                </a:solidFill>
              </a:rPr>
              <a:t>Week 3</a:t>
            </a:r>
            <a:endParaRPr lang="en-US" sz="10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6565392"/>
            <a:ext cx="11548872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61111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latin typeface="Times New Roman" pitchFamily="34" charset="0"/>
                <a:ea typeface="Times New Roman" pitchFamily="34" charset="-122"/>
                <a:cs typeface="Times New Roman" pitchFamily="34" charset="-120"/>
                <a:solidFill>
                  <a:srgbClr val="000000"/>
                </a:solidFill>
              </a:rPr>
              <a:t>Physics -&gt; solver -&gt; validated data -&gt; AI surrogate</a:t>
            </a:r>
            <a:endParaRPr lang="en-US" sz="8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/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1002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/>
            <a:fld id="{F7021451-1387-4CA6-816F-3879F97B5CBC}" type="slidenum">
              <a:rPr b="0" lang="en-US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null</a:t>
            </a:fld>
            <a:endParaRPr lang="en-US">
              <a:latin typeface="Times New Roman"/>
              <a:ea typeface="Times New Roman"/>
              <a:cs typeface="Times New Roman"/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latin typeface="Times New Roman"/>
          <a:ea typeface="Times New Roman"/>
          <a:cs typeface="Times New Roman"/>
          <a:solidFill>
            <a:srgbClr val="000000"/>
          </a:solidFill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latin typeface="Times New Roman"/>
          <a:ea typeface="Times New Roman"/>
          <a:cs typeface="Times New Roman"/>
          <a:solidFill>
            <a:srgbClr val="000000"/>
          </a:solidFill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latin typeface="Times New Roman"/>
          <a:ea typeface="Times New Roman"/>
          <a:cs typeface="Times New Roman"/>
          <a:solidFill>
            <a:srgbClr val="000000"/>
          </a:solidFill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latin typeface="Times New Roman"/>
          <a:ea typeface="Times New Roman"/>
          <a:cs typeface="Times New Roman"/>
          <a:solidFill>
            <a:srgbClr val="000000"/>
          </a:solidFill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latin typeface="Times New Roman"/>
          <a:ea typeface="Times New Roman"/>
          <a:cs typeface="Times New Roman"/>
          <a:solidFill>
            <a:srgbClr val="000000"/>
          </a:solidFill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latin typeface="Times New Roman"/>
          <a:ea typeface="Times New Roman"/>
          <a:cs typeface="Times New Roman"/>
          <a:solidFill>
            <a:srgbClr val="000000"/>
          </a:solidFill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latin typeface="Times New Roman"/>
          <a:ea typeface="Times New Roman"/>
          <a:cs typeface="Times New Roman"/>
          <a:solidFill>
            <a:srgbClr val="000000"/>
          </a:solidFill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latin typeface="Times New Roman"/>
          <a:ea typeface="Times New Roman"/>
          <a:cs typeface="Times New Roman"/>
          <a:solidFill>
            <a:srgbClr val="000000"/>
          </a:solidFill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latin typeface="Times New Roman"/>
          <a:ea typeface="Times New Roman"/>
          <a:cs typeface="Times New Roman"/>
          <a:solidFill>
            <a:srgbClr val="000000"/>
          </a:solidFill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latin typeface="Times New Roman"/>
          <a:ea typeface="Times New Roman"/>
          <a:cs typeface="Times New Roman"/>
          <a:solidFill>
            <a:srgbClr val="000000"/>
          </a:solidFill>
        </a:defRPr>
      </a:lvl9pPr>
    </p:bodyStyle>
    <p:otherStyle>
      <a:defPPr>
        <a:defRPr lang="en-US">
          <a:solidFill>
            <a:srgbClr val="000000"/>
          </a:solidFill>
          <a:latin typeface="Times New Roman"/>
          <a:ea typeface="Times New Roman"/>
          <a:cs typeface="Times New Roman"/>
        </a:defRPr>
      </a:defPPr>
      <a:lvl1pPr marL="0" algn="l" defTabSz="914400" rtl="0" eaLnBrk="1" latinLnBrk="0" hangingPunct="1">
        <a:defRPr sz="1800" kern="1200">
          <a:latin typeface="Times New Roman"/>
          <a:ea typeface="Times New Roman"/>
          <a:cs typeface="Times New Roman"/>
          <a:solidFill>
            <a:srgbClr val="000000"/>
          </a:solidFill>
        </a:defRPr>
      </a:lvl1pPr>
      <a:lvl2pPr marL="457200" algn="l" defTabSz="914400" rtl="0" eaLnBrk="1" latinLnBrk="0" hangingPunct="1">
        <a:defRPr sz="1800" kern="1200">
          <a:latin typeface="Times New Roman"/>
          <a:ea typeface="Times New Roman"/>
          <a:cs typeface="Times New Roman"/>
          <a:solidFill>
            <a:srgbClr val="000000"/>
          </a:solidFill>
        </a:defRPr>
      </a:lvl2pPr>
      <a:lvl3pPr marL="914400" algn="l" defTabSz="914400" rtl="0" eaLnBrk="1" latinLnBrk="0" hangingPunct="1">
        <a:defRPr sz="1800" kern="1200">
          <a:latin typeface="Times New Roman"/>
          <a:ea typeface="Times New Roman"/>
          <a:cs typeface="Times New Roman"/>
          <a:solidFill>
            <a:srgbClr val="000000"/>
          </a:solidFill>
        </a:defRPr>
      </a:lvl3pPr>
      <a:lvl4pPr marL="1371600" algn="l" defTabSz="914400" rtl="0" eaLnBrk="1" latinLnBrk="0" hangingPunct="1">
        <a:defRPr sz="1800" kern="1200">
          <a:latin typeface="Times New Roman"/>
          <a:ea typeface="Times New Roman"/>
          <a:cs typeface="Times New Roman"/>
          <a:solidFill>
            <a:srgbClr val="000000"/>
          </a:solidFill>
        </a:defRPr>
      </a:lvl4pPr>
      <a:lvl5pPr marL="1828800" algn="l" defTabSz="914400" rtl="0" eaLnBrk="1" latinLnBrk="0" hangingPunct="1">
        <a:defRPr sz="1800" kern="1200">
          <a:latin typeface="Times New Roman"/>
          <a:ea typeface="Times New Roman"/>
          <a:cs typeface="Times New Roman"/>
          <a:solidFill>
            <a:srgbClr val="000000"/>
          </a:solidFill>
        </a:defRPr>
      </a:lvl5pPr>
      <a:lvl6pPr marL="2286000" algn="l" defTabSz="914400" rtl="0" eaLnBrk="1" latinLnBrk="0" hangingPunct="1">
        <a:defRPr sz="1800" kern="1200">
          <a:latin typeface="Times New Roman"/>
          <a:ea typeface="Times New Roman"/>
          <a:cs typeface="Times New Roman"/>
          <a:solidFill>
            <a:srgbClr val="000000"/>
          </a:solidFill>
        </a:defRPr>
      </a:lvl6pPr>
      <a:lvl7pPr marL="2743200" algn="l" defTabSz="914400" rtl="0" eaLnBrk="1" latinLnBrk="0" hangingPunct="1">
        <a:defRPr sz="1800" kern="1200">
          <a:latin typeface="Times New Roman"/>
          <a:ea typeface="Times New Roman"/>
          <a:cs typeface="Times New Roman"/>
          <a:solidFill>
            <a:srgbClr val="000000"/>
          </a:solidFill>
        </a:defRPr>
      </a:lvl7pPr>
      <a:lvl8pPr marL="3200400" algn="l" defTabSz="914400" rtl="0" eaLnBrk="1" latinLnBrk="0" hangingPunct="1">
        <a:defRPr sz="1800" kern="1200">
          <a:latin typeface="Times New Roman"/>
          <a:ea typeface="Times New Roman"/>
          <a:cs typeface="Times New Roman"/>
          <a:solidFill>
            <a:srgbClr val="000000"/>
          </a:solidFill>
        </a:defRPr>
      </a:lvl8pPr>
      <a:lvl9pPr marL="3657600" algn="l" defTabSz="914400" rtl="0" eaLnBrk="1" latinLnBrk="0" hangingPunct="1">
        <a:defRPr sz="1800" kern="1200">
          <a:latin typeface="Times New Roman"/>
          <a:ea typeface="Times New Roman"/>
          <a:cs typeface="Times New Roman"/>
          <a:solidFill>
            <a:srgbClr val="000000"/>
          </a:solidFill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8DB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8DBDF"/>
          </a:solidFill>
          <a:ln w="12700">
            <a:solidFill>
              <a:srgbClr val="0B1F3A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AI in Fluid Dynamics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24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Week 3</a:t>
            </a:r>
            <a:endParaRPr lang="en-US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34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From Continuum Cavity</a:t>
            </a:r>
            <a:endParaRPr lang="en-US" sz="3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34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to Molecular Cavity</a:t>
            </a:r>
            <a:endParaRPr lang="en-US" sz="3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0352" y="257860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Kinetic theory, Boltzmann equation, DSMC sampling, and data quality for machine learning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0352" y="60807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Instructor: Ehsan Roohi  |  M&amp;I-ENG 690A</a:t>
            </a:r>
            <a:endParaRPr lang="en-US" sz="11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89320" y="594360"/>
            <a:ext cx="5623560" cy="5440680"/>
          </a:xfrm>
          <a:prstGeom prst="roundRect">
            <a:avLst>
              <a:gd name="adj" fmla="val 1345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pic>
        <p:nvPicPr>
          <p:cNvPr id="10" name="Image 0" descr="/mnt/data/week3_work/assets/continuum_ca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940298"/>
            <a:ext cx="2542032" cy="2215916"/>
          </a:xfrm>
          <a:prstGeom prst="rect">
            <a:avLst/>
          </a:prstGeom>
        </p:spPr>
      </p:pic>
      <p:pic>
        <p:nvPicPr>
          <p:cNvPr id="11" name="Image 1" descr="/mnt/data/week3_work/assets/mini_cavity_partic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975139"/>
            <a:ext cx="2542032" cy="214623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72200" y="32735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0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Week 1: continuum field</a:t>
            </a:r>
            <a:endParaRPr lang="en-US" sz="10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759952" y="32735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0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Week 3: molecular samples</a:t>
            </a:r>
            <a:endParaRPr lang="en-US" sz="10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202168" y="3822192"/>
            <a:ext cx="1234440" cy="658368"/>
          </a:xfrm>
          <a:prstGeom prst="chevron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Text 11"/>
          <p:cNvSpPr/>
          <p:nvPr/>
        </p:nvSpPr>
        <p:spPr>
          <a:xfrm>
            <a:off x="7927848" y="45720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same geometry</a:t>
            </a:r>
            <a:endParaRPr lang="en-US" sz="11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different description</a:t>
            </a:r>
            <a:endParaRPr lang="en-US" sz="11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309360" y="55321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Physics -&gt; solver -&gt; validated data -&gt; AI surrogate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The course story continues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9768" y="9144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Week 3 is not a separate kinetic-theory detour; it creates the data that later AI models will learn.</a:t>
            </a:r>
            <a:endParaRPr lang="en-US" sz="11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5" name="Text 3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COURSE STORY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21488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1400000000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73152" cy="2057400"/>
          </a:xfrm>
          <a:prstGeom prst="rect">
            <a:avLst/>
          </a:prstGeom>
          <a:solidFill>
            <a:srgbClr val="DEECE4"/>
          </a:solidFill>
          <a:ln w="12700">
            <a:solidFill>
              <a:srgbClr val="2E8B57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8" name="Text 6"/>
          <p:cNvSpPr/>
          <p:nvPr/>
        </p:nvSpPr>
        <p:spPr>
          <a:xfrm>
            <a:off x="758952" y="164592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Week 1</a:t>
            </a:r>
            <a:endParaRPr lang="en-US" sz="1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8952" y="1984248"/>
            <a:ext cx="1856232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Continuum cavity</a:t>
            </a:r>
            <a:endParaRPr lang="en-US" sz="13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07208" y="2148840"/>
            <a:ext cx="438912" cy="502920"/>
          </a:xfrm>
          <a:prstGeom prst="chevron">
            <a:avLst/>
          </a:prstGeom>
          <a:solidFill>
            <a:srgbClr val="B8C8D2"/>
          </a:solidFill>
          <a:ln w="12700">
            <a:solidFill>
              <a:srgbClr val="B8C8D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Shape 9"/>
          <p:cNvSpPr/>
          <p:nvPr/>
        </p:nvSpPr>
        <p:spPr>
          <a:xfrm>
            <a:off x="3246120" y="1508760"/>
            <a:ext cx="21488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4096766000000" dist="2048383000000" dir="9720000000000000">
              <a:srgbClr val="000000">
                <a:alpha val="140000000000000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2" name="Shape 10"/>
          <p:cNvSpPr/>
          <p:nvPr/>
        </p:nvSpPr>
        <p:spPr>
          <a:xfrm>
            <a:off x="3246120" y="1508760"/>
            <a:ext cx="73152" cy="205740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3" name="Text 11"/>
          <p:cNvSpPr/>
          <p:nvPr/>
        </p:nvSpPr>
        <p:spPr>
          <a:xfrm>
            <a:off x="3410712" y="164592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Week 2</a:t>
            </a:r>
            <a:endParaRPr lang="en-US" sz="1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10712" y="1984248"/>
            <a:ext cx="1856232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Neural-network basics</a:t>
            </a:r>
            <a:endParaRPr lang="en-US" sz="13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58968" y="2148840"/>
            <a:ext cx="438912" cy="502920"/>
          </a:xfrm>
          <a:prstGeom prst="chevron">
            <a:avLst/>
          </a:prstGeom>
          <a:solidFill>
            <a:srgbClr val="B8C8D2"/>
          </a:solidFill>
          <a:ln w="12700">
            <a:solidFill>
              <a:srgbClr val="B8C8D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6" name="Shape 14"/>
          <p:cNvSpPr/>
          <p:nvPr/>
        </p:nvSpPr>
        <p:spPr>
          <a:xfrm>
            <a:off x="5897880" y="1508760"/>
            <a:ext cx="2148840" cy="2057400"/>
          </a:xfrm>
          <a:prstGeom prst="roundRect">
            <a:avLst>
              <a:gd name="adj" fmla="val 2667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52028928200000000" dist="26014464100000000" dir="583200000000000000000">
              <a:srgbClr val="000000">
                <a:alpha val="14000000000000000000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7" name="Shape 15"/>
          <p:cNvSpPr/>
          <p:nvPr/>
        </p:nvSpPr>
        <p:spPr>
          <a:xfrm>
            <a:off x="5897880" y="1508760"/>
            <a:ext cx="73152" cy="205740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8" name="Text 16"/>
          <p:cNvSpPr/>
          <p:nvPr/>
        </p:nvSpPr>
        <p:spPr>
          <a:xfrm>
            <a:off x="6062472" y="164592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Week 3</a:t>
            </a:r>
            <a:endParaRPr lang="en-US" sz="1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62472" y="1984248"/>
            <a:ext cx="1856232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Molecular cavity + DSMC</a:t>
            </a:r>
            <a:endParaRPr lang="en-US" sz="13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10728" y="2148840"/>
            <a:ext cx="438912" cy="502920"/>
          </a:xfrm>
          <a:prstGeom prst="chevron">
            <a:avLst/>
          </a:prstGeom>
          <a:solidFill>
            <a:srgbClr val="B8C8D2"/>
          </a:solidFill>
          <a:ln w="12700">
            <a:solidFill>
              <a:srgbClr val="B8C8D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1" name="Shape 19"/>
          <p:cNvSpPr/>
          <p:nvPr/>
        </p:nvSpPr>
        <p:spPr>
          <a:xfrm>
            <a:off x="8549640" y="1508760"/>
            <a:ext cx="21488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660767388140000000000" dist="330383694070000000000" dir="3.4992e+25">
              <a:srgbClr val="000000">
                <a:alpha val="1.4e+2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2" name="Shape 20"/>
          <p:cNvSpPr/>
          <p:nvPr/>
        </p:nvSpPr>
        <p:spPr>
          <a:xfrm>
            <a:off x="8549640" y="1508760"/>
            <a:ext cx="73152" cy="2057400"/>
          </a:xfrm>
          <a:prstGeom prst="rect">
            <a:avLst/>
          </a:prstGeom>
          <a:solidFill>
            <a:srgbClr val="DADFE3"/>
          </a:solidFill>
          <a:ln w="1270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3" name="Text 21"/>
          <p:cNvSpPr/>
          <p:nvPr/>
        </p:nvSpPr>
        <p:spPr>
          <a:xfrm>
            <a:off x="8714232" y="164592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Week 4</a:t>
            </a:r>
            <a:endParaRPr lang="en-US" sz="1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714232" y="1984248"/>
            <a:ext cx="1856232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Surrogate from validated data</a:t>
            </a:r>
            <a:endParaRPr lang="en-US" sz="13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51560" y="4069080"/>
            <a:ext cx="10058400" cy="1234440"/>
          </a:xfrm>
          <a:prstGeom prst="roundRect">
            <a:avLst>
              <a:gd name="adj" fmla="val 4444"/>
            </a:avLst>
          </a:prstGeom>
          <a:solidFill>
            <a:srgbClr val="FFF0D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8.391745829378e+24" dist="4.195872914689e+24" dir="2.09952e+30">
              <a:srgbClr val="000000">
                <a:alpha val="1.4000000000000002e+2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6" name="Shape 24"/>
          <p:cNvSpPr/>
          <p:nvPr/>
        </p:nvSpPr>
        <p:spPr>
          <a:xfrm>
            <a:off x="1051560" y="4069080"/>
            <a:ext cx="73152" cy="123444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7" name="Text 25"/>
          <p:cNvSpPr/>
          <p:nvPr/>
        </p:nvSpPr>
        <p:spPr>
          <a:xfrm>
            <a:off x="1216152" y="4206240"/>
            <a:ext cx="9765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Central question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16152" y="4544568"/>
            <a:ext cx="976579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How do we turn physically meaningful molecular simulations into trustworthy training data - without letting statistical noise or numerical bias become “ground truth”?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DDF4F5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0" name="Text 28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geometry is continuous across the course; the modeling description and validation questions become richer.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Learning outcomes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OVERVIEW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261872"/>
            <a:ext cx="420624" cy="420624"/>
          </a:xfrm>
          <a:prstGeom prst="ellipse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6" name="Text 4"/>
          <p:cNvSpPr/>
          <p:nvPr/>
        </p:nvSpPr>
        <p:spPr>
          <a:xfrm>
            <a:off x="685800" y="134874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1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80160" y="128930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Interpret a molecular velocity distribution and a Maxwellian equilibrium.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261872" y="1856232"/>
            <a:ext cx="969264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9" name="Shape 7"/>
          <p:cNvSpPr/>
          <p:nvPr/>
        </p:nvSpPr>
        <p:spPr>
          <a:xfrm>
            <a:off x="685800" y="2157984"/>
            <a:ext cx="420624" cy="420624"/>
          </a:xfrm>
          <a:prstGeom prst="ellipse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0" name="Text 8"/>
          <p:cNvSpPr/>
          <p:nvPr/>
        </p:nvSpPr>
        <p:spPr>
          <a:xfrm>
            <a:off x="685800" y="22448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2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80160" y="218541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Recover density, bulk velocity, temperature, pressure, and heat flux from particles.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261872" y="2752344"/>
            <a:ext cx="969264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3" name="Shape 11"/>
          <p:cNvSpPr/>
          <p:nvPr/>
        </p:nvSpPr>
        <p:spPr>
          <a:xfrm>
            <a:off x="685800" y="3054096"/>
            <a:ext cx="420624" cy="420624"/>
          </a:xfrm>
          <a:prstGeom prst="ellipse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4" name="Text 12"/>
          <p:cNvSpPr/>
          <p:nvPr/>
        </p:nvSpPr>
        <p:spPr>
          <a:xfrm>
            <a:off x="685800" y="314096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3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80160" y="30815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Explain the Boltzmann equation and why DSMC is used.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261872" y="3648456"/>
            <a:ext cx="969264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7" name="Shape 15"/>
          <p:cNvSpPr/>
          <p:nvPr/>
        </p:nvSpPr>
        <p:spPr>
          <a:xfrm>
            <a:off x="685800" y="3950208"/>
            <a:ext cx="420624" cy="420624"/>
          </a:xfrm>
          <a:prstGeom prst="ellipse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8" name="Text 16"/>
          <p:cNvSpPr/>
          <p:nvPr/>
        </p:nvSpPr>
        <p:spPr>
          <a:xfrm>
            <a:off x="685800" y="4037076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4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80160" y="39776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Trace the DSMC cycle: move, walls, cells, collisions, sampling.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261872" y="4544568"/>
            <a:ext cx="969264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1" name="Shape 19"/>
          <p:cNvSpPr/>
          <p:nvPr/>
        </p:nvSpPr>
        <p:spPr>
          <a:xfrm>
            <a:off x="685800" y="4846320"/>
            <a:ext cx="420624" cy="420624"/>
          </a:xfrm>
          <a:prstGeom prst="ellipse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2" name="Text 20"/>
          <p:cNvSpPr/>
          <p:nvPr/>
        </p:nvSpPr>
        <p:spPr>
          <a:xfrm>
            <a:off x="685800" y="493318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5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80160" y="487375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Quantify statistical noise and connect data quality to ML validation.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5" name="Text 23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By the end of the week, students should see DSMC output as a statistical dataset with physics, metadata, and uncertainty.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Same cavity, different modeling language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PHYSICS BRIDGE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" name="Image 0" descr="/mnt/data/week3_work/assets/continuum_ca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56723"/>
            <a:ext cx="3108960" cy="2710113"/>
          </a:xfrm>
          <a:prstGeom prst="rect">
            <a:avLst/>
          </a:prstGeom>
        </p:spPr>
      </p:pic>
      <p:pic>
        <p:nvPicPr>
          <p:cNvPr id="6" name="Image 1" descr="/mnt/data/week3_work/assets/mini_cavity_partic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499335"/>
            <a:ext cx="3108960" cy="262488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886200" y="123444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F4F7F9"/>
          </a:solidFill>
          <a:ln w="1270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8" name="Shape 4"/>
          <p:cNvSpPr/>
          <p:nvPr/>
        </p:nvSpPr>
        <p:spPr>
          <a:xfrm>
            <a:off x="3886200" y="1234440"/>
            <a:ext cx="73152" cy="324612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9" name="Text 5"/>
          <p:cNvSpPr/>
          <p:nvPr/>
        </p:nvSpPr>
        <p:spPr>
          <a:xfrm>
            <a:off x="4050792" y="137160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What changes?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114800" y="1700784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State</a:t>
            </a:r>
            <a:endParaRPr lang="en-US" sz="11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010912" y="1700784"/>
            <a:ext cx="1417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8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u, v, p on a grid</a:t>
            </a:r>
            <a:endParaRPr lang="en-US" sz="98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446520" y="1700784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8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particle positions + molecular velocities</a:t>
            </a:r>
            <a:endParaRPr lang="en-US" sz="98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087368" y="2176272"/>
            <a:ext cx="3886200" cy="0"/>
          </a:xfrm>
          <a:prstGeom prst="line">
            <a:avLst/>
          </a:prstGeom>
          <a:noFill/>
          <a:ln w="889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4" name="Text 10"/>
          <p:cNvSpPr/>
          <p:nvPr/>
        </p:nvSpPr>
        <p:spPr>
          <a:xfrm>
            <a:off x="4114800" y="22860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Wall model</a:t>
            </a:r>
            <a:endParaRPr lang="en-US" sz="11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010912" y="2286000"/>
            <a:ext cx="1417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8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no-slip / prescribed T</a:t>
            </a:r>
            <a:endParaRPr lang="en-US" sz="98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446520" y="2286000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8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stochastic gas-surface reflection</a:t>
            </a:r>
            <a:endParaRPr lang="en-US" sz="98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087368" y="2761488"/>
            <a:ext cx="3886200" cy="0"/>
          </a:xfrm>
          <a:prstGeom prst="line">
            <a:avLst/>
          </a:prstGeom>
          <a:noFill/>
          <a:ln w="889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8" name="Text 14"/>
          <p:cNvSpPr/>
          <p:nvPr/>
        </p:nvSpPr>
        <p:spPr>
          <a:xfrm>
            <a:off x="4114800" y="2871216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Control</a:t>
            </a:r>
            <a:endParaRPr lang="en-US" sz="11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010912" y="2871216"/>
            <a:ext cx="1417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8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Reynolds number</a:t>
            </a:r>
            <a:endParaRPr lang="en-US" sz="98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446520" y="2871216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8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Knudsen number</a:t>
            </a:r>
            <a:endParaRPr lang="en-US" sz="98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4087368" y="3346704"/>
            <a:ext cx="3886200" cy="0"/>
          </a:xfrm>
          <a:prstGeom prst="line">
            <a:avLst/>
          </a:prstGeom>
          <a:noFill/>
          <a:ln w="889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2" name="Text 18"/>
          <p:cNvSpPr/>
          <p:nvPr/>
        </p:nvSpPr>
        <p:spPr>
          <a:xfrm>
            <a:off x="4114800" y="345643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Output</a:t>
            </a:r>
            <a:endParaRPr lang="en-US" sz="11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5010912" y="3456432"/>
            <a:ext cx="1417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8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smooth deterministic field</a:t>
            </a:r>
            <a:endParaRPr lang="en-US" sz="98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446520" y="3456432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8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noisy sampled field</a:t>
            </a:r>
            <a:endParaRPr lang="en-US" sz="98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4087368" y="3931920"/>
            <a:ext cx="3886200" cy="0"/>
          </a:xfrm>
          <a:prstGeom prst="line">
            <a:avLst/>
          </a:prstGeom>
          <a:noFill/>
          <a:ln w="889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6" name="Text 22"/>
          <p:cNvSpPr/>
          <p:nvPr/>
        </p:nvSpPr>
        <p:spPr>
          <a:xfrm>
            <a:off x="4114800" y="404164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Validation</a:t>
            </a:r>
            <a:endParaRPr lang="en-US" sz="11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5010912" y="4041648"/>
            <a:ext cx="1417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8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residual + Ghia benchmark</a:t>
            </a:r>
            <a:endParaRPr lang="en-US" sz="98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6446520" y="4041648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8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statistics + DSMC criteria + paper data</a:t>
            </a:r>
            <a:endParaRPr lang="en-US" sz="98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1325880" y="4434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Continuum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9144000" y="4434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Molecular / kinetic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2" name="Text 28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Week-3 question is not “which picture looks nicer?” It is “which model is valid in this regime, and how trustworthy are its samples?”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A macroscopic velocity hides many molecular velocities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KINETIC VIEW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" name="Image 0" descr="/mnt/data/week3_work/assets/molecular_velocity_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07050"/>
            <a:ext cx="4892040" cy="353534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1325880"/>
            <a:ext cx="5440680" cy="1143000"/>
          </a:xfrm>
          <a:prstGeom prst="roundRect">
            <a:avLst>
              <a:gd name="adj" fmla="val 4800"/>
            </a:avLst>
          </a:prstGeom>
          <a:solidFill>
            <a:srgbClr val="FFF0D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.0657517203310059e+29" dist="5.3287586016550295e+28" dir="1.259712e+35">
              <a:srgbClr val="000000">
                <a:alpha val="1.4000000000000003e+3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Shape 4"/>
          <p:cNvSpPr/>
          <p:nvPr/>
        </p:nvSpPr>
        <p:spPr>
          <a:xfrm>
            <a:off x="5806440" y="1325880"/>
            <a:ext cx="73152" cy="114300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8" name="Text 5"/>
          <p:cNvSpPr/>
          <p:nvPr/>
        </p:nvSpPr>
        <p:spPr>
          <a:xfrm>
            <a:off x="5971032" y="1463040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Molecular velocity, c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6"/>
          <p:cNvSpPr/>
          <p:nvPr/>
        </p:nvSpPr>
        <p:spPr>
          <a:xfrm>
            <a:off x="5971032" y="1801368"/>
            <a:ext cx="51480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instantaneous velocity of one molecule. It contains organized motion plus thermal fluctuation.</a:t>
            </a:r>
            <a:endParaRPr lang="en-US" sz="13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806440" y="2743200"/>
            <a:ext cx="5440680" cy="1143000"/>
          </a:xfrm>
          <a:prstGeom prst="roundRect">
            <a:avLst>
              <a:gd name="adj" fmla="val 4800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.3535046848203775e+33" dist="6.767523424101888e+32" dir="7.558272e+39">
              <a:srgbClr val="000000">
                <a:alpha val="1.4000000000000003e+3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Shape 8"/>
          <p:cNvSpPr/>
          <p:nvPr/>
        </p:nvSpPr>
        <p:spPr>
          <a:xfrm>
            <a:off x="5806440" y="2743200"/>
            <a:ext cx="73152" cy="114300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2" name="Text 9"/>
          <p:cNvSpPr/>
          <p:nvPr/>
        </p:nvSpPr>
        <p:spPr>
          <a:xfrm>
            <a:off x="5971032" y="2880360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Bulk velocity, U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971032" y="3218688"/>
            <a:ext cx="51480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average molecular velocity in a small region and time window.</a:t>
            </a:r>
            <a:endParaRPr lang="en-US" sz="13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806440" y="4160520"/>
            <a:ext cx="5440680" cy="1143000"/>
          </a:xfrm>
          <a:prstGeom prst="roundRect">
            <a:avLst>
              <a:gd name="adj" fmla="val 4800"/>
            </a:avLst>
          </a:prstGeom>
          <a:solidFill>
            <a:srgbClr val="E7F4EC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.7189509497218795e+37" dist="8.594754748609397e+36" dir="4.5349632000000006e+44">
              <a:srgbClr val="000000">
                <a:alpha val="1.4000000000000002e+4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Shape 12"/>
          <p:cNvSpPr/>
          <p:nvPr/>
        </p:nvSpPr>
        <p:spPr>
          <a:xfrm>
            <a:off x="5806440" y="4160520"/>
            <a:ext cx="73152" cy="1143000"/>
          </a:xfrm>
          <a:prstGeom prst="rect">
            <a:avLst/>
          </a:prstGeom>
          <a:solidFill>
            <a:srgbClr val="DEECE4"/>
          </a:solidFill>
          <a:ln w="12700">
            <a:solidFill>
              <a:srgbClr val="2E8B57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6" name="Text 13"/>
          <p:cNvSpPr/>
          <p:nvPr/>
        </p:nvSpPr>
        <p:spPr>
          <a:xfrm>
            <a:off x="5971032" y="4297680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Thermal fluctuation, c - U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971032" y="4636008"/>
            <a:ext cx="51480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random part used to define temperature, stress, and heat flux.</a:t>
            </a:r>
            <a:endParaRPr lang="en-US" sz="13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9" name="Text 16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 low-speed gas flow can have a small U even though individual molecules move hundreds of meters per second.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The distribution function is the kinetic state variable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KINETIC THEORY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7477" y="1325880"/>
            <a:ext cx="256272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148840"/>
            <a:ext cx="3108960" cy="2194560"/>
          </a:xfrm>
          <a:prstGeom prst="roundRect">
            <a:avLst>
              <a:gd name="adj" fmla="val 2500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2.183067706146787e+41" dist="1.0915338530733935e+41" dir="2.72097792e+49">
              <a:srgbClr val="000000">
                <a:alpha val="1.4000000000000002e+4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Shape 4"/>
          <p:cNvSpPr/>
          <p:nvPr/>
        </p:nvSpPr>
        <p:spPr>
          <a:xfrm>
            <a:off x="685800" y="2148840"/>
            <a:ext cx="73152" cy="219456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8" name="Text 5"/>
          <p:cNvSpPr/>
          <p:nvPr/>
        </p:nvSpPr>
        <p:spPr>
          <a:xfrm>
            <a:off x="850392" y="228600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What does f describe?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6"/>
          <p:cNvSpPr/>
          <p:nvPr/>
        </p:nvSpPr>
        <p:spPr>
          <a:xfrm>
            <a:off x="850392" y="2624328"/>
            <a:ext cx="2816352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How molecular populations are distributed over physical position x, molecular velocity c, and time t.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069080" y="2423160"/>
            <a:ext cx="822960" cy="594360"/>
          </a:xfrm>
          <a:prstGeom prst="chevron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Shape 8"/>
          <p:cNvSpPr/>
          <p:nvPr/>
        </p:nvSpPr>
        <p:spPr>
          <a:xfrm>
            <a:off x="5074920" y="1234440"/>
            <a:ext cx="6172200" cy="4343400"/>
          </a:xfrm>
          <a:prstGeom prst="roundRect">
            <a:avLst>
              <a:gd name="adj" fmla="val 1263"/>
            </a:avLst>
          </a:prstGeom>
          <a:solidFill>
            <a:srgbClr val="F4F7F9"/>
          </a:solidFill>
          <a:ln w="1270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2" name="Shape 9"/>
          <p:cNvSpPr/>
          <p:nvPr/>
        </p:nvSpPr>
        <p:spPr>
          <a:xfrm>
            <a:off x="5074920" y="1234440"/>
            <a:ext cx="73152" cy="434340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3" name="Text 10"/>
          <p:cNvSpPr/>
          <p:nvPr/>
        </p:nvSpPr>
        <p:spPr>
          <a:xfrm>
            <a:off x="5239512" y="1371600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Phase space: physical cells + velocity space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394960" y="1874520"/>
            <a:ext cx="475488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Shape 12"/>
          <p:cNvSpPr/>
          <p:nvPr/>
        </p:nvSpPr>
        <p:spPr>
          <a:xfrm>
            <a:off x="5394960" y="2377440"/>
            <a:ext cx="475488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6" name="Shape 13"/>
          <p:cNvSpPr/>
          <p:nvPr/>
        </p:nvSpPr>
        <p:spPr>
          <a:xfrm>
            <a:off x="5394960" y="2880360"/>
            <a:ext cx="475488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7" name="Shape 14"/>
          <p:cNvSpPr/>
          <p:nvPr/>
        </p:nvSpPr>
        <p:spPr>
          <a:xfrm>
            <a:off x="5897880" y="1874520"/>
            <a:ext cx="475488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8" name="Shape 15"/>
          <p:cNvSpPr/>
          <p:nvPr/>
        </p:nvSpPr>
        <p:spPr>
          <a:xfrm>
            <a:off x="5897880" y="2377440"/>
            <a:ext cx="475488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9" name="Shape 16"/>
          <p:cNvSpPr/>
          <p:nvPr/>
        </p:nvSpPr>
        <p:spPr>
          <a:xfrm>
            <a:off x="5897880" y="2880360"/>
            <a:ext cx="475488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0" name="Shape 17"/>
          <p:cNvSpPr/>
          <p:nvPr/>
        </p:nvSpPr>
        <p:spPr>
          <a:xfrm>
            <a:off x="6400800" y="1874520"/>
            <a:ext cx="475488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1" name="Shape 18"/>
          <p:cNvSpPr/>
          <p:nvPr/>
        </p:nvSpPr>
        <p:spPr>
          <a:xfrm>
            <a:off x="6400800" y="2377440"/>
            <a:ext cx="475488" cy="475488"/>
          </a:xfrm>
          <a:prstGeom prst="rect">
            <a:avLst/>
          </a:prstGeom>
          <a:solidFill>
            <a:srgbClr val="DDF4F5"/>
          </a:solidFill>
          <a:ln w="889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2" name="Shape 19"/>
          <p:cNvSpPr/>
          <p:nvPr/>
        </p:nvSpPr>
        <p:spPr>
          <a:xfrm>
            <a:off x="6400800" y="2880360"/>
            <a:ext cx="475488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3" name="Shape 20"/>
          <p:cNvSpPr/>
          <p:nvPr/>
        </p:nvSpPr>
        <p:spPr>
          <a:xfrm>
            <a:off x="6903720" y="1874520"/>
            <a:ext cx="475488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4" name="Shape 21"/>
          <p:cNvSpPr/>
          <p:nvPr/>
        </p:nvSpPr>
        <p:spPr>
          <a:xfrm>
            <a:off x="6903720" y="2377440"/>
            <a:ext cx="475488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5" name="Shape 22"/>
          <p:cNvSpPr/>
          <p:nvPr/>
        </p:nvSpPr>
        <p:spPr>
          <a:xfrm>
            <a:off x="6903720" y="2880360"/>
            <a:ext cx="475488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6" name="Text 23"/>
          <p:cNvSpPr/>
          <p:nvPr/>
        </p:nvSpPr>
        <p:spPr>
          <a:xfrm>
            <a:off x="5394960" y="3520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physical space x</a:t>
            </a:r>
            <a:endParaRPr lang="en-US" sz="11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7543800" y="2651760"/>
            <a:ext cx="914400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headEnd type="none"/>
            <a:tailEnd type="triangle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8" name="Shape 25"/>
          <p:cNvSpPr/>
          <p:nvPr/>
        </p:nvSpPr>
        <p:spPr>
          <a:xfrm>
            <a:off x="8961120" y="1828800"/>
            <a:ext cx="118872" cy="118872"/>
          </a:xfrm>
          <a:prstGeom prst="ellipse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9" name="Shape 26"/>
          <p:cNvSpPr/>
          <p:nvPr/>
        </p:nvSpPr>
        <p:spPr>
          <a:xfrm>
            <a:off x="9509760" y="2011680"/>
            <a:ext cx="118872" cy="118872"/>
          </a:xfrm>
          <a:prstGeom prst="ellipse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0" name="Shape 27"/>
          <p:cNvSpPr/>
          <p:nvPr/>
        </p:nvSpPr>
        <p:spPr>
          <a:xfrm>
            <a:off x="10149840" y="1965960"/>
            <a:ext cx="118872" cy="118872"/>
          </a:xfrm>
          <a:prstGeom prst="ellipse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1" name="Shape 28"/>
          <p:cNvSpPr/>
          <p:nvPr/>
        </p:nvSpPr>
        <p:spPr>
          <a:xfrm>
            <a:off x="8778240" y="2514600"/>
            <a:ext cx="118872" cy="118872"/>
          </a:xfrm>
          <a:prstGeom prst="ellipse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2" name="Shape 29"/>
          <p:cNvSpPr/>
          <p:nvPr/>
        </p:nvSpPr>
        <p:spPr>
          <a:xfrm>
            <a:off x="9372600" y="2560320"/>
            <a:ext cx="118872" cy="118872"/>
          </a:xfrm>
          <a:prstGeom prst="ellipse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3" name="Shape 30"/>
          <p:cNvSpPr/>
          <p:nvPr/>
        </p:nvSpPr>
        <p:spPr>
          <a:xfrm>
            <a:off x="9966960" y="2423160"/>
            <a:ext cx="118872" cy="118872"/>
          </a:xfrm>
          <a:prstGeom prst="ellipse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4" name="Shape 31"/>
          <p:cNvSpPr/>
          <p:nvPr/>
        </p:nvSpPr>
        <p:spPr>
          <a:xfrm>
            <a:off x="10561320" y="2651760"/>
            <a:ext cx="118872" cy="118872"/>
          </a:xfrm>
          <a:prstGeom prst="ellipse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5" name="Shape 32"/>
          <p:cNvSpPr/>
          <p:nvPr/>
        </p:nvSpPr>
        <p:spPr>
          <a:xfrm>
            <a:off x="9052560" y="3154680"/>
            <a:ext cx="118872" cy="118872"/>
          </a:xfrm>
          <a:prstGeom prst="ellipse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6" name="Shape 33"/>
          <p:cNvSpPr/>
          <p:nvPr/>
        </p:nvSpPr>
        <p:spPr>
          <a:xfrm>
            <a:off x="9646920" y="3246120"/>
            <a:ext cx="118872" cy="118872"/>
          </a:xfrm>
          <a:prstGeom prst="ellipse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7" name="Shape 34"/>
          <p:cNvSpPr/>
          <p:nvPr/>
        </p:nvSpPr>
        <p:spPr>
          <a:xfrm>
            <a:off x="10241280" y="3063240"/>
            <a:ext cx="118872" cy="118872"/>
          </a:xfrm>
          <a:prstGeom prst="ellipse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8" name="Text 35"/>
          <p:cNvSpPr/>
          <p:nvPr/>
        </p:nvSpPr>
        <p:spPr>
          <a:xfrm>
            <a:off x="864108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molecular velocity space c</a:t>
            </a:r>
            <a:endParaRPr lang="en-US" sz="11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5440680" y="425196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One continuum value U(x) is replaced by an entire local distribution over c.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1" name="Text 38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Kinetic theory keeps information that is compressed away when we store only density, velocity, and temperature.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Fluid variables are moments of the distribution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KINETIC THEORY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33375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2.7724959868064195e+45" dist="1.3862479934032098e+45" dir="1.6325867520000003e+54">
              <a:srgbClr val="000000">
                <a:alpha val="1.4e+5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73152" cy="169164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Text 5"/>
          <p:cNvSpPr/>
          <p:nvPr/>
        </p:nvSpPr>
        <p:spPr>
          <a:xfrm>
            <a:off x="758952" y="146304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Density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8952" y="1801368"/>
            <a:ext cx="304495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n = integral f dc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How many molecules?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9120" y="1325880"/>
            <a:ext cx="33375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3.5210699032441527e+49" dist="1.7605349516220764e+49" dir="9.795520512000002e+58">
              <a:srgbClr val="000000">
                <a:alpha val="1.4000000000000001e+5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0" name="Shape 8"/>
          <p:cNvSpPr/>
          <p:nvPr/>
        </p:nvSpPr>
        <p:spPr>
          <a:xfrm>
            <a:off x="4389120" y="1325880"/>
            <a:ext cx="73152" cy="1691640"/>
          </a:xfrm>
          <a:prstGeom prst="rect">
            <a:avLst/>
          </a:prstGeom>
          <a:solidFill>
            <a:srgbClr val="DEECE4"/>
          </a:solidFill>
          <a:ln w="12700">
            <a:solidFill>
              <a:srgbClr val="2E8B57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Text 9"/>
          <p:cNvSpPr/>
          <p:nvPr/>
        </p:nvSpPr>
        <p:spPr>
          <a:xfrm>
            <a:off x="4553712" y="146304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Velocity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53712" y="1801368"/>
            <a:ext cx="304495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U = &lt;c&gt;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What is the average motion?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83880" y="1325880"/>
            <a:ext cx="33375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4.471758777120074e+53" dist="2.235879388560037e+53" dir="5.877312307200001e+63">
              <a:srgbClr val="000000">
                <a:alpha val="1.4e+6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4" name="Shape 12"/>
          <p:cNvSpPr/>
          <p:nvPr/>
        </p:nvSpPr>
        <p:spPr>
          <a:xfrm>
            <a:off x="8183880" y="1325880"/>
            <a:ext cx="73152" cy="169164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Text 13"/>
          <p:cNvSpPr/>
          <p:nvPr/>
        </p:nvSpPr>
        <p:spPr>
          <a:xfrm>
            <a:off x="8348472" y="146304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Temperature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48472" y="1801368"/>
            <a:ext cx="304495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 proportional to &lt;|c-U|^2&gt;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How strong are thermal fluctuations?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514600" y="3657600"/>
            <a:ext cx="33375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5.679133646942494e+57" dist="2.839566823471247e+57" dir="3.526387384320001e+68">
              <a:srgbClr val="000000">
                <a:alpha val="1.4000000000000001e+6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8" name="Shape 16"/>
          <p:cNvSpPr/>
          <p:nvPr/>
        </p:nvSpPr>
        <p:spPr>
          <a:xfrm>
            <a:off x="2514600" y="3657600"/>
            <a:ext cx="73152" cy="1691640"/>
          </a:xfrm>
          <a:prstGeom prst="rect">
            <a:avLst/>
          </a:prstGeom>
          <a:solidFill>
            <a:srgbClr val="DADFE3"/>
          </a:solidFill>
          <a:ln w="1270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9" name="Text 17"/>
          <p:cNvSpPr/>
          <p:nvPr/>
        </p:nvSpPr>
        <p:spPr>
          <a:xfrm>
            <a:off x="2679192" y="379476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Pressure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679192" y="4133088"/>
            <a:ext cx="304495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 = n k_B T at equilibrium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How large is isotropic normal stress?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09360" y="3657600"/>
            <a:ext cx="33375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7.212499731616968e+61" dist="3.606249865808484e+61" dir="2.1158324305920003e+73">
              <a:srgbClr val="000000">
                <a:alpha val="1.4e+7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2" name="Shape 20"/>
          <p:cNvSpPr/>
          <p:nvPr/>
        </p:nvSpPr>
        <p:spPr>
          <a:xfrm>
            <a:off x="6309360" y="3657600"/>
            <a:ext cx="73152" cy="1691640"/>
          </a:xfrm>
          <a:prstGeom prst="rect">
            <a:avLst/>
          </a:prstGeom>
          <a:solidFill>
            <a:srgbClr val="F3DFE2"/>
          </a:solidFill>
          <a:ln w="12700">
            <a:solidFill>
              <a:srgbClr val="B23A4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3" name="Text 21"/>
          <p:cNvSpPr/>
          <p:nvPr/>
        </p:nvSpPr>
        <p:spPr>
          <a:xfrm>
            <a:off x="6473952" y="379476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Heat flux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73952" y="4133088"/>
            <a:ext cx="304495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q proportional to &lt;|c-U|^2(c-U)&gt;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How is thermal energy transported?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DDF4F5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6" name="Text 24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DSMC does not output a smooth field directly. It outputs particle histories; macroscopic fields are estimators built from those histories.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Maxwellian equilibrium: the reference distribution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KINETIC THEORY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861" y="1234440"/>
            <a:ext cx="6457278" cy="960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188720"/>
            <a:ext cx="3886200" cy="960120"/>
          </a:xfrm>
          <a:prstGeom prst="roundRect">
            <a:avLst>
              <a:gd name="adj" fmla="val 5714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9.15987465915355e+65" dist="4.579937329576775e+65" dir="1.2694994583552002e+78">
              <a:srgbClr val="000000">
                <a:alpha val="1.4e+7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Shape 4"/>
          <p:cNvSpPr/>
          <p:nvPr/>
        </p:nvSpPr>
        <p:spPr>
          <a:xfrm>
            <a:off x="7635240" y="1188720"/>
            <a:ext cx="73152" cy="96012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8" name="Text 5"/>
          <p:cNvSpPr/>
          <p:nvPr/>
        </p:nvSpPr>
        <p:spPr>
          <a:xfrm>
            <a:off x="7799832" y="132588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Center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99832" y="1664208"/>
            <a:ext cx="35935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Set by the bulk velocity U.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35240" y="2423160"/>
            <a:ext cx="3886200" cy="960120"/>
          </a:xfrm>
          <a:prstGeom prst="roundRect">
            <a:avLst>
              <a:gd name="adj" fmla="val 5714"/>
            </a:avLst>
          </a:prstGeom>
          <a:solidFill>
            <a:srgbClr val="FFF0D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.1633040817125008e+70" dist="5.816520408562504e+69" dir="7.616996750131201e+82">
              <a:srgbClr val="000000">
                <a:alpha val="1.4000000000000001e+8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Shape 8"/>
          <p:cNvSpPr/>
          <p:nvPr/>
        </p:nvSpPr>
        <p:spPr>
          <a:xfrm>
            <a:off x="7635240" y="2423160"/>
            <a:ext cx="73152" cy="96012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2" name="Text 9"/>
          <p:cNvSpPr/>
          <p:nvPr/>
        </p:nvSpPr>
        <p:spPr>
          <a:xfrm>
            <a:off x="7799832" y="256032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Width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799832" y="2898648"/>
            <a:ext cx="35935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Set by temperature and molecular mass.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635240" y="3657600"/>
            <a:ext cx="3886200" cy="960120"/>
          </a:xfrm>
          <a:prstGeom prst="roundRect">
            <a:avLst>
              <a:gd name="adj" fmla="val 5714"/>
            </a:avLst>
          </a:prstGeom>
          <a:solidFill>
            <a:srgbClr val="E7F4EC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.477396183774876e+74" dist="7.38698091887438e+73" dir="4.57019805007872e+87">
              <a:srgbClr val="000000">
                <a:alpha val="1.4000000000000002e+8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Shape 12"/>
          <p:cNvSpPr/>
          <p:nvPr/>
        </p:nvSpPr>
        <p:spPr>
          <a:xfrm>
            <a:off x="7635240" y="3657600"/>
            <a:ext cx="73152" cy="960120"/>
          </a:xfrm>
          <a:prstGeom prst="rect">
            <a:avLst/>
          </a:prstGeom>
          <a:solidFill>
            <a:srgbClr val="DEECE4"/>
          </a:solidFill>
          <a:ln w="12700">
            <a:solidFill>
              <a:srgbClr val="2E8B57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6" name="Text 13"/>
          <p:cNvSpPr/>
          <p:nvPr/>
        </p:nvSpPr>
        <p:spPr>
          <a:xfrm>
            <a:off x="7799832" y="379476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Amplitude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799832" y="4133088"/>
            <a:ext cx="35935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Set by number density n.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77240" y="2788920"/>
            <a:ext cx="6217920" cy="2011680"/>
          </a:xfrm>
          <a:prstGeom prst="roundRect">
            <a:avLst>
              <a:gd name="adj" fmla="val 2727"/>
            </a:avLst>
          </a:prstGeom>
          <a:solidFill>
            <a:srgbClr val="F4F7F9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.8762931533940924e+78" dist="9.381465766970462e+77" dir="2.742118830047232e+92">
              <a:srgbClr val="000000">
                <a:alpha val="1.4000000000000002e+9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9" name="Shape 16"/>
          <p:cNvSpPr/>
          <p:nvPr/>
        </p:nvSpPr>
        <p:spPr>
          <a:xfrm>
            <a:off x="777240" y="2788920"/>
            <a:ext cx="73152" cy="2011680"/>
          </a:xfrm>
          <a:prstGeom prst="rect">
            <a:avLst/>
          </a:prstGeom>
          <a:solidFill>
            <a:srgbClr val="DADFE3"/>
          </a:solidFill>
          <a:ln w="1270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0" name="Text 17"/>
          <p:cNvSpPr/>
          <p:nvPr/>
        </p:nvSpPr>
        <p:spPr>
          <a:xfrm>
            <a:off x="941832" y="2926080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8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Equilibrium does not mean “molecules stop moving”</a:t>
            </a:r>
            <a:endParaRPr lang="en-US"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41832" y="3264408"/>
            <a:ext cx="592531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It means the velocity statistics have a specific form and there is no unresolved directional imbalance in the local rest frame.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3" name="Text 20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Near walls, shocks, or strong gradients, the local distribution can depart from a Maxwellian even when density, U, and T look smooth.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Sampling a Maxwellian: what the notebook will do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LAB 1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" name="Image 0" descr="/mnt/data/week3_work/assets/maxwellian_samp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97748"/>
            <a:ext cx="7543800" cy="281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75320" y="1234440"/>
            <a:ext cx="3383280" cy="1143000"/>
          </a:xfrm>
          <a:prstGeom prst="roundRect">
            <a:avLst>
              <a:gd name="adj" fmla="val 4800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2.3828923048104974e+82" dist="1.1914461524052487e+82" dir="1.6452712980283393e+97">
              <a:srgbClr val="000000">
                <a:alpha val="1.4000000000000001e+9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Shape 4"/>
          <p:cNvSpPr/>
          <p:nvPr/>
        </p:nvSpPr>
        <p:spPr>
          <a:xfrm>
            <a:off x="8275320" y="1234440"/>
            <a:ext cx="73152" cy="114300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8" name="Text 5"/>
          <p:cNvSpPr/>
          <p:nvPr/>
        </p:nvSpPr>
        <p:spPr>
          <a:xfrm>
            <a:off x="8439912" y="13716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Given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39912" y="1709928"/>
            <a:ext cx="30906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Argon, T = 300 K, and a prescribed bulk drift.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275320" y="2697480"/>
            <a:ext cx="3383280" cy="1143000"/>
          </a:xfrm>
          <a:prstGeom prst="roundRect">
            <a:avLst>
              <a:gd name="adj" fmla="val 4800"/>
            </a:avLst>
          </a:prstGeom>
          <a:solidFill>
            <a:srgbClr val="FFF0D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3.0262732271093317e+86" dist="1.5131366135546659e+86" dir="9.871627788170037e+101">
              <a:srgbClr val="000000">
                <a:alpha val="1.4000000000000002e+10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Shape 8"/>
          <p:cNvSpPr/>
          <p:nvPr/>
        </p:nvSpPr>
        <p:spPr>
          <a:xfrm>
            <a:off x="8275320" y="2697480"/>
            <a:ext cx="73152" cy="114300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2" name="Text 9"/>
          <p:cNvSpPr/>
          <p:nvPr/>
        </p:nvSpPr>
        <p:spPr>
          <a:xfrm>
            <a:off x="8439912" y="283464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Generate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439912" y="3172968"/>
            <a:ext cx="30906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Three Gaussian velocity components for each particle.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275320" y="4160520"/>
            <a:ext cx="3383280" cy="1143000"/>
          </a:xfrm>
          <a:prstGeom prst="roundRect">
            <a:avLst>
              <a:gd name="adj" fmla="val 4800"/>
            </a:avLst>
          </a:prstGeom>
          <a:solidFill>
            <a:srgbClr val="E7F4EC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3.8433669984288512e+90" dist="1.9216834992144256e+90" dir="5.9229766729020215e+106">
              <a:srgbClr val="000000">
                <a:alpha val="1.4e+10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Shape 12"/>
          <p:cNvSpPr/>
          <p:nvPr/>
        </p:nvSpPr>
        <p:spPr>
          <a:xfrm>
            <a:off x="8275320" y="4160520"/>
            <a:ext cx="73152" cy="1143000"/>
          </a:xfrm>
          <a:prstGeom prst="rect">
            <a:avLst/>
          </a:prstGeom>
          <a:solidFill>
            <a:srgbClr val="DEECE4"/>
          </a:solidFill>
          <a:ln w="12700">
            <a:solidFill>
              <a:srgbClr val="2E8B57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6" name="Text 13"/>
          <p:cNvSpPr/>
          <p:nvPr/>
        </p:nvSpPr>
        <p:spPr>
          <a:xfrm>
            <a:off x="8439912" y="429768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Recover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439912" y="4636008"/>
            <a:ext cx="30906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Sample U, T, p, and q from finite particle moments.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9" name="Text 16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histogram is not the result to memorize; the connection between distribution parameters and macroscopic moments is the learning goal.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Finite-particle estimates are random variables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SAMPLING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3383280" cy="1097280"/>
          </a:xfrm>
          <a:prstGeom prst="roundRect">
            <a:avLst>
              <a:gd name="adj" fmla="val 5000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4.8810760880046414e+94" dist="2.4405380440023207e+94" dir="3.553786003741213e+111">
              <a:srgbClr val="000000">
                <a:alpha val="1.4e+11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73152" cy="109728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Text 5"/>
          <p:cNvSpPr/>
          <p:nvPr/>
        </p:nvSpPr>
        <p:spPr>
          <a:xfrm>
            <a:off x="758952" y="13716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Bulk velocity estimator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8952" y="1709928"/>
            <a:ext cx="30906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Average all molecular velocities in the sample.</a:t>
            </a:r>
            <a:endParaRPr lang="en-US" sz="13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4360" y="2651760"/>
            <a:ext cx="3383280" cy="1097280"/>
          </a:xfrm>
          <a:prstGeom prst="roundRect">
            <a:avLst>
              <a:gd name="adj" fmla="val 5000"/>
            </a:avLst>
          </a:prstGeom>
          <a:solidFill>
            <a:srgbClr val="FFF0D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6.198966631765894e+98" dist="3.099483315882947e+98" dir="2.1322716022447277e+116">
              <a:srgbClr val="000000">
                <a:alpha val="1.4e+11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0" name="Shape 8"/>
          <p:cNvSpPr/>
          <p:nvPr/>
        </p:nvSpPr>
        <p:spPr>
          <a:xfrm>
            <a:off x="594360" y="2651760"/>
            <a:ext cx="73152" cy="109728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Text 9"/>
          <p:cNvSpPr/>
          <p:nvPr/>
        </p:nvSpPr>
        <p:spPr>
          <a:xfrm>
            <a:off x="758952" y="278892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Temperature estimator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8952" y="3127248"/>
            <a:ext cx="30906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Average fluctuation energy after subtracting the sampled bulk velocity.</a:t>
            </a:r>
            <a:endParaRPr lang="en-US" sz="13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4360" y="4069080"/>
            <a:ext cx="3383280" cy="1097280"/>
          </a:xfrm>
          <a:prstGeom prst="roundRect">
            <a:avLst>
              <a:gd name="adj" fmla="val 5000"/>
            </a:avLst>
          </a:prstGeom>
          <a:solidFill>
            <a:srgbClr val="FBE9EC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7.872687622342685e+102" dist="3.9363438111713427e+102" dir="1.2793629613468366e+121">
              <a:srgbClr val="000000">
                <a:alpha val="1.4e+12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4" name="Shape 12"/>
          <p:cNvSpPr/>
          <p:nvPr/>
        </p:nvSpPr>
        <p:spPr>
          <a:xfrm>
            <a:off x="594360" y="4069080"/>
            <a:ext cx="73152" cy="1097280"/>
          </a:xfrm>
          <a:prstGeom prst="rect">
            <a:avLst/>
          </a:prstGeom>
          <a:solidFill>
            <a:srgbClr val="F3DFE2"/>
          </a:solidFill>
          <a:ln w="12700">
            <a:solidFill>
              <a:srgbClr val="B23A4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Text 13"/>
          <p:cNvSpPr/>
          <p:nvPr/>
        </p:nvSpPr>
        <p:spPr>
          <a:xfrm>
            <a:off x="758952" y="420624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Heat-flux estimator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8952" y="4544568"/>
            <a:ext cx="30906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Average a higher-order, signed thermal-energy flux. It is especially noisy.</a:t>
            </a:r>
            <a:endParaRPr lang="en-US" sz="13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43400" y="1234440"/>
            <a:ext cx="713232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8" name="Shape 16"/>
          <p:cNvSpPr/>
          <p:nvPr/>
        </p:nvSpPr>
        <p:spPr>
          <a:xfrm>
            <a:off x="4343400" y="1234440"/>
            <a:ext cx="73152" cy="3931920"/>
          </a:xfrm>
          <a:prstGeom prst="rect">
            <a:avLst/>
          </a:prstGeom>
          <a:solidFill>
            <a:srgbClr val="DADFE3"/>
          </a:solidFill>
          <a:ln w="1270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9" name="Text 17"/>
          <p:cNvSpPr/>
          <p:nvPr/>
        </p:nvSpPr>
        <p:spPr>
          <a:xfrm>
            <a:off x="4507992" y="1371600"/>
            <a:ext cx="683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One possible finite sample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17720" y="1737360"/>
            <a:ext cx="1280160" cy="274320"/>
          </a:xfrm>
          <a:prstGeom prst="rect">
            <a:avLst/>
          </a:prstGeom>
          <a:solidFill>
            <a:srgbClr val="DADF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quantity</a:t>
            </a:r>
            <a:endParaRPr lang="en-US" sz="11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72200" y="1737360"/>
            <a:ext cx="1234440" cy="274320"/>
          </a:xfrm>
          <a:prstGeom prst="rect">
            <a:avLst/>
          </a:prstGeom>
          <a:solidFill>
            <a:srgbClr val="DADF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imposed</a:t>
            </a:r>
            <a:endParaRPr lang="en-US" sz="11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35240" y="1737360"/>
            <a:ext cx="1234440" cy="274320"/>
          </a:xfrm>
          <a:prstGeom prst="rect">
            <a:avLst/>
          </a:prstGeom>
          <a:solidFill>
            <a:srgbClr val="DADF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estimated</a:t>
            </a:r>
            <a:endParaRPr lang="en-US" sz="11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44000" y="1737360"/>
            <a:ext cx="2011680" cy="274320"/>
          </a:xfrm>
          <a:prstGeom prst="rect">
            <a:avLst/>
          </a:prstGeom>
          <a:solidFill>
            <a:srgbClr val="DADF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interpretation</a:t>
            </a:r>
            <a:endParaRPr lang="en-US" sz="11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17720" y="2121408"/>
            <a:ext cx="1280160" cy="457200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0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Ux</a:t>
            </a:r>
            <a:endParaRPr lang="en-US" sz="10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72200" y="2121408"/>
            <a:ext cx="1234440" cy="457200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0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100 m/s</a:t>
            </a:r>
            <a:endParaRPr lang="en-US" sz="10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35240" y="2121408"/>
            <a:ext cx="1234440" cy="457200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0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near 100</a:t>
            </a:r>
            <a:endParaRPr lang="en-US" sz="10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44000" y="2121408"/>
            <a:ext cx="2011680" cy="457200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0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mean drift</a:t>
            </a:r>
            <a:endParaRPr lang="en-US" sz="10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617720" y="2743200"/>
            <a:ext cx="12801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0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Uy, Uz</a:t>
            </a:r>
            <a:endParaRPr lang="en-US" sz="10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72200" y="2743200"/>
            <a:ext cx="12344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0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0</a:t>
            </a:r>
            <a:endParaRPr lang="en-US" sz="10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635240" y="2743200"/>
            <a:ext cx="12344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0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small nonzero</a:t>
            </a:r>
            <a:endParaRPr lang="en-US" sz="10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144000" y="2743200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0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finite-sample fluctuation</a:t>
            </a:r>
            <a:endParaRPr lang="en-US" sz="10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617720" y="3364992"/>
            <a:ext cx="1280160" cy="457200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0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</a:t>
            </a:r>
            <a:endParaRPr lang="en-US" sz="10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172200" y="3364992"/>
            <a:ext cx="1234440" cy="457200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0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300 K</a:t>
            </a:r>
            <a:endParaRPr lang="en-US" sz="10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635240" y="3364992"/>
            <a:ext cx="1234440" cy="457200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0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near 300</a:t>
            </a:r>
            <a:endParaRPr lang="en-US" sz="10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144000" y="3364992"/>
            <a:ext cx="2011680" cy="457200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0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thermal variance</a:t>
            </a:r>
            <a:endParaRPr lang="en-US" sz="10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617720" y="3986784"/>
            <a:ext cx="12801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0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q</a:t>
            </a:r>
            <a:endParaRPr lang="en-US" sz="10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172200" y="3986784"/>
            <a:ext cx="12344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0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0 at equilibrium</a:t>
            </a:r>
            <a:endParaRPr lang="en-US" sz="10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635240" y="3986784"/>
            <a:ext cx="12344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0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small nonzero</a:t>
            </a:r>
            <a:endParaRPr lang="en-US" sz="10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144000" y="3986784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0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higher-order noise</a:t>
            </a:r>
            <a:endParaRPr lang="en-US" sz="10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1" name="Text 39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 correct estimator can still be noisy; repeated samples produce a distribution of estimates.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Statistical error falls approximately as 1/sqrt(N)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SAMPLING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" name="Image 0" descr="/mnt/data/week3_work/assets/noise_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35458"/>
            <a:ext cx="6858000" cy="412424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234440"/>
            <a:ext cx="3886200" cy="1143000"/>
          </a:xfrm>
          <a:prstGeom prst="roundRect">
            <a:avLst>
              <a:gd name="adj" fmla="val 4800"/>
            </a:avLst>
          </a:prstGeom>
          <a:solidFill>
            <a:srgbClr val="FFF0D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9.998313280375211e+106" dist="4.9991566401876055e+106" dir="7.67617776808102e+125">
              <a:srgbClr val="000000">
                <a:alpha val="1.4e+12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Shape 4"/>
          <p:cNvSpPr/>
          <p:nvPr/>
        </p:nvSpPr>
        <p:spPr>
          <a:xfrm>
            <a:off x="7635240" y="1234440"/>
            <a:ext cx="73152" cy="114300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8" name="Text 5"/>
          <p:cNvSpPr/>
          <p:nvPr/>
        </p:nvSpPr>
        <p:spPr>
          <a:xfrm>
            <a:off x="7799832" y="13716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Core scaling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99832" y="1709928"/>
            <a:ext cx="35935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10x smaller standard error needs about 100x more independent samples.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35240" y="2743200"/>
            <a:ext cx="3886200" cy="1143000"/>
          </a:xfrm>
          <a:prstGeom prst="roundRect">
            <a:avLst>
              <a:gd name="adj" fmla="val 4800"/>
            </a:avLst>
          </a:prstGeom>
          <a:solidFill>
            <a:srgbClr val="FBE9EC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.2697857866076517e+111" dist="6.348928933038258e+110" dir="4.605706660848612e+130">
              <a:srgbClr val="000000">
                <a:alpha val="1.4e+13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Shape 8"/>
          <p:cNvSpPr/>
          <p:nvPr/>
        </p:nvSpPr>
        <p:spPr>
          <a:xfrm>
            <a:off x="7635240" y="2743200"/>
            <a:ext cx="73152" cy="1143000"/>
          </a:xfrm>
          <a:prstGeom prst="rect">
            <a:avLst/>
          </a:prstGeom>
          <a:solidFill>
            <a:srgbClr val="F3DFE2"/>
          </a:solidFill>
          <a:ln w="12700">
            <a:solidFill>
              <a:srgbClr val="B23A4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2" name="Text 9"/>
          <p:cNvSpPr/>
          <p:nvPr/>
        </p:nvSpPr>
        <p:spPr>
          <a:xfrm>
            <a:off x="7799832" y="288036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Low-speed difficulty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799832" y="3218688"/>
            <a:ext cx="35935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thermal molecular speed may be much larger than the small bulk-flow signal.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635240" y="4251960"/>
            <a:ext cx="3886200" cy="1143000"/>
          </a:xfrm>
          <a:prstGeom prst="roundRect">
            <a:avLst>
              <a:gd name="adj" fmla="val 4800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.6126279489917177e+115" dist="8.063139744958588e+114" dir="2.763423996509167e+135">
              <a:srgbClr val="000000">
                <a:alpha val="1.4e+13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Shape 12"/>
          <p:cNvSpPr/>
          <p:nvPr/>
        </p:nvSpPr>
        <p:spPr>
          <a:xfrm>
            <a:off x="7635240" y="4251960"/>
            <a:ext cx="73152" cy="114300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6" name="Text 13"/>
          <p:cNvSpPr/>
          <p:nvPr/>
        </p:nvSpPr>
        <p:spPr>
          <a:xfrm>
            <a:off x="7799832" y="438912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ML consequence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799832" y="4727448"/>
            <a:ext cx="35935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Noise creates a label-error floor that a network cannot eliminate by architecture alone.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9" name="Text 16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raw number of stored samples is not always the effective number of independent samples.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Effective sample size is more than particle count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SAMPLING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33375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2.0480374952194813e+119" dist="1.0240187476097407e+119" dir="1.6580543979055002e+140">
              <a:srgbClr val="000000">
                <a:alpha val="1.3999999999999999e+14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73152" cy="155448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Text 5"/>
          <p:cNvSpPr/>
          <p:nvPr/>
        </p:nvSpPr>
        <p:spPr>
          <a:xfrm>
            <a:off x="758952" y="150876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Particles per cell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8952" y="1847088"/>
            <a:ext cx="304495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More simultaneous observations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33375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2.6010076189287412e+123" dist="1.3005038094643706e+123" dir="9.948326387433002e+144">
              <a:srgbClr val="000000">
                <a:alpha val="1.4e+14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73152" cy="1554480"/>
          </a:xfrm>
          <a:prstGeom prst="rect">
            <a:avLst/>
          </a:prstGeom>
          <a:solidFill>
            <a:srgbClr val="DEECE4"/>
          </a:solidFill>
          <a:ln w="12700">
            <a:solidFill>
              <a:srgbClr val="2E8B57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Text 9"/>
          <p:cNvSpPr/>
          <p:nvPr/>
        </p:nvSpPr>
        <p:spPr>
          <a:xfrm>
            <a:off x="4553712" y="150876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Number of cells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53712" y="1847088"/>
            <a:ext cx="304495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Spatial resolution and local count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83880" y="1371600"/>
            <a:ext cx="33375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3.303279676039501e+127" dist="1.6516398380197506e+127" dir="5.968995832459801e+149">
              <a:srgbClr val="000000">
                <a:alpha val="1.4e+15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4" name="Shape 12"/>
          <p:cNvSpPr/>
          <p:nvPr/>
        </p:nvSpPr>
        <p:spPr>
          <a:xfrm>
            <a:off x="8183880" y="1371600"/>
            <a:ext cx="73152" cy="155448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Text 13"/>
          <p:cNvSpPr/>
          <p:nvPr/>
        </p:nvSpPr>
        <p:spPr>
          <a:xfrm>
            <a:off x="8348472" y="150876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Sampling duration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48472" y="1847088"/>
            <a:ext cx="304495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More time observations after transients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514600" y="3794760"/>
            <a:ext cx="33375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4.195165188570166e+131" dist="2.097582594285083e+131" dir="3.581397499475881e+154">
              <a:srgbClr val="000000">
                <a:alpha val="1.4e+15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8" name="Shape 16"/>
          <p:cNvSpPr/>
          <p:nvPr/>
        </p:nvSpPr>
        <p:spPr>
          <a:xfrm>
            <a:off x="2514600" y="3794760"/>
            <a:ext cx="73152" cy="1554480"/>
          </a:xfrm>
          <a:prstGeom prst="rect">
            <a:avLst/>
          </a:prstGeom>
          <a:solidFill>
            <a:srgbClr val="F3DFE2"/>
          </a:solidFill>
          <a:ln w="12700">
            <a:solidFill>
              <a:srgbClr val="B23A4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9" name="Text 17"/>
          <p:cNvSpPr/>
          <p:nvPr/>
        </p:nvSpPr>
        <p:spPr>
          <a:xfrm>
            <a:off x="2679192" y="393192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Sampling correlation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679192" y="4270248"/>
            <a:ext cx="304495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Reduces independent information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09360" y="3794760"/>
            <a:ext cx="33375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5.327859789484111e+135" dist="2.6639298947420556e+135" dir="2.1488384996855287e+159">
              <a:srgbClr val="000000">
                <a:alpha val="1.4e+16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2" name="Shape 20"/>
          <p:cNvSpPr/>
          <p:nvPr/>
        </p:nvSpPr>
        <p:spPr>
          <a:xfrm>
            <a:off x="6309360" y="3794760"/>
            <a:ext cx="73152" cy="1554480"/>
          </a:xfrm>
          <a:prstGeom prst="rect">
            <a:avLst/>
          </a:prstGeom>
          <a:solidFill>
            <a:srgbClr val="DADFE3"/>
          </a:solidFill>
          <a:ln w="1270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3" name="Text 21"/>
          <p:cNvSpPr/>
          <p:nvPr/>
        </p:nvSpPr>
        <p:spPr>
          <a:xfrm>
            <a:off x="6473952" y="393192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Repeated random seeds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73952" y="4270248"/>
            <a:ext cx="304495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Estimates run-to-run uncertainty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6" name="Text 24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Long averaging helps only after the transient has decayed and only when the samples add new information.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Noise is not the only data-quality problem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SAMPLING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5257800" cy="3611880"/>
          </a:xfrm>
          <a:prstGeom prst="roundRect">
            <a:avLst>
              <a:gd name="adj" fmla="val 1519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6.766381932644821e+139" dist="3.3831909663224106e+139" dir="1.2893030998113172e+164">
              <a:srgbClr val="000000">
                <a:alpha val="1.4e+16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73152" cy="361188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Text 5"/>
          <p:cNvSpPr/>
          <p:nvPr/>
        </p:nvSpPr>
        <p:spPr>
          <a:xfrm>
            <a:off x="850392" y="146304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21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Variance / statistical noise</a:t>
            </a:r>
            <a:endParaRPr lang="en-US" sz="21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0392" y="1801368"/>
            <a:ext cx="4965192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Reduced by more particles, longer averaging, multiple seeds, and appropriate estimators.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Visible symptom: rough fields and seed-to-seed scatter.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5257800" cy="3611880"/>
          </a:xfrm>
          <a:prstGeom prst="roundRect">
            <a:avLst>
              <a:gd name="adj" fmla="val 1519"/>
            </a:avLst>
          </a:prstGeom>
          <a:solidFill>
            <a:srgbClr val="FBE9EC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8.593305054458923e+143" dist="4.296652527229462e+143" dir="7.735818598867904e+168">
              <a:srgbClr val="000000">
                <a:alpha val="1.4000000000000002e+17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0" name="Shape 8"/>
          <p:cNvSpPr/>
          <p:nvPr/>
        </p:nvSpPr>
        <p:spPr>
          <a:xfrm>
            <a:off x="6263640" y="1325880"/>
            <a:ext cx="73152" cy="3611880"/>
          </a:xfrm>
          <a:prstGeom prst="rect">
            <a:avLst/>
          </a:prstGeom>
          <a:solidFill>
            <a:srgbClr val="F3DFE2"/>
          </a:solidFill>
          <a:ln w="12700">
            <a:solidFill>
              <a:srgbClr val="B23A4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Text 9"/>
          <p:cNvSpPr/>
          <p:nvPr/>
        </p:nvSpPr>
        <p:spPr>
          <a:xfrm>
            <a:off x="6428232" y="146304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21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Bias / numerical or model error</a:t>
            </a:r>
            <a:endParaRPr lang="en-US" sz="21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28232" y="1801368"/>
            <a:ext cx="4965192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Caused by cells that are too large, time steps that are too large, incorrect boundaries, an unsuitable collision model, or unresolved gradients.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Averaging does not remove it.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87568" y="2651760"/>
            <a:ext cx="502920" cy="640080"/>
          </a:xfrm>
          <a:prstGeom prst="chevron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4" name="Shape 12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Text 13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 smooth, converged average can still be systematically wrong. Independence and validation remain essential.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13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Near a wall, the distribution need not be Maxwellian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NON-EQUILIBRIUM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" name="Image 0" descr="/mnt/data/week3_work/assets/near_wall_non_equilibri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91723"/>
            <a:ext cx="6812280" cy="39202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234440"/>
            <a:ext cx="4023360" cy="1051560"/>
          </a:xfrm>
          <a:prstGeom prst="roundRect">
            <a:avLst>
              <a:gd name="adj" fmla="val 5217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.0913497419162833e+148" dist="5.4567487095814166e+147" dir="4.6414911593207425e+173">
              <a:srgbClr val="000000">
                <a:alpha val="1.4000000000000003e+17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Shape 4"/>
          <p:cNvSpPr/>
          <p:nvPr/>
        </p:nvSpPr>
        <p:spPr>
          <a:xfrm>
            <a:off x="7589520" y="1234440"/>
            <a:ext cx="73152" cy="105156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8" name="Text 5"/>
          <p:cNvSpPr/>
          <p:nvPr/>
        </p:nvSpPr>
        <p:spPr>
          <a:xfrm>
            <a:off x="7754112" y="137160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Incoming population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54112" y="1709928"/>
            <a:ext cx="37307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Carries information from the gas toward the wall.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589520" y="2560320"/>
            <a:ext cx="4023360" cy="1051560"/>
          </a:xfrm>
          <a:prstGeom prst="roundRect">
            <a:avLst>
              <a:gd name="adj" fmla="val 5217"/>
            </a:avLst>
          </a:prstGeom>
          <a:solidFill>
            <a:srgbClr val="FFF0D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.38601417223368e+152" dist="6.9300708611684e+151" dir="2.7848946955924455e+178">
              <a:srgbClr val="000000">
                <a:alpha val="1.4000000000000003e+18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Shape 8"/>
          <p:cNvSpPr/>
          <p:nvPr/>
        </p:nvSpPr>
        <p:spPr>
          <a:xfrm>
            <a:off x="7589520" y="2560320"/>
            <a:ext cx="73152" cy="105156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2" name="Text 9"/>
          <p:cNvSpPr/>
          <p:nvPr/>
        </p:nvSpPr>
        <p:spPr>
          <a:xfrm>
            <a:off x="7754112" y="269748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Outgoing population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754112" y="3035808"/>
            <a:ext cx="37307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Carries the wall temperature, velocity, and reflection model.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589520" y="3886200"/>
            <a:ext cx="4023360" cy="1051560"/>
          </a:xfrm>
          <a:prstGeom prst="roundRect">
            <a:avLst>
              <a:gd name="adj" fmla="val 5217"/>
            </a:avLst>
          </a:prstGeom>
          <a:solidFill>
            <a:srgbClr val="FBE9EC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.7602379987367734e+156" dist="8.801189993683867e+155" dir="1.6709368173554673e+183">
              <a:srgbClr val="000000">
                <a:alpha val="1.4000000000000003e+18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Shape 12"/>
          <p:cNvSpPr/>
          <p:nvPr/>
        </p:nvSpPr>
        <p:spPr>
          <a:xfrm>
            <a:off x="7589520" y="3886200"/>
            <a:ext cx="73152" cy="1051560"/>
          </a:xfrm>
          <a:prstGeom prst="rect">
            <a:avLst/>
          </a:prstGeom>
          <a:solidFill>
            <a:srgbClr val="F3DFE2"/>
          </a:solidFill>
          <a:ln w="12700">
            <a:solidFill>
              <a:srgbClr val="B23A4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6" name="Text 13"/>
          <p:cNvSpPr/>
          <p:nvPr/>
        </p:nvSpPr>
        <p:spPr>
          <a:xfrm>
            <a:off x="7754112" y="402336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Macroscopic signatures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754112" y="4361688"/>
            <a:ext cx="37307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Velocity slip, temperature jump, Knudsen layers, and anisotropic stress/heat flux.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9" name="Text 16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Wall conditions are not a minor implementation detail; they directly shape the kinetic distribution and therefore the training data.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14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The Boltzmann equation: transport plus collisions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BOLTZMANN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276917"/>
            <a:ext cx="6492240" cy="9208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514600"/>
            <a:ext cx="3337560" cy="2057400"/>
          </a:xfrm>
          <a:prstGeom prst="roundRect">
            <a:avLst>
              <a:gd name="adj" fmla="val 2667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2.235502258395702e+160" dist="1.117751129197851e+160" dir="1.0025620904132804e+188">
              <a:srgbClr val="000000">
                <a:alpha val="1.4000000000000002e+19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Shape 4"/>
          <p:cNvSpPr/>
          <p:nvPr/>
        </p:nvSpPr>
        <p:spPr>
          <a:xfrm>
            <a:off x="685800" y="2514600"/>
            <a:ext cx="73152" cy="205740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8" name="Text 5"/>
          <p:cNvSpPr/>
          <p:nvPr/>
        </p:nvSpPr>
        <p:spPr>
          <a:xfrm>
            <a:off x="850392" y="265176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8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Left side: transport</a:t>
            </a:r>
            <a:endParaRPr lang="en-US"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6"/>
          <p:cNvSpPr/>
          <p:nvPr/>
        </p:nvSpPr>
        <p:spPr>
          <a:xfrm>
            <a:off x="850392" y="2990088"/>
            <a:ext cx="3044952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Molecules move through physical space and, if forces exist, through velocity space.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434840" y="2514600"/>
            <a:ext cx="3337560" cy="2057400"/>
          </a:xfrm>
          <a:prstGeom prst="roundRect">
            <a:avLst>
              <a:gd name="adj" fmla="val 2667"/>
            </a:avLst>
          </a:prstGeom>
          <a:solidFill>
            <a:srgbClr val="FFF0D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2.8390878681625417e+164" dist="1.4195439340812709e+164" dir="6.015372542479682e+192">
              <a:srgbClr val="000000">
                <a:alpha val="1.4000000000000003e+19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Shape 8"/>
          <p:cNvSpPr/>
          <p:nvPr/>
        </p:nvSpPr>
        <p:spPr>
          <a:xfrm>
            <a:off x="4434840" y="2514600"/>
            <a:ext cx="73152" cy="205740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2" name="Text 9"/>
          <p:cNvSpPr/>
          <p:nvPr/>
        </p:nvSpPr>
        <p:spPr>
          <a:xfrm>
            <a:off x="4599432" y="265176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8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Right side: collisions</a:t>
            </a:r>
            <a:endParaRPr lang="en-US"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99432" y="2990088"/>
            <a:ext cx="3044952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nonlinear collision operator redistributes molecular velocities while preserving collision invariants.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183880" y="1234440"/>
            <a:ext cx="3383280" cy="3337560"/>
          </a:xfrm>
          <a:prstGeom prst="roundRect">
            <a:avLst>
              <a:gd name="adj" fmla="val 1644"/>
            </a:avLst>
          </a:prstGeom>
          <a:solidFill>
            <a:srgbClr val="F4F7F9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3.605641592566428e+168" dist="1.802820796283214e+168" dir="3.6092235254878095e+197">
              <a:srgbClr val="000000">
                <a:alpha val="1.4000000000000004e+20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Shape 12"/>
          <p:cNvSpPr/>
          <p:nvPr/>
        </p:nvSpPr>
        <p:spPr>
          <a:xfrm>
            <a:off x="8183880" y="1234440"/>
            <a:ext cx="73152" cy="3337560"/>
          </a:xfrm>
          <a:prstGeom prst="rect">
            <a:avLst/>
          </a:prstGeom>
          <a:solidFill>
            <a:srgbClr val="DADFE3"/>
          </a:solidFill>
          <a:ln w="1270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6" name="Text 13"/>
          <p:cNvSpPr/>
          <p:nvPr/>
        </p:nvSpPr>
        <p:spPr>
          <a:xfrm>
            <a:off x="8348472" y="13716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8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Why we care</a:t>
            </a:r>
            <a:endParaRPr lang="en-US"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348472" y="1709928"/>
            <a:ext cx="3090672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equation contains the complete kinetic state, and its moments recover continuum quantities.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But direct solution is expensive - especially for many parameter cases needed by AI.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9" name="Text 16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DSMC is a stochastic particle method designed to reproduce the Boltzmann dynamics of dilute gases.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Why the Boltzmann equation is difficult to solve directly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BOLTZMANN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33375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4.579164822559364e+172" dist="2.289582411279682e+172" dir="2.1655341152926858e+202">
              <a:srgbClr val="000000">
                <a:alpha val="1.4000000000000004e+20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73152" cy="150876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Text 5"/>
          <p:cNvSpPr/>
          <p:nvPr/>
        </p:nvSpPr>
        <p:spPr>
          <a:xfrm>
            <a:off x="758952" y="146304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High dimension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8952" y="1801368"/>
            <a:ext cx="30449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3 physical + 3 velocity coordinates + time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9120" y="1325880"/>
            <a:ext cx="33375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5.815539324650392e+176" dist="2.907769662325196e+176" dir="1.2993204691756116e+207">
              <a:srgbClr val="000000">
                <a:alpha val="1.4000000000000004e+21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0" name="Shape 8"/>
          <p:cNvSpPr/>
          <p:nvPr/>
        </p:nvSpPr>
        <p:spPr>
          <a:xfrm>
            <a:off x="4389120" y="1325880"/>
            <a:ext cx="73152" cy="150876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Text 9"/>
          <p:cNvSpPr/>
          <p:nvPr/>
        </p:nvSpPr>
        <p:spPr>
          <a:xfrm>
            <a:off x="4553712" y="146304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Nonlinear collision integral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53712" y="1801368"/>
            <a:ext cx="30449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Pre- and post-collision states are coupled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83880" y="1325880"/>
            <a:ext cx="33375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7.385734942305998e+180" dist="3.692867471152999e+180" dir="7.795922815053669e+211">
              <a:srgbClr val="000000">
                <a:alpha val="1.4000000000000004e+21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4" name="Shape 12"/>
          <p:cNvSpPr/>
          <p:nvPr/>
        </p:nvSpPr>
        <p:spPr>
          <a:xfrm>
            <a:off x="8183880" y="1325880"/>
            <a:ext cx="73152" cy="1508760"/>
          </a:xfrm>
          <a:prstGeom prst="rect">
            <a:avLst/>
          </a:prstGeom>
          <a:solidFill>
            <a:srgbClr val="F3DFE2"/>
          </a:solidFill>
          <a:ln w="12700">
            <a:solidFill>
              <a:srgbClr val="B23A4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Text 13"/>
          <p:cNvSpPr/>
          <p:nvPr/>
        </p:nvSpPr>
        <p:spPr>
          <a:xfrm>
            <a:off x="8348472" y="146304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Boundary physics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48472" y="1801368"/>
            <a:ext cx="30449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Diffuse/specular reflection and accommodation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4360" y="3291840"/>
            <a:ext cx="33375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9.379883376728618e+184" dist="4.689941688364309e+184" dir="4.677553689032201e+216">
              <a:srgbClr val="000000">
                <a:alpha val="1.4000000000000005e+22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8" name="Shape 16"/>
          <p:cNvSpPr/>
          <p:nvPr/>
        </p:nvSpPr>
        <p:spPr>
          <a:xfrm>
            <a:off x="594360" y="3291840"/>
            <a:ext cx="73152" cy="1508760"/>
          </a:xfrm>
          <a:prstGeom prst="rect">
            <a:avLst/>
          </a:prstGeom>
          <a:solidFill>
            <a:srgbClr val="DEECE4"/>
          </a:solidFill>
          <a:ln w="12700">
            <a:solidFill>
              <a:srgbClr val="2E8B57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9" name="Text 17"/>
          <p:cNvSpPr/>
          <p:nvPr/>
        </p:nvSpPr>
        <p:spPr>
          <a:xfrm>
            <a:off x="758952" y="342900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Multi-scale structure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8952" y="3767328"/>
            <a:ext cx="30449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Bulk flow, Knudsen layers, shocks, corners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389120" y="3291840"/>
            <a:ext cx="33375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.1912451888445345e+189" dist="5.956225944222673e+188" dir="2.806532213419321e+221">
              <a:srgbClr val="000000">
                <a:alpha val="1.4000000000000004e+22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2" name="Shape 20"/>
          <p:cNvSpPr/>
          <p:nvPr/>
        </p:nvSpPr>
        <p:spPr>
          <a:xfrm>
            <a:off x="4389120" y="3291840"/>
            <a:ext cx="73152" cy="1508760"/>
          </a:xfrm>
          <a:prstGeom prst="rect">
            <a:avLst/>
          </a:prstGeom>
          <a:solidFill>
            <a:srgbClr val="DADFE3"/>
          </a:solidFill>
          <a:ln w="1270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3" name="Text 21"/>
          <p:cNvSpPr/>
          <p:nvPr/>
        </p:nvSpPr>
        <p:spPr>
          <a:xfrm>
            <a:off x="4553712" y="342900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Large parametric cost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53712" y="3767328"/>
            <a:ext cx="30449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Many Kn, wall, geometry, and gas cases for design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83880" y="3291840"/>
            <a:ext cx="3337560" cy="1508760"/>
          </a:xfrm>
          <a:prstGeom prst="roundRect">
            <a:avLst>
              <a:gd name="adj" fmla="val 3636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.5128813898325588e+193" dist="7.564406949162794e+192" dir="1.6839193280515925e+226">
              <a:srgbClr val="000000">
                <a:alpha val="1.4000000000000004e+23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6" name="Shape 24"/>
          <p:cNvSpPr/>
          <p:nvPr/>
        </p:nvSpPr>
        <p:spPr>
          <a:xfrm>
            <a:off x="8183880" y="3291840"/>
            <a:ext cx="73152" cy="150876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7" name="Text 25"/>
          <p:cNvSpPr/>
          <p:nvPr/>
        </p:nvSpPr>
        <p:spPr>
          <a:xfrm>
            <a:off x="8348472" y="342900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AI opportunity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48472" y="3767328"/>
            <a:ext cx="304495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Learn mappings only after solver data are validated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0" name="Text 28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high cost of repeated kinetic solutions motivates surrogates; the high complexity also makes extrapolation dangerous.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16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DSMC separates molecular movement and collisions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DSMC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4846320" cy="3429000"/>
          </a:xfrm>
          <a:prstGeom prst="roundRect">
            <a:avLst>
              <a:gd name="adj" fmla="val 1600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.9213593650873497e+197" dist="9.606796825436748e+196" dir="1.0103515968309554e+231">
              <a:srgbClr val="000000">
                <a:alpha val="1.4000000000000005e+23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73152" cy="342900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Text 5"/>
          <p:cNvSpPr/>
          <p:nvPr/>
        </p:nvSpPr>
        <p:spPr>
          <a:xfrm>
            <a:off x="850392" y="1371600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2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Transport substep</a:t>
            </a:r>
            <a:endParaRPr lang="en-US" sz="2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0392" y="1709928"/>
            <a:ext cx="4553712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Particles move ballistically during a short time interval. Wall crossings are processed with a gas-surface model.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629400" y="1234440"/>
            <a:ext cx="4846320" cy="3429000"/>
          </a:xfrm>
          <a:prstGeom prst="roundRect">
            <a:avLst>
              <a:gd name="adj" fmla="val 1600"/>
            </a:avLst>
          </a:prstGeom>
          <a:solidFill>
            <a:srgbClr val="FFF0D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2.440126393660934e+201" dist="1.220063196830467e+201" dir="6.062109580985733e+235">
              <a:srgbClr val="000000">
                <a:alpha val="1.4000000000000006e+24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0" name="Shape 8"/>
          <p:cNvSpPr/>
          <p:nvPr/>
        </p:nvSpPr>
        <p:spPr>
          <a:xfrm>
            <a:off x="6629400" y="1234440"/>
            <a:ext cx="73152" cy="342900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Text 9"/>
          <p:cNvSpPr/>
          <p:nvPr/>
        </p:nvSpPr>
        <p:spPr>
          <a:xfrm>
            <a:off x="6793992" y="1371600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2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Collision substep</a:t>
            </a:r>
            <a:endParaRPr lang="en-US" sz="2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93992" y="1709928"/>
            <a:ext cx="4553712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Pairs are selected locally inside cells and their velocities are updated stochastically.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50992" y="2514600"/>
            <a:ext cx="777240" cy="713232"/>
          </a:xfrm>
          <a:prstGeom prst="chevron">
            <a:avLst/>
          </a:prstGeom>
          <a:solidFill>
            <a:srgbClr val="DADFE3"/>
          </a:solidFill>
          <a:ln w="1270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4" name="Text 12"/>
          <p:cNvSpPr/>
          <p:nvPr/>
        </p:nvSpPr>
        <p:spPr>
          <a:xfrm>
            <a:off x="4389120" y="4983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8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repeat for many time steps</a:t>
            </a:r>
            <a:endParaRPr lang="en-US"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6" name="Text 14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time step must be short enough that the split transport/collision picture remains accurate.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17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The DSMC cycle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DSMC ALGORITHM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33272" y="1325880"/>
            <a:ext cx="420624" cy="420624"/>
          </a:xfrm>
          <a:prstGeom prst="ellipse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6" name="Text 4"/>
          <p:cNvSpPr/>
          <p:nvPr/>
        </p:nvSpPr>
        <p:spPr>
          <a:xfrm>
            <a:off x="1033272" y="141274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1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874520"/>
            <a:ext cx="1673352" cy="23317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3.0989605199493864e+205" dist="1.5494802599746932e+205" dir="3.63726574859144e+240">
              <a:srgbClr val="000000">
                <a:alpha val="1.4000000000000005e+24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73152" cy="233172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9" name="Text 7"/>
          <p:cNvSpPr/>
          <p:nvPr/>
        </p:nvSpPr>
        <p:spPr>
          <a:xfrm>
            <a:off x="576072" y="201168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Initialize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76072" y="2350008"/>
            <a:ext cx="1380744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x, c, species, weight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112264" y="2697480"/>
            <a:ext cx="237744" cy="438912"/>
          </a:xfrm>
          <a:prstGeom prst="chevron">
            <a:avLst/>
          </a:prstGeom>
          <a:solidFill>
            <a:srgbClr val="F3F5F7"/>
          </a:solidFill>
          <a:ln w="12700">
            <a:solidFill>
              <a:srgbClr val="B5C2CA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2" name="Shape 10"/>
          <p:cNvSpPr/>
          <p:nvPr/>
        </p:nvSpPr>
        <p:spPr>
          <a:xfrm>
            <a:off x="2980944" y="1325880"/>
            <a:ext cx="420624" cy="420624"/>
          </a:xfrm>
          <a:prstGeom prst="ellipse">
            <a:avLst/>
          </a:prstGeom>
          <a:solidFill>
            <a:srgbClr val="DEECE4"/>
          </a:solidFill>
          <a:ln w="12700">
            <a:solidFill>
              <a:srgbClr val="2E8B57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3" name="Text 11"/>
          <p:cNvSpPr/>
          <p:nvPr/>
        </p:nvSpPr>
        <p:spPr>
          <a:xfrm>
            <a:off x="2980944" y="141274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2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9152" y="1874520"/>
            <a:ext cx="1673352" cy="23317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3.9356798603357206e+209" dist="1.9678399301678603e+209" dir="2.182359449154864e+245">
              <a:srgbClr val="000000">
                <a:alpha val="1.4000000000000004e+25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Shape 13"/>
          <p:cNvSpPr/>
          <p:nvPr/>
        </p:nvSpPr>
        <p:spPr>
          <a:xfrm>
            <a:off x="2359152" y="1874520"/>
            <a:ext cx="73152" cy="2331720"/>
          </a:xfrm>
          <a:prstGeom prst="rect">
            <a:avLst/>
          </a:prstGeom>
          <a:solidFill>
            <a:srgbClr val="DEECE4"/>
          </a:solidFill>
          <a:ln w="12700">
            <a:solidFill>
              <a:srgbClr val="2E8B57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6" name="Text 14"/>
          <p:cNvSpPr/>
          <p:nvPr/>
        </p:nvSpPr>
        <p:spPr>
          <a:xfrm>
            <a:off x="2523744" y="201168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Move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23744" y="2350008"/>
            <a:ext cx="1380744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x &lt;- x + c dt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059936" y="2697480"/>
            <a:ext cx="237744" cy="438912"/>
          </a:xfrm>
          <a:prstGeom prst="chevron">
            <a:avLst/>
          </a:prstGeom>
          <a:solidFill>
            <a:srgbClr val="F3F5F7"/>
          </a:solidFill>
          <a:ln w="12700">
            <a:solidFill>
              <a:srgbClr val="B5C2CA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9" name="Shape 17"/>
          <p:cNvSpPr/>
          <p:nvPr/>
        </p:nvSpPr>
        <p:spPr>
          <a:xfrm>
            <a:off x="4928616" y="1325880"/>
            <a:ext cx="420624" cy="420624"/>
          </a:xfrm>
          <a:prstGeom prst="ellipse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0" name="Text 18"/>
          <p:cNvSpPr/>
          <p:nvPr/>
        </p:nvSpPr>
        <p:spPr>
          <a:xfrm>
            <a:off x="4928616" y="141274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3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306824" y="1874520"/>
            <a:ext cx="1673352" cy="23317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4.9983134226263654e+213" dist="2.4991567113131827e+213" dir="1.3094156694929184e+250">
              <a:srgbClr val="000000">
                <a:alpha val="1.4000000000000004e+25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2" name="Shape 20"/>
          <p:cNvSpPr/>
          <p:nvPr/>
        </p:nvSpPr>
        <p:spPr>
          <a:xfrm>
            <a:off x="4306824" y="1874520"/>
            <a:ext cx="73152" cy="233172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3" name="Text 21"/>
          <p:cNvSpPr/>
          <p:nvPr/>
        </p:nvSpPr>
        <p:spPr>
          <a:xfrm>
            <a:off x="4471416" y="201168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Walls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471416" y="2350008"/>
            <a:ext cx="1380744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reflect / re-emit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07608" y="2697480"/>
            <a:ext cx="237744" cy="438912"/>
          </a:xfrm>
          <a:prstGeom prst="chevron">
            <a:avLst/>
          </a:prstGeom>
          <a:solidFill>
            <a:srgbClr val="F3F5F7"/>
          </a:solidFill>
          <a:ln w="12700">
            <a:solidFill>
              <a:srgbClr val="B5C2CA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6" name="Shape 24"/>
          <p:cNvSpPr/>
          <p:nvPr/>
        </p:nvSpPr>
        <p:spPr>
          <a:xfrm>
            <a:off x="6876288" y="1325880"/>
            <a:ext cx="420624" cy="420624"/>
          </a:xfrm>
          <a:prstGeom prst="ellipse">
            <a:avLst/>
          </a:prstGeom>
          <a:solidFill>
            <a:srgbClr val="F3DFE2"/>
          </a:solidFill>
          <a:ln w="12700">
            <a:solidFill>
              <a:srgbClr val="B23A4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7" name="Text 25"/>
          <p:cNvSpPr/>
          <p:nvPr/>
        </p:nvSpPr>
        <p:spPr>
          <a:xfrm>
            <a:off x="6876288" y="141274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4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54496" y="1874520"/>
            <a:ext cx="1673352" cy="23317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6.347858046735484e+217" dist="3.173929023367742e+217" dir="7.85649401695751e+254">
              <a:srgbClr val="000000">
                <a:alpha val="1.4000000000000004e+26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9" name="Shape 27"/>
          <p:cNvSpPr/>
          <p:nvPr/>
        </p:nvSpPr>
        <p:spPr>
          <a:xfrm>
            <a:off x="6254496" y="1874520"/>
            <a:ext cx="73152" cy="2331720"/>
          </a:xfrm>
          <a:prstGeom prst="rect">
            <a:avLst/>
          </a:prstGeom>
          <a:solidFill>
            <a:srgbClr val="F3DFE2"/>
          </a:solidFill>
          <a:ln w="12700">
            <a:solidFill>
              <a:srgbClr val="B23A4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0" name="Text 28"/>
          <p:cNvSpPr/>
          <p:nvPr/>
        </p:nvSpPr>
        <p:spPr>
          <a:xfrm>
            <a:off x="6419088" y="201168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Index cells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19088" y="2350008"/>
            <a:ext cx="1380744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local collision neighborhoods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955280" y="2697480"/>
            <a:ext cx="237744" cy="438912"/>
          </a:xfrm>
          <a:prstGeom prst="chevron">
            <a:avLst/>
          </a:prstGeom>
          <a:solidFill>
            <a:srgbClr val="F3F5F7"/>
          </a:solidFill>
          <a:ln w="12700">
            <a:solidFill>
              <a:srgbClr val="B5C2CA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3" name="Shape 31"/>
          <p:cNvSpPr/>
          <p:nvPr/>
        </p:nvSpPr>
        <p:spPr>
          <a:xfrm>
            <a:off x="8823960" y="1325880"/>
            <a:ext cx="420624" cy="420624"/>
          </a:xfrm>
          <a:prstGeom prst="ellipse">
            <a:avLst/>
          </a:prstGeom>
          <a:solidFill>
            <a:srgbClr val="DADFE3"/>
          </a:solidFill>
          <a:ln w="1270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4" name="Text 32"/>
          <p:cNvSpPr/>
          <p:nvPr/>
        </p:nvSpPr>
        <p:spPr>
          <a:xfrm>
            <a:off x="8823960" y="141274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5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202168" y="1874520"/>
            <a:ext cx="1673352" cy="23317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8.061779719354066e+221" dist="4.030889859677033e+221" dir="4.713896410174506e+259">
              <a:srgbClr val="000000">
                <a:alpha val="1.4000000000000005e+26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6" name="Shape 34"/>
          <p:cNvSpPr/>
          <p:nvPr/>
        </p:nvSpPr>
        <p:spPr>
          <a:xfrm>
            <a:off x="8202168" y="1874520"/>
            <a:ext cx="73152" cy="2331720"/>
          </a:xfrm>
          <a:prstGeom prst="rect">
            <a:avLst/>
          </a:prstGeom>
          <a:solidFill>
            <a:srgbClr val="DADFE3"/>
          </a:solidFill>
          <a:ln w="1270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7" name="Text 35"/>
          <p:cNvSpPr/>
          <p:nvPr/>
        </p:nvSpPr>
        <p:spPr>
          <a:xfrm>
            <a:off x="8366760" y="201168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Collide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366760" y="2350008"/>
            <a:ext cx="1380744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select pairs + update c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902952" y="2697480"/>
            <a:ext cx="237744" cy="438912"/>
          </a:xfrm>
          <a:prstGeom prst="chevron">
            <a:avLst/>
          </a:prstGeom>
          <a:solidFill>
            <a:srgbClr val="F3F5F7"/>
          </a:solidFill>
          <a:ln w="12700">
            <a:solidFill>
              <a:srgbClr val="B5C2CA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0" name="Shape 38"/>
          <p:cNvSpPr/>
          <p:nvPr/>
        </p:nvSpPr>
        <p:spPr>
          <a:xfrm>
            <a:off x="10771632" y="1325880"/>
            <a:ext cx="420624" cy="420624"/>
          </a:xfrm>
          <a:prstGeom prst="ellipse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1" name="Text 39"/>
          <p:cNvSpPr/>
          <p:nvPr/>
        </p:nvSpPr>
        <p:spPr>
          <a:xfrm>
            <a:off x="10771632" y="141274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6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0149840" y="1874520"/>
            <a:ext cx="1673352" cy="23317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.0238460243579663e+226" dist="5.1192301217898315e+225" dir="2.8283378461047036e+264">
              <a:srgbClr val="000000">
                <a:alpha val="1.4000000000000004e+27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3" name="Shape 41"/>
          <p:cNvSpPr/>
          <p:nvPr/>
        </p:nvSpPr>
        <p:spPr>
          <a:xfrm>
            <a:off x="10149840" y="1874520"/>
            <a:ext cx="73152" cy="233172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4" name="Text 42"/>
          <p:cNvSpPr/>
          <p:nvPr/>
        </p:nvSpPr>
        <p:spPr>
          <a:xfrm>
            <a:off x="10314432" y="201168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Sample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0314432" y="2350008"/>
            <a:ext cx="1380744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average particle moments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14400" y="4343400"/>
            <a:ext cx="10012680" cy="100584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28"/>
            </a:solidFill>
            <a:prstDash val="solid"/>
            <a:tailEnd type="triangle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7" name="Text 45"/>
          <p:cNvSpPr/>
          <p:nvPr/>
        </p:nvSpPr>
        <p:spPr>
          <a:xfrm>
            <a:off x="2377440" y="4983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Continue until transients decay and the desired statistical precision is reached</a:t>
            </a:r>
            <a:endParaRPr lang="en-US"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9" name="Text 47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Week-3 notebook exposes every stage; the later Project-1 code adds VHS, NTC, GPU acceleration, validation, and independence studies.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18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Step 1 - initialize representative particles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DSMC ALGORITHM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" name="Image 0" descr="/mnt/data/week3_work/assets/molecular_velocity_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85068"/>
            <a:ext cx="5166360" cy="37335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0" y="1234440"/>
            <a:ext cx="5440680" cy="1051560"/>
          </a:xfrm>
          <a:prstGeom prst="roundRect">
            <a:avLst>
              <a:gd name="adj" fmla="val 5217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.3002844509346172e+230" dist="6.501422254673086e+229" dir="1.6970027076628222e+269">
              <a:srgbClr val="000000">
                <a:alpha val="1.4000000000000004e+27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Shape 4"/>
          <p:cNvSpPr/>
          <p:nvPr/>
        </p:nvSpPr>
        <p:spPr>
          <a:xfrm>
            <a:off x="5943600" y="1234440"/>
            <a:ext cx="73152" cy="105156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8" name="Text 5"/>
          <p:cNvSpPr/>
          <p:nvPr/>
        </p:nvSpPr>
        <p:spPr>
          <a:xfrm>
            <a:off x="6108192" y="1371600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Positions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6"/>
          <p:cNvSpPr/>
          <p:nvPr/>
        </p:nvSpPr>
        <p:spPr>
          <a:xfrm>
            <a:off x="6108192" y="1709928"/>
            <a:ext cx="51480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Usually sampled throughout the physical domain according to the initial density.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943600" y="2560320"/>
            <a:ext cx="5440680" cy="1051560"/>
          </a:xfrm>
          <a:prstGeom prst="roundRect">
            <a:avLst>
              <a:gd name="adj" fmla="val 5217"/>
            </a:avLst>
          </a:prstGeom>
          <a:solidFill>
            <a:srgbClr val="FFF0D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.6513612526869638e+234" dist="8.256806263434819e+233" dir="1.0182016245976934e+274">
              <a:srgbClr val="000000">
                <a:alpha val="1.4000000000000003e+28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Shape 8"/>
          <p:cNvSpPr/>
          <p:nvPr/>
        </p:nvSpPr>
        <p:spPr>
          <a:xfrm>
            <a:off x="5943600" y="2560320"/>
            <a:ext cx="73152" cy="105156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2" name="Text 9"/>
          <p:cNvSpPr/>
          <p:nvPr/>
        </p:nvSpPr>
        <p:spPr>
          <a:xfrm>
            <a:off x="6108192" y="2697480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Velocities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108192" y="3035808"/>
            <a:ext cx="51480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Sampled from a Maxwellian or another prescribed distribution.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943600" y="3886200"/>
            <a:ext cx="5440680" cy="1051560"/>
          </a:xfrm>
          <a:prstGeom prst="roundRect">
            <a:avLst>
              <a:gd name="adj" fmla="val 5217"/>
            </a:avLst>
          </a:prstGeom>
          <a:solidFill>
            <a:srgbClr val="E7F4EC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2.097228790912444e+238" dist="1.048614395456222e+238" dir="6.10920974758616e+278">
              <a:srgbClr val="000000">
                <a:alpha val="1.4000000000000004e+28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Shape 12"/>
          <p:cNvSpPr/>
          <p:nvPr/>
        </p:nvSpPr>
        <p:spPr>
          <a:xfrm>
            <a:off x="5943600" y="3886200"/>
            <a:ext cx="73152" cy="1051560"/>
          </a:xfrm>
          <a:prstGeom prst="rect">
            <a:avLst/>
          </a:prstGeom>
          <a:solidFill>
            <a:srgbClr val="DEECE4"/>
          </a:solidFill>
          <a:ln w="12700">
            <a:solidFill>
              <a:srgbClr val="2E8B57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6" name="Text 13"/>
          <p:cNvSpPr/>
          <p:nvPr/>
        </p:nvSpPr>
        <p:spPr>
          <a:xfrm>
            <a:off x="6108192" y="4023360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Statistical weight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108192" y="4361688"/>
            <a:ext cx="51480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One simulated particle represents many real molecules.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9" name="Text 16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DSMC tracks representative particles, not every physical molecule.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Step 2 - move particles and apply wall physics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DSMC ALGORITHM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4937760" cy="4206240"/>
          </a:xfrm>
          <a:prstGeom prst="rect">
            <a:avLst/>
          </a:prstGeom>
          <a:solidFill>
            <a:srgbClr val="F4F7F9"/>
          </a:solidFill>
          <a:ln w="25400">
            <a:solidFill>
              <a:srgbClr val="0B1F3A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6" name="Shape 4"/>
          <p:cNvSpPr/>
          <p:nvPr/>
        </p:nvSpPr>
        <p:spPr>
          <a:xfrm>
            <a:off x="1143000" y="1170432"/>
            <a:ext cx="3474720" cy="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  <a:tailEnd type="triangle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Text 5"/>
          <p:cNvSpPr/>
          <p:nvPr/>
        </p:nvSpPr>
        <p:spPr>
          <a:xfrm>
            <a:off x="1965960" y="896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moving diffuse lid</a:t>
            </a:r>
            <a:endParaRPr lang="en-US" sz="13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207008" y="1847088"/>
            <a:ext cx="146304" cy="146304"/>
          </a:xfrm>
          <a:prstGeom prst="ellipse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9" name="Shape 7"/>
          <p:cNvSpPr/>
          <p:nvPr/>
        </p:nvSpPr>
        <p:spPr>
          <a:xfrm>
            <a:off x="1280160" y="1920240"/>
            <a:ext cx="685800" cy="-457200"/>
          </a:xfrm>
          <a:prstGeom prst="line">
            <a:avLst/>
          </a:prstGeom>
          <a:noFill/>
          <a:ln w="19050">
            <a:solidFill>
              <a:srgbClr val="173650"/>
            </a:solidFill>
            <a:prstDash val="solid"/>
            <a:tailEnd type="triangle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0" name="Shape 8"/>
          <p:cNvSpPr/>
          <p:nvPr/>
        </p:nvSpPr>
        <p:spPr>
          <a:xfrm>
            <a:off x="1847088" y="4315968"/>
            <a:ext cx="146304" cy="146304"/>
          </a:xfrm>
          <a:prstGeom prst="ellipse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Shape 9"/>
          <p:cNvSpPr/>
          <p:nvPr/>
        </p:nvSpPr>
        <p:spPr>
          <a:xfrm>
            <a:off x="1920240" y="4389120"/>
            <a:ext cx="502920" cy="457200"/>
          </a:xfrm>
          <a:prstGeom prst="line">
            <a:avLst/>
          </a:prstGeom>
          <a:noFill/>
          <a:ln w="19050">
            <a:solidFill>
              <a:srgbClr val="173650"/>
            </a:solidFill>
            <a:prstDash val="solid"/>
            <a:tailEnd type="triangle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2" name="Shape 10"/>
          <p:cNvSpPr/>
          <p:nvPr/>
        </p:nvSpPr>
        <p:spPr>
          <a:xfrm>
            <a:off x="2944368" y="2852928"/>
            <a:ext cx="146304" cy="146304"/>
          </a:xfrm>
          <a:prstGeom prst="ellipse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3" name="Shape 11"/>
          <p:cNvSpPr/>
          <p:nvPr/>
        </p:nvSpPr>
        <p:spPr>
          <a:xfrm>
            <a:off x="3017520" y="2926080"/>
            <a:ext cx="777240" cy="-594360"/>
          </a:xfrm>
          <a:prstGeom prst="line">
            <a:avLst/>
          </a:prstGeom>
          <a:noFill/>
          <a:ln w="19050">
            <a:solidFill>
              <a:srgbClr val="173650"/>
            </a:solidFill>
            <a:prstDash val="solid"/>
            <a:tailEnd type="triangle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4" name="Shape 12"/>
          <p:cNvSpPr/>
          <p:nvPr/>
        </p:nvSpPr>
        <p:spPr>
          <a:xfrm>
            <a:off x="4407408" y="4224528"/>
            <a:ext cx="146304" cy="146304"/>
          </a:xfrm>
          <a:prstGeom prst="ellipse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Shape 13"/>
          <p:cNvSpPr/>
          <p:nvPr/>
        </p:nvSpPr>
        <p:spPr>
          <a:xfrm>
            <a:off x="4480560" y="4297680"/>
            <a:ext cx="502920" cy="-640080"/>
          </a:xfrm>
          <a:prstGeom prst="line">
            <a:avLst/>
          </a:prstGeom>
          <a:noFill/>
          <a:ln w="19050">
            <a:solidFill>
              <a:srgbClr val="173650"/>
            </a:solidFill>
            <a:prstDash val="solid"/>
            <a:tailEnd type="triangle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6" name="Shape 14"/>
          <p:cNvSpPr/>
          <p:nvPr/>
        </p:nvSpPr>
        <p:spPr>
          <a:xfrm>
            <a:off x="4498848" y="1755648"/>
            <a:ext cx="146304" cy="146304"/>
          </a:xfrm>
          <a:prstGeom prst="ellipse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7" name="Shape 15"/>
          <p:cNvSpPr/>
          <p:nvPr/>
        </p:nvSpPr>
        <p:spPr>
          <a:xfrm>
            <a:off x="4572000" y="1828800"/>
            <a:ext cx="-594360" cy="-411480"/>
          </a:xfrm>
          <a:prstGeom prst="line">
            <a:avLst/>
          </a:prstGeom>
          <a:noFill/>
          <a:ln w="19050">
            <a:solidFill>
              <a:srgbClr val="173650"/>
            </a:solidFill>
            <a:prstDash val="solid"/>
            <a:tailEnd type="triangle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8" name="Shape 16"/>
          <p:cNvSpPr/>
          <p:nvPr/>
        </p:nvSpPr>
        <p:spPr>
          <a:xfrm>
            <a:off x="6080760" y="123444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2.663480564458804e+242" dist="1.331740282229402e+242" dir="3.6655258485516963e+283">
              <a:srgbClr val="000000">
                <a:alpha val="1.4000000000000005e+29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9" name="Shape 17"/>
          <p:cNvSpPr/>
          <p:nvPr/>
        </p:nvSpPr>
        <p:spPr>
          <a:xfrm>
            <a:off x="6080760" y="1234440"/>
            <a:ext cx="73152" cy="114300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0" name="Text 18"/>
          <p:cNvSpPr/>
          <p:nvPr/>
        </p:nvSpPr>
        <p:spPr>
          <a:xfrm>
            <a:off x="6245352" y="137160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Ballistic move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45352" y="1709928"/>
            <a:ext cx="49651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Update positions with the current molecular velocity during dt.</a:t>
            </a:r>
            <a:endParaRPr lang="en-US" sz="13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080760" y="269748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FFF0D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3.3826203168626813e+246" dist="1.6913101584313407e+246" dir="2.1993155091310177e+288">
              <a:srgbClr val="000000">
                <a:alpha val="1.4000000000000004e+299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3" name="Shape 21"/>
          <p:cNvSpPr/>
          <p:nvPr/>
        </p:nvSpPr>
        <p:spPr>
          <a:xfrm>
            <a:off x="6080760" y="2697480"/>
            <a:ext cx="73152" cy="114300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4" name="Text 22"/>
          <p:cNvSpPr/>
          <p:nvPr/>
        </p:nvSpPr>
        <p:spPr>
          <a:xfrm>
            <a:off x="6245352" y="283464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Diffuse reflection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45352" y="3172968"/>
            <a:ext cx="49651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Re-emitted velocity is sampled from the wall temperature and wall velocity.</a:t>
            </a:r>
            <a:endParaRPr lang="en-US" sz="13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80760" y="4160520"/>
            <a:ext cx="5257800" cy="1143000"/>
          </a:xfrm>
          <a:prstGeom prst="roundRect">
            <a:avLst>
              <a:gd name="adj" fmla="val 4800"/>
            </a:avLst>
          </a:prstGeom>
          <a:solidFill>
            <a:srgbClr val="E7F4EC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4.295927802415605e+250" dist="2.1479639012078026e+250" dir="1.3195893054786106e+293">
              <a:srgbClr val="000000">
                <a:alpha val="1.4000000000000003e+304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7" name="Shape 25"/>
          <p:cNvSpPr/>
          <p:nvPr/>
        </p:nvSpPr>
        <p:spPr>
          <a:xfrm>
            <a:off x="6080760" y="4160520"/>
            <a:ext cx="73152" cy="1143000"/>
          </a:xfrm>
          <a:prstGeom prst="rect">
            <a:avLst/>
          </a:prstGeom>
          <a:solidFill>
            <a:srgbClr val="DEECE4"/>
          </a:solidFill>
          <a:ln w="12700">
            <a:solidFill>
              <a:srgbClr val="2E8B57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8" name="Text 26"/>
          <p:cNvSpPr/>
          <p:nvPr/>
        </p:nvSpPr>
        <p:spPr>
          <a:xfrm>
            <a:off x="6245352" y="429768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Kinetic consequence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45352" y="4636008"/>
            <a:ext cx="49651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top lid injects tangential momentum; stationary walls remove or redistribute it.</a:t>
            </a:r>
            <a:endParaRPr lang="en-US" sz="13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1" name="Text 29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Gas-surface interaction parameters are physics inputs and should later be retained as ML features or metadata.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Step 3 - collision cells enforce locality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DSMC ALGORITHM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475488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B1F3A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6" name="Shape 4"/>
          <p:cNvSpPr/>
          <p:nvPr/>
        </p:nvSpPr>
        <p:spPr>
          <a:xfrm>
            <a:off x="1478280" y="1234440"/>
            <a:ext cx="0" cy="438912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Shape 5"/>
          <p:cNvSpPr/>
          <p:nvPr/>
        </p:nvSpPr>
        <p:spPr>
          <a:xfrm>
            <a:off x="2270760" y="1234440"/>
            <a:ext cx="0" cy="438912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8" name="Shape 6"/>
          <p:cNvSpPr/>
          <p:nvPr/>
        </p:nvSpPr>
        <p:spPr>
          <a:xfrm>
            <a:off x="3063240" y="1234440"/>
            <a:ext cx="0" cy="438912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9" name="Shape 7"/>
          <p:cNvSpPr/>
          <p:nvPr/>
        </p:nvSpPr>
        <p:spPr>
          <a:xfrm>
            <a:off x="3855720" y="1234440"/>
            <a:ext cx="0" cy="438912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0" name="Shape 8"/>
          <p:cNvSpPr/>
          <p:nvPr/>
        </p:nvSpPr>
        <p:spPr>
          <a:xfrm>
            <a:off x="4648200" y="1234440"/>
            <a:ext cx="0" cy="438912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Shape 9"/>
          <p:cNvSpPr/>
          <p:nvPr/>
        </p:nvSpPr>
        <p:spPr>
          <a:xfrm>
            <a:off x="685800" y="2112264"/>
            <a:ext cx="475488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2" name="Shape 10"/>
          <p:cNvSpPr/>
          <p:nvPr/>
        </p:nvSpPr>
        <p:spPr>
          <a:xfrm>
            <a:off x="685800" y="2990088"/>
            <a:ext cx="475488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3" name="Shape 11"/>
          <p:cNvSpPr/>
          <p:nvPr/>
        </p:nvSpPr>
        <p:spPr>
          <a:xfrm>
            <a:off x="685800" y="3867912"/>
            <a:ext cx="475488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4" name="Shape 12"/>
          <p:cNvSpPr/>
          <p:nvPr/>
        </p:nvSpPr>
        <p:spPr>
          <a:xfrm>
            <a:off x="685800" y="4745736"/>
            <a:ext cx="4754880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Shape 13"/>
          <p:cNvSpPr/>
          <p:nvPr/>
        </p:nvSpPr>
        <p:spPr>
          <a:xfrm>
            <a:off x="3063240" y="2990088"/>
            <a:ext cx="795528" cy="877824"/>
          </a:xfrm>
          <a:prstGeom prst="rect">
            <a:avLst/>
          </a:prstGeom>
          <a:solidFill>
            <a:srgbClr val="DDF4F5"/>
          </a:solidFill>
          <a:ln w="254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6" name="Shape 14"/>
          <p:cNvSpPr/>
          <p:nvPr/>
        </p:nvSpPr>
        <p:spPr>
          <a:xfrm>
            <a:off x="3246120" y="3200400"/>
            <a:ext cx="100584" cy="100584"/>
          </a:xfrm>
          <a:prstGeom prst="ellipse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7" name="Shape 15"/>
          <p:cNvSpPr/>
          <p:nvPr/>
        </p:nvSpPr>
        <p:spPr>
          <a:xfrm>
            <a:off x="3520440" y="3429000"/>
            <a:ext cx="100584" cy="100584"/>
          </a:xfrm>
          <a:prstGeom prst="ellipse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8" name="Shape 16"/>
          <p:cNvSpPr/>
          <p:nvPr/>
        </p:nvSpPr>
        <p:spPr>
          <a:xfrm>
            <a:off x="3337560" y="3657600"/>
            <a:ext cx="100584" cy="100584"/>
          </a:xfrm>
          <a:prstGeom prst="ellipse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9" name="Shape 17"/>
          <p:cNvSpPr/>
          <p:nvPr/>
        </p:nvSpPr>
        <p:spPr>
          <a:xfrm>
            <a:off x="3657600" y="3154680"/>
            <a:ext cx="100584" cy="100584"/>
          </a:xfrm>
          <a:prstGeom prst="ellipse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0" name="Text 18"/>
          <p:cNvSpPr/>
          <p:nvPr/>
        </p:nvSpPr>
        <p:spPr>
          <a:xfrm>
            <a:off x="2468880" y="5257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candidate pairs are local</a:t>
            </a:r>
            <a:endParaRPr lang="en-US" sz="11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806440" y="1234440"/>
            <a:ext cx="5532120" cy="1143000"/>
          </a:xfrm>
          <a:prstGeom prst="roundRect">
            <a:avLst>
              <a:gd name="adj" fmla="val 4800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5.455828309067819e+254" dist="2.7279141545339093e+254" dir="7.917535832871664e+297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2" name="Shape 20"/>
          <p:cNvSpPr/>
          <p:nvPr/>
        </p:nvSpPr>
        <p:spPr>
          <a:xfrm>
            <a:off x="5806440" y="1234440"/>
            <a:ext cx="73152" cy="114300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3" name="Text 21"/>
          <p:cNvSpPr/>
          <p:nvPr/>
        </p:nvSpPr>
        <p:spPr>
          <a:xfrm>
            <a:off x="5971032" y="137160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8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Cell-size criterion</a:t>
            </a:r>
            <a:endParaRPr lang="en-US"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971032" y="1709928"/>
            <a:ext cx="523951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Cells should generally resolve the mean free path and important gradients.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38720" y="2606040"/>
            <a:ext cx="2113280" cy="59436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806440" y="3520440"/>
            <a:ext cx="5532120" cy="1234440"/>
          </a:xfrm>
          <a:prstGeom prst="roundRect">
            <a:avLst>
              <a:gd name="adj" fmla="val 4444"/>
            </a:avLst>
          </a:prstGeom>
          <a:solidFill>
            <a:srgbClr val="FBE9EC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6.928901952516129e+258" dist="3.4644509762580647e+258" dir="4.750521499722998e+302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7" name="Shape 24"/>
          <p:cNvSpPr/>
          <p:nvPr/>
        </p:nvSpPr>
        <p:spPr>
          <a:xfrm>
            <a:off x="5806440" y="3520440"/>
            <a:ext cx="73152" cy="1234440"/>
          </a:xfrm>
          <a:prstGeom prst="rect">
            <a:avLst/>
          </a:prstGeom>
          <a:solidFill>
            <a:srgbClr val="F3DFE2"/>
          </a:solidFill>
          <a:ln w="12700">
            <a:solidFill>
              <a:srgbClr val="B23A4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8" name="Text 25"/>
          <p:cNvSpPr/>
          <p:nvPr/>
        </p:nvSpPr>
        <p:spPr>
          <a:xfrm>
            <a:off x="5971032" y="365760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8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Why it matters</a:t>
            </a:r>
            <a:endParaRPr lang="en-US"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971032" y="3995928"/>
            <a:ext cx="523951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If a cell is too large, particles that are far apart may be treated as collision partners, creating nonlocal bias.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1" name="Text 28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At low Kn, resolving the small mean free path makes DSMC expensive - one reason AI acceleration is attractive.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21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Step 4 - stochastic collisions preserve invariants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DSMC ALGORITHM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4709160" cy="4297680"/>
          </a:xfrm>
          <a:prstGeom prst="roundRect">
            <a:avLst>
              <a:gd name="adj" fmla="val 1277"/>
            </a:avLst>
          </a:prstGeom>
          <a:solidFill>
            <a:srgbClr val="F4F7F9"/>
          </a:solidFill>
          <a:ln w="1270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73152" cy="429768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Text 5"/>
          <p:cNvSpPr/>
          <p:nvPr/>
        </p:nvSpPr>
        <p:spPr>
          <a:xfrm>
            <a:off x="850392" y="137160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Before collision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554480" y="2971800"/>
            <a:ext cx="274320" cy="274320"/>
          </a:xfrm>
          <a:prstGeom prst="ellipse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9" name="Shape 7"/>
          <p:cNvSpPr/>
          <p:nvPr/>
        </p:nvSpPr>
        <p:spPr>
          <a:xfrm>
            <a:off x="4251960" y="2971800"/>
            <a:ext cx="274320" cy="274320"/>
          </a:xfrm>
          <a:prstGeom prst="ellipse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0" name="Shape 8"/>
          <p:cNvSpPr/>
          <p:nvPr/>
        </p:nvSpPr>
        <p:spPr>
          <a:xfrm>
            <a:off x="1691640" y="3108960"/>
            <a:ext cx="1234440" cy="-777240"/>
          </a:xfrm>
          <a:prstGeom prst="line">
            <a:avLst/>
          </a:prstGeom>
          <a:noFill/>
          <a:ln w="38100">
            <a:solidFill>
              <a:srgbClr val="00A6B2"/>
            </a:solidFill>
            <a:prstDash val="solid"/>
            <a:tailEnd type="triangle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Shape 9"/>
          <p:cNvSpPr/>
          <p:nvPr/>
        </p:nvSpPr>
        <p:spPr>
          <a:xfrm>
            <a:off x="4389120" y="3108960"/>
            <a:ext cx="-1143000" cy="68580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  <a:tailEnd type="triangle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2" name="Text 10"/>
          <p:cNvSpPr/>
          <p:nvPr/>
        </p:nvSpPr>
        <p:spPr>
          <a:xfrm>
            <a:off x="2423160" y="2148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v1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37560" y="3840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v2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532120" y="2743200"/>
            <a:ext cx="1005840" cy="685800"/>
          </a:xfrm>
          <a:prstGeom prst="chevron">
            <a:avLst/>
          </a:prstGeom>
          <a:solidFill>
            <a:srgbClr val="DADFE3"/>
          </a:solidFill>
          <a:ln w="1270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Shape 13"/>
          <p:cNvSpPr/>
          <p:nvPr/>
        </p:nvSpPr>
        <p:spPr>
          <a:xfrm>
            <a:off x="6766560" y="1234440"/>
            <a:ext cx="4709160" cy="4297680"/>
          </a:xfrm>
          <a:prstGeom prst="roundRect">
            <a:avLst>
              <a:gd name="adj" fmla="val 1277"/>
            </a:avLst>
          </a:prstGeom>
          <a:solidFill>
            <a:srgbClr val="F4F7F9"/>
          </a:solidFill>
          <a:ln w="1270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6" name="Shape 14"/>
          <p:cNvSpPr/>
          <p:nvPr/>
        </p:nvSpPr>
        <p:spPr>
          <a:xfrm>
            <a:off x="6766560" y="1234440"/>
            <a:ext cx="73152" cy="429768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7" name="Text 15"/>
          <p:cNvSpPr/>
          <p:nvPr/>
        </p:nvSpPr>
        <p:spPr>
          <a:xfrm>
            <a:off x="6931152" y="137160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After accepted collision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635240" y="2971800"/>
            <a:ext cx="274320" cy="274320"/>
          </a:xfrm>
          <a:prstGeom prst="ellipse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9" name="Shape 17"/>
          <p:cNvSpPr/>
          <p:nvPr/>
        </p:nvSpPr>
        <p:spPr>
          <a:xfrm>
            <a:off x="10332720" y="2971800"/>
            <a:ext cx="274320" cy="274320"/>
          </a:xfrm>
          <a:prstGeom prst="ellipse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0" name="Shape 18"/>
          <p:cNvSpPr/>
          <p:nvPr/>
        </p:nvSpPr>
        <p:spPr>
          <a:xfrm>
            <a:off x="7772400" y="3108960"/>
            <a:ext cx="914400" cy="868680"/>
          </a:xfrm>
          <a:prstGeom prst="line">
            <a:avLst/>
          </a:prstGeom>
          <a:noFill/>
          <a:ln w="38100">
            <a:solidFill>
              <a:srgbClr val="00A6B2"/>
            </a:solidFill>
            <a:prstDash val="solid"/>
            <a:tailEnd type="triangle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1" name="Shape 19"/>
          <p:cNvSpPr/>
          <p:nvPr/>
        </p:nvSpPr>
        <p:spPr>
          <a:xfrm>
            <a:off x="10469880" y="3108960"/>
            <a:ext cx="-960120" cy="-86868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  <a:tailEnd type="triangle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2" name="Text 20"/>
          <p:cNvSpPr/>
          <p:nvPr/>
        </p:nvSpPr>
        <p:spPr>
          <a:xfrm>
            <a:off x="7818120" y="4617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randomized relative direction</a:t>
            </a:r>
            <a:endParaRPr lang="en-US" sz="13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0584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pair momentum conserved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880360" y="4709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pair kinetic energy conserved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6" name="Text 24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Week-3 teaching model uses a simplified local elastic-pair rule; Project 1 uses VHS collision rates and No-Time-Counter selection.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22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Step 5 - sample, average, and attach uncertainty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DSMC ALGORITHM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" name="Image 0" descr="/mnt/data/week3_work/assets/mini_cavity_short_vs_be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33857"/>
            <a:ext cx="7726680" cy="394456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1234440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FBE9EC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8.799705479695485e+262" dist="4.3998527398477425e+262" dir="2.850312899833799e+307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Shape 4"/>
          <p:cNvSpPr/>
          <p:nvPr/>
        </p:nvSpPr>
        <p:spPr>
          <a:xfrm>
            <a:off x="8366760" y="1234440"/>
            <a:ext cx="73152" cy="1097280"/>
          </a:xfrm>
          <a:prstGeom prst="rect">
            <a:avLst/>
          </a:prstGeom>
          <a:solidFill>
            <a:srgbClr val="F3DFE2"/>
          </a:solidFill>
          <a:ln w="12700">
            <a:solidFill>
              <a:srgbClr val="B23A4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8" name="Text 5"/>
          <p:cNvSpPr/>
          <p:nvPr/>
        </p:nvSpPr>
        <p:spPr>
          <a:xfrm>
            <a:off x="8531352" y="137160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Instantaneous field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6"/>
          <p:cNvSpPr/>
          <p:nvPr/>
        </p:nvSpPr>
        <p:spPr>
          <a:xfrm>
            <a:off x="8531352" y="1709928"/>
            <a:ext cx="29535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Very noisy because each cell has a finite particle population.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366760" y="2651760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.1175625959213265e+267" dist="5.587812979606632e+266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Shape 8"/>
          <p:cNvSpPr/>
          <p:nvPr/>
        </p:nvSpPr>
        <p:spPr>
          <a:xfrm>
            <a:off x="8366760" y="2651760"/>
            <a:ext cx="73152" cy="109728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2" name="Text 9"/>
          <p:cNvSpPr/>
          <p:nvPr/>
        </p:nvSpPr>
        <p:spPr>
          <a:xfrm>
            <a:off x="8531352" y="278892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Time-averaged field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531352" y="3127248"/>
            <a:ext cx="29535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Lower variance after transients, if samples add independent information.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366760" y="4069080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FFF0D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.4193044968200846e+271" dist="7.096522484100423e+270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Shape 12"/>
          <p:cNvSpPr/>
          <p:nvPr/>
        </p:nvSpPr>
        <p:spPr>
          <a:xfrm>
            <a:off x="8366760" y="4069080"/>
            <a:ext cx="73152" cy="109728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6" name="Text 13"/>
          <p:cNvSpPr/>
          <p:nvPr/>
        </p:nvSpPr>
        <p:spPr>
          <a:xfrm>
            <a:off x="8531352" y="42062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Dataset record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531352" y="4544568"/>
            <a:ext cx="29535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Store mean values plus PPC, number of samples, seed, grid, dt, and model settings.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9" name="Text 16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Never hide unsmoothed data or omit the sampling settings used to produce a “clean” contour.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23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DSMC accuracy criteria become AI data-quality criteria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DATA QUALITY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33375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.8025167109615074e+275" dist="9.012583554807537e+274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73152" cy="160020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Text 5"/>
          <p:cNvSpPr/>
          <p:nvPr/>
        </p:nvSpPr>
        <p:spPr>
          <a:xfrm>
            <a:off x="758952" y="137160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Cell size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8952" y="1709928"/>
            <a:ext cx="304495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Resolve mean free path and gradients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Diagnostic: dx/lambda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9120" y="1234440"/>
            <a:ext cx="33375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2.2891962229211143e+279" dist="1.1445981114605571e+279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0" name="Shape 8"/>
          <p:cNvSpPr/>
          <p:nvPr/>
        </p:nvSpPr>
        <p:spPr>
          <a:xfrm>
            <a:off x="4389120" y="1234440"/>
            <a:ext cx="73152" cy="160020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Text 9"/>
          <p:cNvSpPr/>
          <p:nvPr/>
        </p:nvSpPr>
        <p:spPr>
          <a:xfrm>
            <a:off x="4553712" y="137160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Time step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53712" y="1709928"/>
            <a:ext cx="304495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Resolve collision and transport time scales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Diagnostic: dt/tau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83880" y="1234440"/>
            <a:ext cx="33375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2.9072792031098153e+283" dist="1.4536396015549076e+283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4" name="Shape 12"/>
          <p:cNvSpPr/>
          <p:nvPr/>
        </p:nvSpPr>
        <p:spPr>
          <a:xfrm>
            <a:off x="8183880" y="1234440"/>
            <a:ext cx="73152" cy="1600200"/>
          </a:xfrm>
          <a:prstGeom prst="rect">
            <a:avLst/>
          </a:prstGeom>
          <a:solidFill>
            <a:srgbClr val="DEECE4"/>
          </a:solidFill>
          <a:ln w="12700">
            <a:solidFill>
              <a:srgbClr val="2E8B57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Text 13"/>
          <p:cNvSpPr/>
          <p:nvPr/>
        </p:nvSpPr>
        <p:spPr>
          <a:xfrm>
            <a:off x="8348472" y="137160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Particles/cell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48472" y="1709928"/>
            <a:ext cx="304495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Control local estimator variance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Diagnostic: PPC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4360" y="3291840"/>
            <a:ext cx="33375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3.6922445879494656e+287" dist="1.8461222939747328e+287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8" name="Shape 16"/>
          <p:cNvSpPr/>
          <p:nvPr/>
        </p:nvSpPr>
        <p:spPr>
          <a:xfrm>
            <a:off x="594360" y="3291840"/>
            <a:ext cx="73152" cy="1600200"/>
          </a:xfrm>
          <a:prstGeom prst="rect">
            <a:avLst/>
          </a:prstGeom>
          <a:solidFill>
            <a:srgbClr val="F3DFE2"/>
          </a:solidFill>
          <a:ln w="12700">
            <a:solidFill>
              <a:srgbClr val="B23A4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9" name="Text 17"/>
          <p:cNvSpPr/>
          <p:nvPr/>
        </p:nvSpPr>
        <p:spPr>
          <a:xfrm>
            <a:off x="758952" y="342900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Transient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8952" y="3767328"/>
            <a:ext cx="304495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Do not average the startup response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Diagnostic: sample_start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389120" y="3291840"/>
            <a:ext cx="33375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4.6891506266958215e+291" dist="2.3445753133479108e+291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2" name="Shape 20"/>
          <p:cNvSpPr/>
          <p:nvPr/>
        </p:nvSpPr>
        <p:spPr>
          <a:xfrm>
            <a:off x="4389120" y="3291840"/>
            <a:ext cx="73152" cy="1600200"/>
          </a:xfrm>
          <a:prstGeom prst="rect">
            <a:avLst/>
          </a:prstGeom>
          <a:solidFill>
            <a:srgbClr val="DADFE3"/>
          </a:solidFill>
          <a:ln w="1270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3" name="Text 21"/>
          <p:cNvSpPr/>
          <p:nvPr/>
        </p:nvSpPr>
        <p:spPr>
          <a:xfrm>
            <a:off x="4553712" y="342900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Sampling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53712" y="3767328"/>
            <a:ext cx="304495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Use a sufficient averaging window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Diagnostic: N samples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83880" y="3291840"/>
            <a:ext cx="33375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5.955221295903693e+295" dist="2.9776106479518466e+295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6" name="Shape 24"/>
          <p:cNvSpPr/>
          <p:nvPr/>
        </p:nvSpPr>
        <p:spPr>
          <a:xfrm>
            <a:off x="8183880" y="3291840"/>
            <a:ext cx="73152" cy="160020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7" name="Text 25"/>
          <p:cNvSpPr/>
          <p:nvPr/>
        </p:nvSpPr>
        <p:spPr>
          <a:xfrm>
            <a:off x="8348472" y="342900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Seeds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48472" y="3767328"/>
            <a:ext cx="304495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Measure stochastic repeatability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Diagnostic: seed spread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0" name="Text 28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 polished neural-network prediction cannot be more trustworthy than the simulation data and metadata used to train it.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24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Revisit the cavity: Week 1 and Week 3 side by side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CAVITY STORY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" name="Image 0" descr="/mnt/data/week3_work/assets/continuum_ca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20002"/>
            <a:ext cx="5120640" cy="4463716"/>
          </a:xfrm>
          <a:prstGeom prst="rect">
            <a:avLst/>
          </a:prstGeom>
        </p:spPr>
      </p:pic>
      <p:pic>
        <p:nvPicPr>
          <p:cNvPr id="6" name="Image 1" descr="/mnt/data/week3_work/assets/mini_cavity_fiel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520338"/>
            <a:ext cx="5806440" cy="18630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5532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Continuum CFD: smooth deterministic field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 4"/>
          <p:cNvSpPr/>
          <p:nvPr/>
        </p:nvSpPr>
        <p:spPr>
          <a:xfrm>
            <a:off x="6446520" y="5532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Mini molecular model: averaged but noisy field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0" name="Text 6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Same lid-driven mechanism, but molecular wall slip, stochastic sampling, and kinetic validity now enter the interpretation.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What should a rarefied molecular cavity reveal?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CAVITY PHYSICS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7.56313104579769e+299" dist="3.781565522898845e+299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73152" cy="123444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Text 5"/>
          <p:cNvSpPr/>
          <p:nvPr/>
        </p:nvSpPr>
        <p:spPr>
          <a:xfrm>
            <a:off x="758952" y="137160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Velocity slip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8952" y="170992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Gas adjacent to the moving lid does not exactly match the wall speed.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9.605176428163068e+303" dist="4.802588214081534e+303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73152" cy="123444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Text 9"/>
          <p:cNvSpPr/>
          <p:nvPr/>
        </p:nvSpPr>
        <p:spPr>
          <a:xfrm>
            <a:off x="6382512" y="137160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Temperature jump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82512" y="170992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Gas temperature next to a wall can differ from wall temperature.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4360" y="283464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.2198574063767096e+308" dist="6.099287031883548e+307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4" name="Shape 12"/>
          <p:cNvSpPr/>
          <p:nvPr/>
        </p:nvSpPr>
        <p:spPr>
          <a:xfrm>
            <a:off x="594360" y="2834640"/>
            <a:ext cx="73152" cy="1234440"/>
          </a:xfrm>
          <a:prstGeom prst="rect">
            <a:avLst/>
          </a:prstGeom>
          <a:solidFill>
            <a:srgbClr val="DEECE4"/>
          </a:solidFill>
          <a:ln w="12700">
            <a:solidFill>
              <a:srgbClr val="2E8B57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Text 13"/>
          <p:cNvSpPr/>
          <p:nvPr/>
        </p:nvSpPr>
        <p:spPr>
          <a:xfrm>
            <a:off x="758952" y="297180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Primary recirculation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8952" y="331012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Lid momentum is transferred through collisions and wall interactions.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0" y="283464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8" name="Shape 16"/>
          <p:cNvSpPr/>
          <p:nvPr/>
        </p:nvSpPr>
        <p:spPr>
          <a:xfrm>
            <a:off x="6217920" y="2834640"/>
            <a:ext cx="73152" cy="1234440"/>
          </a:xfrm>
          <a:prstGeom prst="rect">
            <a:avLst/>
          </a:prstGeom>
          <a:solidFill>
            <a:srgbClr val="F3DFE2"/>
          </a:solidFill>
          <a:ln w="12700">
            <a:solidFill>
              <a:srgbClr val="B23A4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9" name="Text 17"/>
          <p:cNvSpPr/>
          <p:nvPr/>
        </p:nvSpPr>
        <p:spPr>
          <a:xfrm>
            <a:off x="6382512" y="297180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Corner non-equilibrium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82512" y="331012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Incoming and wall-emitted populations can be strongly different.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4360" y="443484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2" name="Shape 20"/>
          <p:cNvSpPr/>
          <p:nvPr/>
        </p:nvSpPr>
        <p:spPr>
          <a:xfrm>
            <a:off x="594360" y="4434840"/>
            <a:ext cx="73152" cy="1234440"/>
          </a:xfrm>
          <a:prstGeom prst="rect">
            <a:avLst/>
          </a:prstGeom>
          <a:solidFill>
            <a:srgbClr val="DADFE3"/>
          </a:solidFill>
          <a:ln w="1270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3" name="Text 21"/>
          <p:cNvSpPr/>
          <p:nvPr/>
        </p:nvSpPr>
        <p:spPr>
          <a:xfrm>
            <a:off x="758952" y="457200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Kn-dependent structure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58952" y="491032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Vortex location, slip, and thermal fields change with rarefaction.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17920" y="443484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6" name="Shape 24"/>
          <p:cNvSpPr/>
          <p:nvPr/>
        </p:nvSpPr>
        <p:spPr>
          <a:xfrm>
            <a:off x="6217920" y="4434840"/>
            <a:ext cx="73152" cy="123444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7" name="Text 25"/>
          <p:cNvSpPr/>
          <p:nvPr/>
        </p:nvSpPr>
        <p:spPr>
          <a:xfrm>
            <a:off x="6382512" y="457200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Statistical noise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82512" y="491032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Small signals require particles, time averaging, and repeatability checks.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0" name="Text 28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 plausible vortex picture is not sufficient validation; students must separate physical trend, sampling noise, and model limitations.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26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Week 3 uses a mini cavity - deliberately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LAB 2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212080" cy="4251960"/>
          </a:xfrm>
          <a:prstGeom prst="roundRect">
            <a:avLst>
              <a:gd name="adj" fmla="val 1290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73152" cy="425196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Text 5"/>
          <p:cNvSpPr/>
          <p:nvPr/>
        </p:nvSpPr>
        <p:spPr>
          <a:xfrm>
            <a:off x="850392" y="137160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2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Required this week</a:t>
            </a:r>
            <a:endParaRPr lang="en-US" sz="2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0392" y="1709928"/>
            <a:ext cx="4919472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• Run a fast CPU teaching model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• Trace move, walls, cells, collisions, sampling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• Compare short and better averaging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• Export one ML-ready table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• Explain limitations honestly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63640" y="1234440"/>
            <a:ext cx="5212080" cy="4251960"/>
          </a:xfrm>
          <a:prstGeom prst="roundRect">
            <a:avLst>
              <a:gd name="adj" fmla="val 1290"/>
            </a:avLst>
          </a:prstGeom>
          <a:solidFill>
            <a:srgbClr val="FFF0D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0" name="Shape 8"/>
          <p:cNvSpPr/>
          <p:nvPr/>
        </p:nvSpPr>
        <p:spPr>
          <a:xfrm>
            <a:off x="6263640" y="1234440"/>
            <a:ext cx="73152" cy="425196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Text 9"/>
          <p:cNvSpPr/>
          <p:nvPr/>
        </p:nvSpPr>
        <p:spPr>
          <a:xfrm>
            <a:off x="6428232" y="137160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2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Reserved for Project 1</a:t>
            </a:r>
            <a:endParaRPr lang="en-US" sz="2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28232" y="1709928"/>
            <a:ext cx="4919472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• GPU VHS + NTC solver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• Paper validation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• Grid, PPC, dt, and sampling independence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• Multiple Kn cases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• Vortex-Kn trends and final dataset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4" name="Text 12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This scope keeps Week 3 conceptually strong without turning one weekly exercise into the full research project.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27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A DSMC field becomes a supervised-learning table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AI BRIDGE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676656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73152" cy="438912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Text 5"/>
          <p:cNvSpPr/>
          <p:nvPr/>
        </p:nvSpPr>
        <p:spPr>
          <a:xfrm>
            <a:off x="758952" y="1371600"/>
            <a:ext cx="6473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One row = one grid location in one validated case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777240" cy="502920"/>
          </a:xfrm>
          <a:prstGeom prst="rect">
            <a:avLst/>
          </a:prstGeom>
          <a:solidFill>
            <a:srgbClr val="DADFE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87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log10 Kn</a:t>
            </a:r>
            <a:endParaRPr lang="en-US" sz="87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45920" y="1783080"/>
            <a:ext cx="914400" cy="502920"/>
          </a:xfrm>
          <a:prstGeom prst="rect">
            <a:avLst/>
          </a:prstGeom>
          <a:solidFill>
            <a:srgbClr val="DADFE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87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Uwall/c_th</a:t>
            </a:r>
            <a:endParaRPr lang="en-US" sz="87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560320" y="1783080"/>
            <a:ext cx="594360" cy="502920"/>
          </a:xfrm>
          <a:prstGeom prst="rect">
            <a:avLst/>
          </a:prstGeom>
          <a:solidFill>
            <a:srgbClr val="DADFE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87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x/L</a:t>
            </a:r>
            <a:endParaRPr lang="en-US" sz="87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154680" y="1783080"/>
            <a:ext cx="594360" cy="502920"/>
          </a:xfrm>
          <a:prstGeom prst="rect">
            <a:avLst/>
          </a:prstGeom>
          <a:solidFill>
            <a:srgbClr val="DADFE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87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y/L</a:t>
            </a:r>
            <a:endParaRPr lang="en-US" sz="87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749040" y="1783080"/>
            <a:ext cx="731520" cy="502920"/>
          </a:xfrm>
          <a:prstGeom prst="rect">
            <a:avLst/>
          </a:prstGeom>
          <a:solidFill>
            <a:srgbClr val="D6F1F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87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rho/rho0</a:t>
            </a:r>
            <a:endParaRPr lang="en-US" sz="87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80560" y="1783080"/>
            <a:ext cx="731520" cy="502920"/>
          </a:xfrm>
          <a:prstGeom prst="rect">
            <a:avLst/>
          </a:prstGeom>
          <a:solidFill>
            <a:srgbClr val="D6F1F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87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u/Uwall</a:t>
            </a:r>
            <a:endParaRPr lang="en-US" sz="87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12080" y="1783080"/>
            <a:ext cx="731520" cy="502920"/>
          </a:xfrm>
          <a:prstGeom prst="rect">
            <a:avLst/>
          </a:prstGeom>
          <a:solidFill>
            <a:srgbClr val="D6F1F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87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v/Uwall</a:t>
            </a:r>
            <a:endParaRPr lang="en-US" sz="87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43600" y="1783080"/>
            <a:ext cx="685800" cy="502920"/>
          </a:xfrm>
          <a:prstGeom prst="rect">
            <a:avLst/>
          </a:prstGeom>
          <a:solidFill>
            <a:srgbClr val="D6F1F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87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T/T0</a:t>
            </a:r>
            <a:endParaRPr lang="en-US" sz="87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8680" y="2331720"/>
            <a:ext cx="777240" cy="475488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-1.0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645920" y="2331720"/>
            <a:ext cx="914400" cy="475488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0.38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560320" y="2331720"/>
            <a:ext cx="594360" cy="475488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0.025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154680" y="2331720"/>
            <a:ext cx="594360" cy="475488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0.025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749040" y="2331720"/>
            <a:ext cx="731520" cy="475488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1.02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80560" y="2331720"/>
            <a:ext cx="731520" cy="475488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-0.04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12080" y="2331720"/>
            <a:ext cx="731520" cy="475488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0.01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943600" y="2331720"/>
            <a:ext cx="685800" cy="475488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0.98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68680" y="2926080"/>
            <a:ext cx="77724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-1.0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645920" y="2926080"/>
            <a:ext cx="9144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0.38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560320" y="2926080"/>
            <a:ext cx="59436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0.075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154680" y="2926080"/>
            <a:ext cx="59436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0.025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749040" y="2926080"/>
            <a:ext cx="7315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1.01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480560" y="2926080"/>
            <a:ext cx="7315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-0.03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212080" y="2926080"/>
            <a:ext cx="7315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0.02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943600" y="2926080"/>
            <a:ext cx="6858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0.99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68680" y="3520440"/>
            <a:ext cx="777240" cy="475488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...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645920" y="3520440"/>
            <a:ext cx="914400" cy="475488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...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560320" y="3520440"/>
            <a:ext cx="594360" cy="475488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...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154680" y="3520440"/>
            <a:ext cx="594360" cy="475488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...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749040" y="3520440"/>
            <a:ext cx="731520" cy="475488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...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480560" y="3520440"/>
            <a:ext cx="731520" cy="475488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...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212080" y="3520440"/>
            <a:ext cx="731520" cy="475488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...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943600" y="3520440"/>
            <a:ext cx="685800" cy="475488"/>
          </a:xfrm>
          <a:prstGeom prst="rect">
            <a:avLst/>
          </a:prstGeom>
          <a:solidFill>
            <a:srgbClr val="F4F7F9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...</a:t>
            </a:r>
            <a:endParaRPr lang="en-US" sz="9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97280" y="4389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features / coordinates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754880" y="4389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targets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635240" y="1234440"/>
            <a:ext cx="3931920" cy="1143000"/>
          </a:xfrm>
          <a:prstGeom prst="roundRect">
            <a:avLst>
              <a:gd name="adj" fmla="val 4800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3" name="Shape 41"/>
          <p:cNvSpPr/>
          <p:nvPr/>
        </p:nvSpPr>
        <p:spPr>
          <a:xfrm>
            <a:off x="7635240" y="1234440"/>
            <a:ext cx="73152" cy="114300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4" name="Text 42"/>
          <p:cNvSpPr/>
          <p:nvPr/>
        </p:nvSpPr>
        <p:spPr>
          <a:xfrm>
            <a:off x="7799832" y="137160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Pointwise surrogate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799832" y="1709928"/>
            <a:ext cx="363931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Inputs: log Kn, wall conditions, x/L, y/L. Outputs: rho, u, v, T.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635240" y="2743200"/>
            <a:ext cx="3931920" cy="1143000"/>
          </a:xfrm>
          <a:prstGeom prst="roundRect">
            <a:avLst>
              <a:gd name="adj" fmla="val 4800"/>
            </a:avLst>
          </a:prstGeom>
          <a:solidFill>
            <a:srgbClr val="FFF0D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7" name="Shape 45"/>
          <p:cNvSpPr/>
          <p:nvPr/>
        </p:nvSpPr>
        <p:spPr>
          <a:xfrm>
            <a:off x="7635240" y="2743200"/>
            <a:ext cx="73152" cy="114300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8" name="Text 46"/>
          <p:cNvSpPr/>
          <p:nvPr/>
        </p:nvSpPr>
        <p:spPr>
          <a:xfrm>
            <a:off x="7799832" y="288036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Case-level surrogate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799832" y="3218688"/>
            <a:ext cx="363931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Inputs: Kn and wall parameters. Outputs: vortex center or integrated quantities.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635240" y="4251960"/>
            <a:ext cx="3931920" cy="1143000"/>
          </a:xfrm>
          <a:prstGeom prst="roundRect">
            <a:avLst>
              <a:gd name="adj" fmla="val 4800"/>
            </a:avLst>
          </a:prstGeom>
          <a:solidFill>
            <a:srgbClr val="FBE9EC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51" name="Shape 49"/>
          <p:cNvSpPr/>
          <p:nvPr/>
        </p:nvSpPr>
        <p:spPr>
          <a:xfrm>
            <a:off x="7635240" y="4251960"/>
            <a:ext cx="73152" cy="1143000"/>
          </a:xfrm>
          <a:prstGeom prst="rect">
            <a:avLst/>
          </a:prstGeom>
          <a:solidFill>
            <a:srgbClr val="F3DFE2"/>
          </a:solidFill>
          <a:ln w="12700">
            <a:solidFill>
              <a:srgbClr val="B23A4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52" name="Text 50"/>
          <p:cNvSpPr/>
          <p:nvPr/>
        </p:nvSpPr>
        <p:spPr>
          <a:xfrm>
            <a:off x="7799832" y="43891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7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Metadata</a:t>
            </a:r>
            <a:endParaRPr lang="en-US" sz="1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799832" y="4727448"/>
            <a:ext cx="363931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Grid, PPC, dt, sample count, seed, collision model, wall model, uncertainty.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55" name="Text 53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Do not let the ML table erase the numerical provenance of each target value.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28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A network learns the labels it receives - not hidden truth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AI + NOISE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" name="Image 0" descr="/mnt/data/week3_work/assets/noisy_labels_m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912141"/>
            <a:ext cx="7818120" cy="303371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58200" y="1234440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Shape 4"/>
          <p:cNvSpPr/>
          <p:nvPr/>
        </p:nvSpPr>
        <p:spPr>
          <a:xfrm>
            <a:off x="8458200" y="1234440"/>
            <a:ext cx="73152" cy="109728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8" name="Text 5"/>
          <p:cNvSpPr/>
          <p:nvPr/>
        </p:nvSpPr>
        <p:spPr>
          <a:xfrm>
            <a:off x="8622792" y="137160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Training loss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6"/>
          <p:cNvSpPr/>
          <p:nvPr/>
        </p:nvSpPr>
        <p:spPr>
          <a:xfrm>
            <a:off x="8622792" y="1709928"/>
            <a:ext cx="28620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Measures agreement with the supplied labels.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458200" y="2697480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FBE9EC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Shape 8"/>
          <p:cNvSpPr/>
          <p:nvPr/>
        </p:nvSpPr>
        <p:spPr>
          <a:xfrm>
            <a:off x="8458200" y="2697480"/>
            <a:ext cx="73152" cy="1097280"/>
          </a:xfrm>
          <a:prstGeom prst="rect">
            <a:avLst/>
          </a:prstGeom>
          <a:solidFill>
            <a:srgbClr val="F3DFE2"/>
          </a:solidFill>
          <a:ln w="12700">
            <a:solidFill>
              <a:srgbClr val="B23A4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2" name="Text 9"/>
          <p:cNvSpPr/>
          <p:nvPr/>
        </p:nvSpPr>
        <p:spPr>
          <a:xfrm>
            <a:off x="8622792" y="283464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Source-data error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622792" y="3172968"/>
            <a:ext cx="28620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Can be statistical noise or numerical bias that the loss never sees.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458200" y="4160520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FFF0D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Shape 12"/>
          <p:cNvSpPr/>
          <p:nvPr/>
        </p:nvSpPr>
        <p:spPr>
          <a:xfrm>
            <a:off x="8458200" y="4160520"/>
            <a:ext cx="73152" cy="109728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6" name="Text 13"/>
          <p:cNvSpPr/>
          <p:nvPr/>
        </p:nvSpPr>
        <p:spPr>
          <a:xfrm>
            <a:off x="8622792" y="429768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Correct response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622792" y="4636008"/>
            <a:ext cx="28620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Improve/quantify the data and validate by cases, regimes, and physics.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9" name="Text 16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 smooth neural curve is not evidence that the DSMC labels were converged.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29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How to validate an ML surrogate trained on DSMC data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AI VALIDATION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73152" cy="123444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Text 5"/>
          <p:cNvSpPr/>
          <p:nvPr/>
        </p:nvSpPr>
        <p:spPr>
          <a:xfrm>
            <a:off x="758952" y="137160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Case-wise split</a:t>
            </a:r>
            <a:endParaRPr lang="en-US" sz="15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8952" y="170992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3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Hold out entire Kn or wall-condition cases, not random points from the same field.</a:t>
            </a:r>
            <a:endParaRPr lang="en-US" sz="123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73152" cy="123444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Text 9"/>
          <p:cNvSpPr/>
          <p:nvPr/>
        </p:nvSpPr>
        <p:spPr>
          <a:xfrm>
            <a:off x="6382512" y="137160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Regime-wise error</a:t>
            </a:r>
            <a:endParaRPr lang="en-US" sz="15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82512" y="170992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3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Report performance separately in slip, transition, and high-Kn regimes.</a:t>
            </a:r>
            <a:endParaRPr lang="en-US" sz="123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4360" y="283464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4" name="Shape 12"/>
          <p:cNvSpPr/>
          <p:nvPr/>
        </p:nvSpPr>
        <p:spPr>
          <a:xfrm>
            <a:off x="594360" y="2834640"/>
            <a:ext cx="73152" cy="1234440"/>
          </a:xfrm>
          <a:prstGeom prst="rect">
            <a:avLst/>
          </a:prstGeom>
          <a:solidFill>
            <a:srgbClr val="DEECE4"/>
          </a:solidFill>
          <a:ln w="12700">
            <a:solidFill>
              <a:srgbClr val="2E8B57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Text 13"/>
          <p:cNvSpPr/>
          <p:nvPr/>
        </p:nvSpPr>
        <p:spPr>
          <a:xfrm>
            <a:off x="758952" y="297180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Wall-region checks</a:t>
            </a:r>
            <a:endParaRPr lang="en-US" sz="15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8952" y="331012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3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Evaluate slip, jump, and near-wall errors, not only global RMSE.</a:t>
            </a:r>
            <a:endParaRPr lang="en-US" sz="123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0" y="283464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8" name="Shape 16"/>
          <p:cNvSpPr/>
          <p:nvPr/>
        </p:nvSpPr>
        <p:spPr>
          <a:xfrm>
            <a:off x="6217920" y="2834640"/>
            <a:ext cx="73152" cy="1234440"/>
          </a:xfrm>
          <a:prstGeom prst="rect">
            <a:avLst/>
          </a:prstGeom>
          <a:solidFill>
            <a:srgbClr val="F3DFE2"/>
          </a:solidFill>
          <a:ln w="12700">
            <a:solidFill>
              <a:srgbClr val="B23A4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9" name="Text 17"/>
          <p:cNvSpPr/>
          <p:nvPr/>
        </p:nvSpPr>
        <p:spPr>
          <a:xfrm>
            <a:off x="6382512" y="297180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Seed repeatability</a:t>
            </a:r>
            <a:endParaRPr lang="en-US" sz="15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82512" y="331012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3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Compare predictions with DSMC seed-to-seed uncertainty.</a:t>
            </a:r>
            <a:endParaRPr lang="en-US" sz="123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4360" y="443484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2" name="Shape 20"/>
          <p:cNvSpPr/>
          <p:nvPr/>
        </p:nvSpPr>
        <p:spPr>
          <a:xfrm>
            <a:off x="594360" y="4434840"/>
            <a:ext cx="73152" cy="1234440"/>
          </a:xfrm>
          <a:prstGeom prst="rect">
            <a:avLst/>
          </a:prstGeom>
          <a:solidFill>
            <a:srgbClr val="DADFE3"/>
          </a:solidFill>
          <a:ln w="1270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3" name="Text 21"/>
          <p:cNvSpPr/>
          <p:nvPr/>
        </p:nvSpPr>
        <p:spPr>
          <a:xfrm>
            <a:off x="758952" y="457200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Physical checks</a:t>
            </a:r>
            <a:endParaRPr lang="en-US" sz="15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58952" y="491032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3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Positivity, symmetry, conservation trends, sensible wall behavior.</a:t>
            </a:r>
            <a:endParaRPr lang="en-US" sz="123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17920" y="443484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6" name="Shape 24"/>
          <p:cNvSpPr/>
          <p:nvPr/>
        </p:nvSpPr>
        <p:spPr>
          <a:xfrm>
            <a:off x="6217920" y="4434840"/>
            <a:ext cx="73152" cy="123444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7" name="Text 25"/>
          <p:cNvSpPr/>
          <p:nvPr/>
        </p:nvSpPr>
        <p:spPr>
          <a:xfrm>
            <a:off x="6382512" y="457200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5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Extrapolation test</a:t>
            </a:r>
            <a:endParaRPr lang="en-US" sz="15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82512" y="491032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3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Deliberately evaluate outside the training Kn range and state failure.</a:t>
            </a:r>
            <a:endParaRPr lang="en-US" sz="123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0" name="Text 28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Randomly splitting grid points from one field can produce severe leakage and falsely optimistic test error.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30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Week 3 is the on-ramp to Project 1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ROADMAP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673352" cy="3474720"/>
          </a:xfrm>
          <a:prstGeom prst="roundRect">
            <a:avLst>
              <a:gd name="adj" fmla="val 3279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73152" cy="3474720"/>
          </a:xfrm>
          <a:prstGeom prst="rect">
            <a:avLst/>
          </a:prstGeom>
          <a:solidFill>
            <a:srgbClr val="DEECE4"/>
          </a:solidFill>
          <a:ln w="12700">
            <a:solidFill>
              <a:srgbClr val="2E8B57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Text 5"/>
          <p:cNvSpPr/>
          <p:nvPr/>
        </p:nvSpPr>
        <p:spPr>
          <a:xfrm>
            <a:off x="621792" y="164592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Week 3 Lab 1</a:t>
            </a:r>
            <a:endParaRPr lang="en-US" sz="13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1792" y="1984248"/>
            <a:ext cx="1380744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Maxwellian moments + noise scaling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157984" y="2788920"/>
            <a:ext cx="237744" cy="457200"/>
          </a:xfrm>
          <a:prstGeom prst="chevron">
            <a:avLst/>
          </a:prstGeom>
          <a:solidFill>
            <a:srgbClr val="F3F6F7"/>
          </a:solidFill>
          <a:ln w="12700">
            <a:solidFill>
              <a:srgbClr val="B6C4CC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0" name="Shape 8"/>
          <p:cNvSpPr/>
          <p:nvPr/>
        </p:nvSpPr>
        <p:spPr>
          <a:xfrm>
            <a:off x="2404872" y="1508760"/>
            <a:ext cx="1673352" cy="3474720"/>
          </a:xfrm>
          <a:prstGeom prst="roundRect">
            <a:avLst>
              <a:gd name="adj" fmla="val 3279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Shape 9"/>
          <p:cNvSpPr/>
          <p:nvPr/>
        </p:nvSpPr>
        <p:spPr>
          <a:xfrm>
            <a:off x="2404872" y="1508760"/>
            <a:ext cx="73152" cy="347472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2" name="Text 10"/>
          <p:cNvSpPr/>
          <p:nvPr/>
        </p:nvSpPr>
        <p:spPr>
          <a:xfrm>
            <a:off x="2569464" y="164592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Week 3 Lab 2</a:t>
            </a:r>
            <a:endParaRPr lang="en-US" sz="13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69464" y="1984248"/>
            <a:ext cx="1380744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Mini cavity + ML-ready table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05656" y="2788920"/>
            <a:ext cx="237744" cy="457200"/>
          </a:xfrm>
          <a:prstGeom prst="chevron">
            <a:avLst/>
          </a:prstGeom>
          <a:solidFill>
            <a:srgbClr val="F3F6F7"/>
          </a:solidFill>
          <a:ln w="12700">
            <a:solidFill>
              <a:srgbClr val="B6C4CC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Shape 13"/>
          <p:cNvSpPr/>
          <p:nvPr/>
        </p:nvSpPr>
        <p:spPr>
          <a:xfrm>
            <a:off x="4352544" y="1508760"/>
            <a:ext cx="1673352" cy="34747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6" name="Shape 14"/>
          <p:cNvSpPr/>
          <p:nvPr/>
        </p:nvSpPr>
        <p:spPr>
          <a:xfrm>
            <a:off x="4352544" y="1508760"/>
            <a:ext cx="73152" cy="347472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7" name="Text 15"/>
          <p:cNvSpPr/>
          <p:nvPr/>
        </p:nvSpPr>
        <p:spPr>
          <a:xfrm>
            <a:off x="4517136" y="164592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Project 1A</a:t>
            </a:r>
            <a:endParaRPr lang="en-US" sz="13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17136" y="1984248"/>
            <a:ext cx="1380744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GPU preflight + baseline DSMC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53328" y="2788920"/>
            <a:ext cx="237744" cy="457200"/>
          </a:xfrm>
          <a:prstGeom prst="chevron">
            <a:avLst/>
          </a:prstGeom>
          <a:solidFill>
            <a:srgbClr val="F3F6F7"/>
          </a:solidFill>
          <a:ln w="12700">
            <a:solidFill>
              <a:srgbClr val="B6C4CC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0" name="Shape 18"/>
          <p:cNvSpPr/>
          <p:nvPr/>
        </p:nvSpPr>
        <p:spPr>
          <a:xfrm>
            <a:off x="6300216" y="1508760"/>
            <a:ext cx="1673352" cy="34747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1" name="Shape 19"/>
          <p:cNvSpPr/>
          <p:nvPr/>
        </p:nvSpPr>
        <p:spPr>
          <a:xfrm>
            <a:off x="6300216" y="1508760"/>
            <a:ext cx="73152" cy="3474720"/>
          </a:xfrm>
          <a:prstGeom prst="rect">
            <a:avLst/>
          </a:prstGeom>
          <a:solidFill>
            <a:srgbClr val="F3DFE2"/>
          </a:solidFill>
          <a:ln w="12700">
            <a:solidFill>
              <a:srgbClr val="B23A4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2" name="Text 20"/>
          <p:cNvSpPr/>
          <p:nvPr/>
        </p:nvSpPr>
        <p:spPr>
          <a:xfrm>
            <a:off x="6464808" y="164592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Project 1B</a:t>
            </a:r>
            <a:endParaRPr lang="en-US" sz="13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64808" y="1984248"/>
            <a:ext cx="1380744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Paper validation + independence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001000" y="2788920"/>
            <a:ext cx="237744" cy="457200"/>
          </a:xfrm>
          <a:prstGeom prst="chevron">
            <a:avLst/>
          </a:prstGeom>
          <a:solidFill>
            <a:srgbClr val="F3F6F7"/>
          </a:solidFill>
          <a:ln w="12700">
            <a:solidFill>
              <a:srgbClr val="B6C4CC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5" name="Shape 23"/>
          <p:cNvSpPr/>
          <p:nvPr/>
        </p:nvSpPr>
        <p:spPr>
          <a:xfrm>
            <a:off x="8247888" y="1508760"/>
            <a:ext cx="1673352" cy="34747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6" name="Shape 24"/>
          <p:cNvSpPr/>
          <p:nvPr/>
        </p:nvSpPr>
        <p:spPr>
          <a:xfrm>
            <a:off x="8247888" y="1508760"/>
            <a:ext cx="73152" cy="3474720"/>
          </a:xfrm>
          <a:prstGeom prst="rect">
            <a:avLst/>
          </a:prstGeom>
          <a:solidFill>
            <a:srgbClr val="DADFE3"/>
          </a:solidFill>
          <a:ln w="1270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7" name="Text 25"/>
          <p:cNvSpPr/>
          <p:nvPr/>
        </p:nvSpPr>
        <p:spPr>
          <a:xfrm>
            <a:off x="8412480" y="164592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Project 1C</a:t>
            </a:r>
            <a:endParaRPr lang="en-US" sz="13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412480" y="1984248"/>
            <a:ext cx="1380744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Multi-Kn dataset + vortex trend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948672" y="2788920"/>
            <a:ext cx="237744" cy="457200"/>
          </a:xfrm>
          <a:prstGeom prst="chevron">
            <a:avLst/>
          </a:prstGeom>
          <a:solidFill>
            <a:srgbClr val="F3F6F7"/>
          </a:solidFill>
          <a:ln w="12700">
            <a:solidFill>
              <a:srgbClr val="B6C4CC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0" name="Shape 28"/>
          <p:cNvSpPr/>
          <p:nvPr/>
        </p:nvSpPr>
        <p:spPr>
          <a:xfrm>
            <a:off x="10195560" y="1508760"/>
            <a:ext cx="1673352" cy="34747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1" name="Shape 29"/>
          <p:cNvSpPr/>
          <p:nvPr/>
        </p:nvSpPr>
        <p:spPr>
          <a:xfrm>
            <a:off x="10195560" y="1508760"/>
            <a:ext cx="73152" cy="347472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2" name="Text 30"/>
          <p:cNvSpPr/>
          <p:nvPr/>
        </p:nvSpPr>
        <p:spPr>
          <a:xfrm>
            <a:off x="10360152" y="164592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Later AI</a:t>
            </a:r>
            <a:endParaRPr lang="en-US" sz="13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360152" y="1984248"/>
            <a:ext cx="1380744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DNN, GPR, DeepONet / operator surrogate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35" name="Text 33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full project philosophy remains: physics -&gt; DSMC solver -&gt; validation -&gt; independence -&gt; dataset -&gt; AI surrogate.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31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Week 3 submission: exactly three files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ASSIGNMENT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420624" cy="420624"/>
          </a:xfrm>
          <a:prstGeom prst="ellipse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6" name="Text 4"/>
          <p:cNvSpPr/>
          <p:nvPr/>
        </p:nvSpPr>
        <p:spPr>
          <a:xfrm>
            <a:off x="777240" y="141274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1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417320" y="1188720"/>
            <a:ext cx="9921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8" name="Shape 6"/>
          <p:cNvSpPr/>
          <p:nvPr/>
        </p:nvSpPr>
        <p:spPr>
          <a:xfrm>
            <a:off x="1417320" y="1188720"/>
            <a:ext cx="73152" cy="114300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9" name="Text 7"/>
          <p:cNvSpPr/>
          <p:nvPr/>
        </p:nvSpPr>
        <p:spPr>
          <a:xfrm>
            <a:off x="1581912" y="1325880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Lastname_Firstname_Week3_Lab1.ipynb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81912" y="1664208"/>
            <a:ext cx="96286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Completed Maxwellian, noise, and ML-label notebook with visible outputs.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77240" y="2834640"/>
            <a:ext cx="420624" cy="420624"/>
          </a:xfrm>
          <a:prstGeom prst="ellipse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2" name="Text 10"/>
          <p:cNvSpPr/>
          <p:nvPr/>
        </p:nvSpPr>
        <p:spPr>
          <a:xfrm>
            <a:off x="777240" y="29215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2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417320" y="2697480"/>
            <a:ext cx="9921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4" name="Shape 12"/>
          <p:cNvSpPr/>
          <p:nvPr/>
        </p:nvSpPr>
        <p:spPr>
          <a:xfrm>
            <a:off x="1417320" y="2697480"/>
            <a:ext cx="73152" cy="114300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5" name="Text 13"/>
          <p:cNvSpPr/>
          <p:nvPr/>
        </p:nvSpPr>
        <p:spPr>
          <a:xfrm>
            <a:off x="1581912" y="2834640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Lastname_Firstname_Week3_Lab2.ipynb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581912" y="3172968"/>
            <a:ext cx="96286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Completed mini-cavity notebook with visible outputs and exported dataset.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7240" y="4343400"/>
            <a:ext cx="420624" cy="420624"/>
          </a:xfrm>
          <a:prstGeom prst="ellipse">
            <a:avLst/>
          </a:prstGeom>
          <a:solidFill>
            <a:srgbClr val="DEECE4"/>
          </a:solidFill>
          <a:ln w="12700">
            <a:solidFill>
              <a:srgbClr val="2E8B57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8" name="Text 16"/>
          <p:cNvSpPr/>
          <p:nvPr/>
        </p:nvSpPr>
        <p:spPr>
          <a:xfrm>
            <a:off x="777240" y="443026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3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417320" y="4206240"/>
            <a:ext cx="9921240" cy="1143000"/>
          </a:xfrm>
          <a:prstGeom prst="roundRect">
            <a:avLst>
              <a:gd name="adj" fmla="val 4800"/>
            </a:avLst>
          </a:prstGeom>
          <a:solidFill>
            <a:srgbClr val="E7F4EC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0" name="Shape 18"/>
          <p:cNvSpPr/>
          <p:nvPr/>
        </p:nvSpPr>
        <p:spPr>
          <a:xfrm>
            <a:off x="1417320" y="4206240"/>
            <a:ext cx="73152" cy="1143000"/>
          </a:xfrm>
          <a:prstGeom prst="rect">
            <a:avLst/>
          </a:prstGeom>
          <a:solidFill>
            <a:srgbClr val="DEECE4"/>
          </a:solidFill>
          <a:ln w="12700">
            <a:solidFill>
              <a:srgbClr val="2E8B57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1" name="Text 19"/>
          <p:cNvSpPr/>
          <p:nvPr/>
        </p:nvSpPr>
        <p:spPr>
          <a:xfrm>
            <a:off x="1581912" y="4343400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Lastname_Firstname_Week3_Report.pdf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581912" y="4681728"/>
            <a:ext cx="96286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5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One report containing every written answer, requested table, figure, and interpretation.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97280" y="5605272"/>
            <a:ext cx="10058400" cy="877824"/>
          </a:xfrm>
          <a:prstGeom prst="roundRect">
            <a:avLst>
              <a:gd name="adj" fmla="val 9231"/>
            </a:avLst>
          </a:prstGeom>
          <a:solidFill>
            <a:srgbClr val="FBE9EC"/>
          </a:solidFill>
          <a:ln w="1270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4" name="Shape 22"/>
          <p:cNvSpPr/>
          <p:nvPr/>
        </p:nvSpPr>
        <p:spPr>
          <a:xfrm>
            <a:off x="1097280" y="5605272"/>
            <a:ext cx="73152" cy="877824"/>
          </a:xfrm>
          <a:prstGeom prst="rect">
            <a:avLst/>
          </a:prstGeom>
          <a:solidFill>
            <a:srgbClr val="F3DFE2"/>
          </a:solidFill>
          <a:ln w="12700">
            <a:solidFill>
              <a:srgbClr val="B23A4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5" name="Text 23"/>
          <p:cNvSpPr/>
          <p:nvPr/>
        </p:nvSpPr>
        <p:spPr>
          <a:xfrm>
            <a:off x="1261872" y="5687568"/>
            <a:ext cx="9765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Incomplete submission</a:t>
            </a:r>
            <a:endParaRPr lang="en-US" sz="13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261872" y="6035040"/>
            <a:ext cx="976579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Notebook only = incomplete. PDF only = incomplete. Written answers belong in the PDF; code and outputs remain in the notebooks.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32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What students will do this week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ASSIGNMENT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166360" cy="4389120"/>
          </a:xfrm>
          <a:prstGeom prst="roundRect">
            <a:avLst>
              <a:gd name="adj" fmla="val 1250"/>
            </a:avLst>
          </a:prstGeom>
          <a:solidFill>
            <a:srgbClr val="DDF4F5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73152" cy="4389120"/>
          </a:xfrm>
          <a:prstGeom prst="rect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7" name="Text 5"/>
          <p:cNvSpPr/>
          <p:nvPr/>
        </p:nvSpPr>
        <p:spPr>
          <a:xfrm>
            <a:off x="850392" y="1371600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21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Lab 1 - Maxwellian, noise, ML</a:t>
            </a:r>
            <a:endParaRPr lang="en-US" sz="21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0392" y="1709928"/>
            <a:ext cx="4873752" cy="379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1. Sample argon velocities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2. Estimate U, T, p, and q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3. Repeat at several particle counts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4. Fit the error slope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5. Train the same small MLP on noisy and cleaner labels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6. Explain why low loss is not data validation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5166360" cy="4389120"/>
          </a:xfrm>
          <a:prstGeom prst="roundRect">
            <a:avLst>
              <a:gd name="adj" fmla="val 1250"/>
            </a:avLst>
          </a:prstGeom>
          <a:solidFill>
            <a:srgbClr val="FFF0D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0" name="Shape 8"/>
          <p:cNvSpPr/>
          <p:nvPr/>
        </p:nvSpPr>
        <p:spPr>
          <a:xfrm>
            <a:off x="6309360" y="1234440"/>
            <a:ext cx="73152" cy="4389120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1" name="Text 9"/>
          <p:cNvSpPr/>
          <p:nvPr/>
        </p:nvSpPr>
        <p:spPr>
          <a:xfrm>
            <a:off x="6473952" y="1371600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21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Lab 2 - Mini molecular cavity</a:t>
            </a:r>
            <a:endParaRPr lang="en-US" sz="21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73952" y="1709928"/>
            <a:ext cx="4873752" cy="379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1. Generate the DSMC flowchart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2. Verify collision conservation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3. Run a quick case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4. Run a better-sampled case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5. Compare fields and centerline profiles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6. Export an ML-ready table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7. State what the mini model cannot prove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5989320"/>
            <a:ext cx="11155680" cy="438912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4" name="Text 12"/>
          <p:cNvSpPr/>
          <p:nvPr/>
        </p:nvSpPr>
        <p:spPr>
          <a:xfrm>
            <a:off x="685800" y="610819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15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notebooks are scaffolded and CPU-friendly; the intellectual work is interpretation, data-quality reasoning, and clear reporting.</a:t>
            </a:r>
            <a:endParaRPr lang="en-US" sz="11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33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02920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pPr>
            <a:r>
              <a:rPr lang="en-US" sz="2500" b="1" dirty="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Week 3 summary</a:t>
            </a: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53035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4" name="Text 2"/>
          <p:cNvSpPr/>
          <p:nvPr/>
        </p:nvSpPr>
        <p:spPr>
          <a:xfrm>
            <a:off x="9966960" y="5989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9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SUMMARY</a:t>
            </a:r>
            <a:endParaRPr lang="en-US" sz="9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420624" cy="420624"/>
          </a:xfrm>
          <a:prstGeom prst="ellipse">
            <a:avLst/>
          </a:prstGeom>
          <a:solidFill>
            <a:srgbClr val="D6F1F3"/>
          </a:solidFill>
          <a:ln w="12700">
            <a:solidFill>
              <a:srgbClr val="00A6B2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6" name="Text 4"/>
          <p:cNvSpPr/>
          <p:nvPr/>
        </p:nvSpPr>
        <p:spPr>
          <a:xfrm>
            <a:off x="685800" y="13213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1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98448" y="12252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Kinetic state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46120" y="121615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 distribution of molecular velocities, not only a few macroscopic fields.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85800" y="2148840"/>
            <a:ext cx="420624" cy="420624"/>
          </a:xfrm>
          <a:prstGeom prst="ellipse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0" name="Text 8"/>
          <p:cNvSpPr/>
          <p:nvPr/>
        </p:nvSpPr>
        <p:spPr>
          <a:xfrm>
            <a:off x="685800" y="22357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2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98448" y="2139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DSMC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46120" y="213055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 stochastic approximation to dilute-gas kinetic dynamics using move, wall, cell, collision, and sampling steps.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85800" y="3063240"/>
            <a:ext cx="420624" cy="420624"/>
          </a:xfrm>
          <a:prstGeom prst="ellipse">
            <a:avLst/>
          </a:prstGeom>
          <a:solidFill>
            <a:srgbClr val="DEECE4"/>
          </a:solidFill>
          <a:ln w="12700">
            <a:solidFill>
              <a:srgbClr val="2E8B57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4" name="Text 12"/>
          <p:cNvSpPr/>
          <p:nvPr/>
        </p:nvSpPr>
        <p:spPr>
          <a:xfrm>
            <a:off x="685800" y="31501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3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98448" y="3054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Data quality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46120" y="304495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Statistical noise decreases slowly; numerical bias needs separate independence checks.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5800" y="3977640"/>
            <a:ext cx="420624" cy="420624"/>
          </a:xfrm>
          <a:prstGeom prst="ellipse">
            <a:avLst/>
          </a:prstGeom>
          <a:solidFill>
            <a:srgbClr val="F3DFE2"/>
          </a:solidFill>
          <a:ln w="12700">
            <a:solidFill>
              <a:srgbClr val="B23A4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18" name="Text 16"/>
          <p:cNvSpPr/>
          <p:nvPr/>
        </p:nvSpPr>
        <p:spPr>
          <a:xfrm>
            <a:off x="685800" y="40645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4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98448" y="39684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Cavity story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46120" y="395935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same geometry now exposes slip, jump, wall non-equilibrium, and noisy sampling.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85800" y="4892040"/>
            <a:ext cx="420624" cy="420624"/>
          </a:xfrm>
          <a:prstGeom prst="ellipse">
            <a:avLst/>
          </a:prstGeom>
          <a:solidFill>
            <a:srgbClr val="DADFE3"/>
          </a:solidFill>
          <a:ln w="12700">
            <a:solidFill>
              <a:srgbClr val="173650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2" name="Text 20"/>
          <p:cNvSpPr/>
          <p:nvPr/>
        </p:nvSpPr>
        <p:spPr>
          <a:xfrm>
            <a:off x="685800" y="49789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2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5</a:t>
            </a:r>
            <a:endParaRPr lang="en-US"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98448" y="4882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6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AI message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46120" y="487375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Validate the solver and uncertainty before asking a network to learn the data.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103120" y="5605272"/>
            <a:ext cx="7955280" cy="877824"/>
          </a:xfrm>
          <a:prstGeom prst="roundRect">
            <a:avLst>
              <a:gd name="adj" fmla="val 8571"/>
            </a:avLst>
          </a:prstGeom>
          <a:solidFill>
            <a:srgbClr val="FFF0DF"/>
          </a:solidFill>
          <a:ln w="12700">
            <a:solidFill>
              <a:srgbClr val="D7E0E6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6" name="Shape 24"/>
          <p:cNvSpPr/>
          <p:nvPr/>
        </p:nvSpPr>
        <p:spPr>
          <a:xfrm>
            <a:off x="2103120" y="5605272"/>
            <a:ext cx="73152" cy="877824"/>
          </a:xfrm>
          <a:prstGeom prst="rect">
            <a:avLst/>
          </a:prstGeom>
          <a:solidFill>
            <a:srgbClr val="FDEDDD"/>
          </a:solidFill>
          <a:ln w="12700">
            <a:solidFill>
              <a:srgbClr val="F28C28"/>
            </a:solidFill>
            <a:prstDash val="solid"/>
          </a:ln>
        </p:spPr>
        <p:txBody>
          <a:bodyPr/>
          <a:p>
            <a:pPr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</a:p>
        </p:txBody>
      </p:sp>
      <p:sp>
        <p:nvSpPr>
          <p:cNvPr id="27" name="Text 25"/>
          <p:cNvSpPr/>
          <p:nvPr/>
        </p:nvSpPr>
        <p:spPr>
          <a:xfrm>
            <a:off x="2267712" y="5687568"/>
            <a:ext cx="7662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400" b="1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Exit question</a:t>
            </a:r>
            <a:endParaRPr lang="en-US"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267712" y="6035040"/>
            <a:ext cx="766267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r>
              <a:rPr lang="en-US" sz="1300" dirty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What information can be lost when a noisy molecular distribution is reduced to a single averaged field - and then compressed again into an ML model?</a:t>
            </a:r>
            <a:endParaRPr lang="en-US" sz="125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defRPr>
            </a:lvl1pPr>
          </a:lstStyle>
          <a:p>
            <a:pPr algn="r">
              <a:defRPr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defRPr>
            </a:pPr>
            <a:fld id="{F7021451-1387-4CA6-816F-3879F97B5CBC}" type="slidenum">
              <a:rPr b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34</a:t>
            </a:fld>
            <a:endParaRPr lang="en-US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Worked finite-N temperature estimate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27080" cy="4297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Assume N independent, equally weighted 3D molecular velocities at one temperature. Estimate the bulk velocity from the same sample.</a:t>
            </a:r>
          </a:p>
          <a:p>
            <a:pPr>
              <a:spcAft>
                <a:spcPts val="1200"/>
              </a:spcAft>
            </a:pPr>
            <a:r>
              <a:rPr sz="2300" b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For N = 2, use c1 = (−1, 0, 0) m/s and c2 = (1, 0, 0) m/s. Let m/k_B = 1 K s²/m².</a:t>
            </a:r>
          </a:p>
          <a:p>
            <a:pPr>
              <a:spcAft>
                <a:spcPts val="1200"/>
              </a:spcAft>
            </a:pPr>
            <a:r>
              <a:rPr sz="2300" b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sample mean is Ubar = (0, 0, 0) m/s. The summed fluctuation energy is Σ|ci − Ubar|² = 1 + 1 = 2 m²/s².</a:t>
            </a:r>
          </a:p>
          <a:p>
            <a:pPr>
              <a:spcAft>
                <a:spcPts val="1200"/>
              </a:spcAft>
            </a:pPr>
            <a:r>
              <a:rPr sz="2300" b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usual moment estimate is T_N = (m/k_B) Σ|ci − Ubar|²/(3N) = 1/3 K.</a:t>
            </a:r>
          </a:p>
          <a:p>
            <a:pPr>
              <a:spcAft>
                <a:spcPts val="1200"/>
              </a:spcAft>
            </a:pPr>
            <a:r>
              <a:rPr sz="2300" b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Bessel-corrected estimate is T_est = (m/k_B) Σ|ci − Ubar|²/[3(N − 1)] = 2/3 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83564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This arithmetic sample illustrates the estimators. It does not establish the true temperature from two particles.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100" b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Why the finite-N correction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27080" cy="4297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For fixed N iid samples with finite variance, subtracting the estimated mean uses one degree of freedom per velocity component.</a:t>
            </a:r>
          </a:p>
          <a:p>
            <a:pPr>
              <a:spcAft>
                <a:spcPts val="1200"/>
              </a:spcAft>
            </a:pPr>
            <a:r>
              <a:rPr sz="2300" b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E[Σ|ci − Ubar|²] = 3(N − 1)k_B T/m, so E[T_N] = (N − 1)T/N.</a:t>
            </a:r>
          </a:p>
          <a:p>
            <a:pPr>
              <a:spcAft>
                <a:spcPts val="1200"/>
              </a:spcAft>
            </a:pPr>
            <a:r>
              <a:rPr sz="2300" b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At N = 8 the expectation is 0.875T; at N = 24 it is about 0.95833T. The corrected denominator 3(N − 1) is unbiased under these assumptions.</a:t>
            </a:r>
          </a:p>
          <a:p>
            <a:pPr>
              <a:spcAft>
                <a:spcPts val="1200"/>
              </a:spcAft>
            </a:pPr>
            <a:r>
              <a:rPr sz="2300" b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N ≤ 1 gives no finite-sample estimate of thermal variance after estimating the mean. Empty cells have no mean either.</a:t>
            </a:r>
          </a:p>
          <a:p>
            <a:pPr>
              <a:spcAft>
                <a:spcPts val="1200"/>
              </a:spcAft>
            </a:pPr>
            <a:r>
              <a:rPr sz="2300" b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Exercise: increase all velocities by (10, 0, 0) m/s. Answer: Ubar increases by that amount; both temperature estimates stay unchanged.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83564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Averaging biased snapshot temperatures does not remove the bias. Correlated, transient, or unequal-weight samples need separate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100" b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latin typeface="Times New Roman"/>
                <a:ea typeface="Times New Roman"/>
                <a:cs typeface="Times New Roman"/>
                <a:solidFill>
                  <a:srgbClr val="000000"/>
                </a:solidFill>
              </a:rPr>
              <a:t>Estimator reasoning before the cavity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27080" cy="4297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The historical CPU mini-cavity remains a labeled bias-control exercise. The fixed-iid calculation is a conditional result, not a measurement of that cavity’s bias.</a:t>
            </a:r>
          </a:p>
          <a:p>
            <a:pPr>
              <a:spcAft>
                <a:spcPts val="1200"/>
              </a:spcAft>
            </a:pPr>
            <a:r>
              <a:rPr sz="2300" b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A stationary sampling window can pool molecular moments and use a Bessel correction. This improves the estimator without proving independent samples.</a:t>
            </a:r>
          </a:p>
          <a:p>
            <a:pPr>
              <a:spcAft>
                <a:spcPts val="1200"/>
              </a:spcAft>
            </a:pPr>
            <a:r>
              <a:rPr sz="2300" b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Temporal correlation changes uncertainty and effective sample count. The correction does not remove startup transients, spatial discretization error, collision-model error, or wall-model error.</a:t>
            </a:r>
          </a:p>
          <a:p>
            <a:pPr>
              <a:spcAft>
                <a:spcPts val="1200"/>
              </a:spcAft>
            </a:pPr>
            <a:r>
              <a:rPr sz="2300" b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Self-check: distinguish estimator bias, statistical spread, and numerical/model bias before interpreting a temperature contour.</a:t>
            </a:r>
          </a:p>
          <a:p>
            <a:pPr>
              <a:spcAft>
                <a:spcPts val="1200"/>
              </a:spcAft>
            </a:pPr>
            <a:r>
              <a:rPr sz="2300" b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For a resolved comparison, retain particle count, time window, seed, time step, cell size, and estimator definition with every field.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83564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See the Week 3 notebook for the retained CPU exercise and Project 5 for pooled-moment sampling.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</a:pPr>
            <a:r>
              <a:rPr sz="1100" b="0">
                <a:latin typeface="Times New Roman"/>
                <a:solidFill>
                  <a:srgbClr val="000000"/>
                </a:solidFill>
                <a:ea typeface="Times New Roman"/>
                <a:cs typeface="Times New Roman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Times New Roman"/>
        <a:cs typeface="Times New Roman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Times New Roman"/>
        <a:cs typeface="Times New Roman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UMass Amherst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Fluids - Week 3</dc:title>
  <dc:subject>Week 3 - Kinetic Theory, DSMC, and Data Quality for ML</dc:subject>
  <dc:creator>Ehsan Roohi</dc:creator>
  <cp:lastModifiedBy>Ehsan Roohi</cp:lastModifiedBy>
  <cp:revision>1</cp:revision>
  <dcterms:created xsi:type="dcterms:W3CDTF">2026-07-11T15:38:00Z</dcterms:created>
  <dcterms:modified xsi:type="dcterms:W3CDTF">2026-07-11T15:38:00Z</dcterms:modified>
</cp:coreProperties>
</file>