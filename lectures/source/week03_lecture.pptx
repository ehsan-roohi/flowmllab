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AI in Fluid Dynamics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7315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D7D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Week 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6565392"/>
            <a:ext cx="11548872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611112"/>
            <a:ext cx="594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758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-&gt; solver -&gt; validated data -&gt; AI surrogate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DDE1"/>
                </a:solidFill>
              </a:rPr>
              <a:t>AI in Fluid Dynamics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8C28"/>
                </a:solidFill>
              </a:rPr>
              <a:t>Week 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From Continuum Cavity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to Molecular Cavity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30352" y="257860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6E4EA"/>
                </a:solidFill>
              </a:rPr>
              <a:t>Kinetic theory, Boltzmann equation, DSMC sampling, and data quality for machine learning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60807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4CF"/>
                </a:solidFill>
              </a:rPr>
              <a:t>Instructor: Ehsan Roohi  |  M&amp;I-ENG 690A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89320" y="594360"/>
            <a:ext cx="5623560" cy="5440680"/>
          </a:xfrm>
          <a:prstGeom prst="roundRect">
            <a:avLst>
              <a:gd name="adj" fmla="val 1345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mnt/data/week3_work/assets/continuum_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940298"/>
            <a:ext cx="2542032" cy="2215916"/>
          </a:xfrm>
          <a:prstGeom prst="rect">
            <a:avLst/>
          </a:prstGeom>
        </p:spPr>
      </p:pic>
      <p:pic>
        <p:nvPicPr>
          <p:cNvPr id="11" name="Image 1" descr="/mnt/data/week3_work/assets/mini_cavity_partic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975139"/>
            <a:ext cx="2542032" cy="214623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72200" y="327355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</a:rPr>
              <a:t>Week 1: continuum field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759952" y="327355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</a:rPr>
              <a:t>Week 3: molecular samples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02168" y="3822192"/>
            <a:ext cx="1234440" cy="658368"/>
          </a:xfrm>
          <a:prstGeom prst="chevron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927848" y="45720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same geometry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different description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309360" y="55321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B2"/>
                </a:solidFill>
              </a:rPr>
              <a:t>Physics -&gt; solver -&gt; validated data -&gt; AI surrogate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The course story continues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768" y="9144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D6B75"/>
                </a:solidFill>
              </a:rPr>
              <a:t>Week 3 is not a separate kinetic-theory detour; it creates the data that later AI models will learn.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COURSE STORY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21488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22580000" dist="161290000" dir="162000000000">
              <a:srgbClr val="000000">
                <a:alpha val="140000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508760"/>
            <a:ext cx="73152" cy="20574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645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</a:rPr>
              <a:t>Week 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58952" y="1984248"/>
            <a:ext cx="185623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Continuum cavity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07208" y="2148840"/>
            <a:ext cx="438912" cy="502920"/>
          </a:xfrm>
          <a:prstGeom prst="chevron">
            <a:avLst/>
          </a:prstGeom>
          <a:solidFill>
            <a:srgbClr val="B8C8D2"/>
          </a:solidFill>
          <a:ln w="12700">
            <a:solidFill>
              <a:srgbClr val="B8C8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508760"/>
            <a:ext cx="21488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096766000000" dist="2048383000000" dir="9720000000000000">
              <a:srgbClr val="000000">
                <a:alpha val="14000000000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508760"/>
            <a:ext cx="73152" cy="2057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1645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</a:rPr>
              <a:t>Week 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410712" y="1984248"/>
            <a:ext cx="185623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Neural-network basics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58968" y="2148840"/>
            <a:ext cx="438912" cy="502920"/>
          </a:xfrm>
          <a:prstGeom prst="chevron">
            <a:avLst/>
          </a:prstGeom>
          <a:solidFill>
            <a:srgbClr val="B8C8D2"/>
          </a:solidFill>
          <a:ln w="12700">
            <a:solidFill>
              <a:srgbClr val="B8C8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1508760"/>
            <a:ext cx="2148840" cy="2057400"/>
          </a:xfrm>
          <a:prstGeom prst="roundRect">
            <a:avLst>
              <a:gd name="adj" fmla="val 2667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2028928200000000" dist="26014464100000000" dir="583200000000000000000">
              <a:srgbClr val="000000">
                <a:alpha val="1400000000000000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97880" y="1508760"/>
            <a:ext cx="73152" cy="20574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1645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</a:rPr>
              <a:t>Week 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062472" y="1984248"/>
            <a:ext cx="185623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Molecular cavity + DSMC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10728" y="2148840"/>
            <a:ext cx="438912" cy="502920"/>
          </a:xfrm>
          <a:prstGeom prst="chevron">
            <a:avLst/>
          </a:prstGeom>
          <a:solidFill>
            <a:srgbClr val="B8C8D2"/>
          </a:solidFill>
          <a:ln w="12700">
            <a:solidFill>
              <a:srgbClr val="B8C8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49640" y="1508760"/>
            <a:ext cx="21488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660767388140000000000" dist="330383694070000000000" dir="3.4992e+25">
              <a:srgbClr val="000000">
                <a:alpha val="1.4e+24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49640" y="1508760"/>
            <a:ext cx="73152" cy="205740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14232" y="1645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</a:rPr>
              <a:t>Week 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714232" y="1984248"/>
            <a:ext cx="185623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Surrogate from validated data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51560" y="4069080"/>
            <a:ext cx="10058400" cy="1234440"/>
          </a:xfrm>
          <a:prstGeom prst="roundRect">
            <a:avLst>
              <a:gd name="adj" fmla="val 4444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8.391745829378e+24" dist="4.195872914689e+24" dir="2.09952e+30">
              <a:srgbClr val="000000">
                <a:alpha val="1.4000000000000002e+29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69080"/>
            <a:ext cx="73152" cy="12344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16152" y="4206240"/>
            <a:ext cx="9765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Central question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216152" y="4544568"/>
            <a:ext cx="97657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</a:rPr>
              <a:t>How do we turn physically meaningful molecular simulations into trustworthy training data - without letting statistical noise or numerical bias become “ground truth”?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DDF4F5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geometry is continuous across the course; the modeling description and validation questions become richer.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Learning outcomes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OVERVIEW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61872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4874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28930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Interpret a molecular velocity distribution and a Maxwellian equilibrium.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61872" y="1856232"/>
            <a:ext cx="969264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157984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485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185416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Recover density, bulk velocity, temperature, pressure, and heat flux from particles.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61872" y="2752344"/>
            <a:ext cx="969264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54096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40964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08152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Explain the Boltzmann equation and why DSMC is used.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61872" y="3648456"/>
            <a:ext cx="969264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950208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37076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9776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Trace the DSMC cycle: move, walls, cells, collisions, sampling.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61872" y="4544568"/>
            <a:ext cx="969264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46320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93318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4873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Quantify statistical noise and connect data quality to ML validation.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By the end of the week, students should see DSMC output as a statistical dataset with physics, metadata, and uncertainty.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Same cavity, different modeling language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PHYSICS BRIDGE</a:t>
            </a:r>
            <a:endParaRPr lang="en-US" sz="900" dirty="0"/>
          </a:p>
        </p:txBody>
      </p:sp>
      <p:pic>
        <p:nvPicPr>
          <p:cNvPr id="5" name="Image 0" descr="/mnt/data/week3_work/assets/continuum_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56723"/>
            <a:ext cx="3108960" cy="2710113"/>
          </a:xfrm>
          <a:prstGeom prst="rect">
            <a:avLst/>
          </a:prstGeom>
        </p:spPr>
      </p:pic>
      <p:pic>
        <p:nvPicPr>
          <p:cNvPr id="6" name="Image 1" descr="/mnt/data/week3_work/assets/mini_cavity_partic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499335"/>
            <a:ext cx="3108960" cy="26248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886200" y="1234440"/>
            <a:ext cx="4343400" cy="3246120"/>
          </a:xfrm>
          <a:prstGeom prst="roundRect">
            <a:avLst>
              <a:gd name="adj" fmla="val 1690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886200" y="1234440"/>
            <a:ext cx="73152" cy="32461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050792" y="137160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What changes?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114800" y="1700784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State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010912" y="170078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E8B57"/>
                </a:solidFill>
              </a:rPr>
              <a:t>u, v, p on a grid</a:t>
            </a:r>
            <a:endParaRPr lang="en-US" sz="980" dirty="0"/>
          </a:p>
        </p:txBody>
      </p:sp>
      <p:sp>
        <p:nvSpPr>
          <p:cNvPr id="12" name="Text 8"/>
          <p:cNvSpPr/>
          <p:nvPr/>
        </p:nvSpPr>
        <p:spPr>
          <a:xfrm>
            <a:off x="6446520" y="170078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0A6B2"/>
                </a:solidFill>
              </a:rPr>
              <a:t>particle positions + molecular velocities</a:t>
            </a:r>
            <a:endParaRPr lang="en-US" sz="980" dirty="0"/>
          </a:p>
        </p:txBody>
      </p:sp>
      <p:sp>
        <p:nvSpPr>
          <p:cNvPr id="13" name="Shape 9"/>
          <p:cNvSpPr/>
          <p:nvPr/>
        </p:nvSpPr>
        <p:spPr>
          <a:xfrm>
            <a:off x="4087368" y="2176272"/>
            <a:ext cx="3886200" cy="0"/>
          </a:xfrm>
          <a:prstGeom prst="line">
            <a:avLst/>
          </a:prstGeom>
          <a:noFill/>
          <a:ln w="8890">
            <a:solidFill>
              <a:srgbClr val="D7E0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114800" y="228600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Wall model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010912" y="228600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E8B57"/>
                </a:solidFill>
              </a:rPr>
              <a:t>no-slip / prescribed T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6446520" y="228600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0A6B2"/>
                </a:solidFill>
              </a:rPr>
              <a:t>stochastic gas-surface reflection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4087368" y="2761488"/>
            <a:ext cx="3886200" cy="0"/>
          </a:xfrm>
          <a:prstGeom prst="line">
            <a:avLst/>
          </a:prstGeom>
          <a:noFill/>
          <a:ln w="8890">
            <a:solidFill>
              <a:srgbClr val="D7E0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14800" y="2871216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Control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10912" y="287121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E8B57"/>
                </a:solidFill>
              </a:rPr>
              <a:t>Reynolds number</a:t>
            </a:r>
            <a:endParaRPr lang="en-US" sz="980" dirty="0"/>
          </a:p>
        </p:txBody>
      </p:sp>
      <p:sp>
        <p:nvSpPr>
          <p:cNvPr id="20" name="Text 16"/>
          <p:cNvSpPr/>
          <p:nvPr/>
        </p:nvSpPr>
        <p:spPr>
          <a:xfrm>
            <a:off x="6446520" y="287121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0A6B2"/>
                </a:solidFill>
              </a:rPr>
              <a:t>Knudsen number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4087368" y="3346704"/>
            <a:ext cx="3886200" cy="0"/>
          </a:xfrm>
          <a:prstGeom prst="line">
            <a:avLst/>
          </a:prstGeom>
          <a:noFill/>
          <a:ln w="8890">
            <a:solidFill>
              <a:srgbClr val="D7E0E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11480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Output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010912" y="345643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E8B57"/>
                </a:solidFill>
              </a:rPr>
              <a:t>smooth deterministic field</a:t>
            </a:r>
            <a:endParaRPr lang="en-US" sz="980" dirty="0"/>
          </a:p>
        </p:txBody>
      </p:sp>
      <p:sp>
        <p:nvSpPr>
          <p:cNvPr id="24" name="Text 20"/>
          <p:cNvSpPr/>
          <p:nvPr/>
        </p:nvSpPr>
        <p:spPr>
          <a:xfrm>
            <a:off x="6446520" y="345643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0A6B2"/>
                </a:solidFill>
              </a:rPr>
              <a:t>noisy sampled field</a:t>
            </a:r>
            <a:endParaRPr lang="en-US" sz="980" dirty="0"/>
          </a:p>
        </p:txBody>
      </p:sp>
      <p:sp>
        <p:nvSpPr>
          <p:cNvPr id="25" name="Shape 21"/>
          <p:cNvSpPr/>
          <p:nvPr/>
        </p:nvSpPr>
        <p:spPr>
          <a:xfrm>
            <a:off x="4087368" y="3931920"/>
            <a:ext cx="3886200" cy="0"/>
          </a:xfrm>
          <a:prstGeom prst="line">
            <a:avLst/>
          </a:prstGeom>
          <a:noFill/>
          <a:ln w="8890">
            <a:solidFill>
              <a:srgbClr val="D7E0E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114800" y="4041648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Validation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5010912" y="404164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E8B57"/>
                </a:solidFill>
              </a:rPr>
              <a:t>residual + Ghia benchmark</a:t>
            </a:r>
            <a:endParaRPr lang="en-US" sz="980" dirty="0"/>
          </a:p>
        </p:txBody>
      </p:sp>
      <p:sp>
        <p:nvSpPr>
          <p:cNvPr id="28" name="Text 24"/>
          <p:cNvSpPr/>
          <p:nvPr/>
        </p:nvSpPr>
        <p:spPr>
          <a:xfrm>
            <a:off x="6446520" y="404164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0A6B2"/>
                </a:solidFill>
              </a:rPr>
              <a:t>statistics + DSMC criteria + paper data</a:t>
            </a:r>
            <a:endParaRPr lang="en-US" sz="980" dirty="0"/>
          </a:p>
        </p:txBody>
      </p:sp>
      <p:sp>
        <p:nvSpPr>
          <p:cNvPr id="29" name="Text 25"/>
          <p:cNvSpPr/>
          <p:nvPr/>
        </p:nvSpPr>
        <p:spPr>
          <a:xfrm>
            <a:off x="1325880" y="4434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</a:rPr>
              <a:t>Continuum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914400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6B2"/>
                </a:solidFill>
              </a:rPr>
              <a:t>Molecular / kinetic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Week-3 question is not “which picture looks nicer?” It is “which model is valid in this regime, and how trustworthy are its samples?”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A macroscopic velocity hides many molecular velocities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KINETIC VIEW</a:t>
            </a:r>
            <a:endParaRPr lang="en-US" sz="900" dirty="0"/>
          </a:p>
        </p:txBody>
      </p:sp>
      <p:pic>
        <p:nvPicPr>
          <p:cNvPr id="5" name="Image 0" descr="/mnt/data/week3_work/assets/molecular_velocity_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07050"/>
            <a:ext cx="4892040" cy="353534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06440" y="1325880"/>
            <a:ext cx="5440680" cy="1143000"/>
          </a:xfrm>
          <a:prstGeom prst="roundRect">
            <a:avLst>
              <a:gd name="adj" fmla="val 48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0657517203310059e+29" dist="5.3287586016550295e+28" dir="1.259712e+35">
              <a:srgbClr val="000000">
                <a:alpha val="1.4000000000000003e+34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06440" y="132588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71032" y="14630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Molecular velocity, c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971032" y="1801368"/>
            <a:ext cx="51480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The instantaneous velocity of one molecule. It contains organized motion plus thermal fluctuation.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806440" y="2743200"/>
            <a:ext cx="544068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3535046848203775e+33" dist="6.767523424101888e+32" dir="7.558272e+39">
              <a:srgbClr val="000000">
                <a:alpha val="1.4000000000000003e+3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806440" y="274320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71032" y="288036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Bulk velocity, U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971032" y="3218688"/>
            <a:ext cx="51480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The average molecular velocity in a small region and time window.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806440" y="4160520"/>
            <a:ext cx="5440680" cy="1143000"/>
          </a:xfrm>
          <a:prstGeom prst="roundRect">
            <a:avLst>
              <a:gd name="adj" fmla="val 4800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7189509497218795e+37" dist="8.594754748609397e+36" dir="4.5349632000000006e+44">
              <a:srgbClr val="000000">
                <a:alpha val="1.4000000000000002e+44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806440" y="4160520"/>
            <a:ext cx="73152" cy="11430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71032" y="429768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Thermal fluctuation, c - U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971032" y="4636008"/>
            <a:ext cx="51480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The random part used to define temperature, stress, and heat flux.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low-speed gas flow can have a small U even though individual molecules move hundreds of meters per second.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The distribution function is the kinetic state variable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KINETIC THEORY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7477" y="1325880"/>
            <a:ext cx="2562726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2148840"/>
            <a:ext cx="3108960" cy="2194560"/>
          </a:xfrm>
          <a:prstGeom prst="roundRect">
            <a:avLst>
              <a:gd name="adj" fmla="val 25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183067706146787e+41" dist="1.0915338530733935e+41" dir="2.72097792e+49">
              <a:srgbClr val="000000">
                <a:alpha val="1.4000000000000002e+4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5800" y="2148840"/>
            <a:ext cx="73152" cy="21945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0392" y="22860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What does f describe?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50392" y="2624328"/>
            <a:ext cx="2816352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B36"/>
                </a:solidFill>
              </a:rPr>
              <a:t>How molecular populations are distributed over physical position x, molecular velocity c, and time 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69080" y="2423160"/>
            <a:ext cx="822960" cy="594360"/>
          </a:xfrm>
          <a:prstGeom prst="chevron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74920" y="1234440"/>
            <a:ext cx="6172200" cy="4343400"/>
          </a:xfrm>
          <a:prstGeom prst="roundRect">
            <a:avLst>
              <a:gd name="adj" fmla="val 1263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74920" y="1234440"/>
            <a:ext cx="73152" cy="4343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39512" y="13716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Phase space: physical cells + velocity space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94960" y="187452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94960" y="237744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94960" y="288036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897880" y="187452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97880" y="237744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897880" y="288036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187452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2377440"/>
            <a:ext cx="475488" cy="475488"/>
          </a:xfrm>
          <a:prstGeom prst="rect">
            <a:avLst/>
          </a:prstGeom>
          <a:solidFill>
            <a:srgbClr val="DDF4F5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0" y="288036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03720" y="187452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03720" y="237744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03720" y="2880360"/>
            <a:ext cx="475488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17365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94960" y="3520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physical space x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543800" y="2651760"/>
            <a:ext cx="91440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961120" y="182880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509760" y="201168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49840" y="196596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8240" y="251460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372600" y="256032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66960" y="2423160"/>
            <a:ext cx="118872" cy="118872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561320" y="2651760"/>
            <a:ext cx="118872" cy="11887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52560" y="3154680"/>
            <a:ext cx="118872" cy="11887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646920" y="3246120"/>
            <a:ext cx="118872" cy="11887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241280" y="3063240"/>
            <a:ext cx="118872" cy="11887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641080" y="3611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</a:rPr>
              <a:t>molecular velocity space c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5440680" y="425196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One continuum value U(x) is replaced by an entire local distribution over c.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Kinetic theory keeps information that is compressed away when we store only density, velocity, and temperature.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Fluid variables are moments of the distribution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KINETIC THEORY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33375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7724959868064195e+45" dist="1.3862479934032098e+45" dir="1.6325867520000003e+54">
              <a:srgbClr val="000000">
                <a:alpha val="1.4e+5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325880"/>
            <a:ext cx="73152" cy="169164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Density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801368"/>
            <a:ext cx="304495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n = integral f dc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How many molecules?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325880"/>
            <a:ext cx="33375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5210699032441527e+49" dist="1.7605349516220764e+49" dir="9.795520512000002e+58">
              <a:srgbClr val="000000">
                <a:alpha val="1.4000000000000001e+5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325880"/>
            <a:ext cx="73152" cy="16916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Velocity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53712" y="1801368"/>
            <a:ext cx="304495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U = &lt;c&gt;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What is the average motion?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3375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471758777120074e+53" dist="2.235879388560037e+53" dir="5.877312307200001e+63">
              <a:srgbClr val="000000">
                <a:alpha val="1.4e+6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325880"/>
            <a:ext cx="73152" cy="16916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Temperature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48472" y="1801368"/>
            <a:ext cx="304495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T proportional to &lt;|c-U|^2&gt;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How strong are thermal fluctuations?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514600" y="3657600"/>
            <a:ext cx="33375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.679133646942494e+57" dist="2.839566823471247e+57" dir="3.526387384320001e+68">
              <a:srgbClr val="000000">
                <a:alpha val="1.4000000000000001e+6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14600" y="3657600"/>
            <a:ext cx="73152" cy="169164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9192" y="3794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Pressure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79192" y="4133088"/>
            <a:ext cx="304495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p = n k_B T at equilibrium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How large is isotropic normal stress?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3657600"/>
            <a:ext cx="33375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7.212499731616968e+61" dist="3.606249865808484e+61" dir="2.1158324305920003e+73">
              <a:srgbClr val="000000">
                <a:alpha val="1.4e+74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3657600"/>
            <a:ext cx="73152" cy="169164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794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Heat flux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73952" y="4133088"/>
            <a:ext cx="304495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q proportional to &lt;|c-U|^2(c-U)&gt;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How is thermal energy transported?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DDF4F5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DSMC does not output a smooth field directly. It outputs particle histories; macroscopic fields are estimators built from those histories.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Maxwellian equilibrium: the reference distribution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KINETIC THEORY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1861" y="1234440"/>
            <a:ext cx="6457278" cy="960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1887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9.15987465915355e+65" dist="4.579937329576775e+65" dir="1.2694994583552002e+78">
              <a:srgbClr val="000000">
                <a:alpha val="1.4e+7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188720"/>
            <a:ext cx="73152" cy="9601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132588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Center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99832" y="1664208"/>
            <a:ext cx="35935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Set by the bulk velocity U.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35240" y="242316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1633040817125008e+70" dist="5.816520408562504e+69" dir="7.616996750131201e+82">
              <a:srgbClr val="000000">
                <a:alpha val="1.4000000000000001e+8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35240" y="2423160"/>
            <a:ext cx="73152" cy="9601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9832" y="256032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Width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799832" y="2898648"/>
            <a:ext cx="35935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Set by temperature and molecular mass.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365760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477396183774876e+74" dist="7.38698091887438e+73" dir="4.57019805007872e+87">
              <a:srgbClr val="000000">
                <a:alpha val="1.4000000000000002e+8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35240" y="3657600"/>
            <a:ext cx="73152" cy="9601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99832" y="379476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Amplitude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799832" y="4133088"/>
            <a:ext cx="35935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Set by number density 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77240" y="2788920"/>
            <a:ext cx="6217920" cy="2011680"/>
          </a:xfrm>
          <a:prstGeom prst="roundRect">
            <a:avLst>
              <a:gd name="adj" fmla="val 2727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8762931533940924e+78" dist="9.381465766970462e+77" dir="2.742118830047232e+92">
              <a:srgbClr val="000000">
                <a:alpha val="1.4000000000000002e+94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77240" y="2788920"/>
            <a:ext cx="73152" cy="201168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" y="292608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Equilibrium does not mean “molecules stop moving”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41832" y="3264408"/>
            <a:ext cx="592531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It means the velocity statistics have a specific form and there is no unresolved directional imbalance in the local rest frame.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Near walls, shocks, or strong gradients, the local distribution can depart from a Maxwellian even when density, U, and T look smooth.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Sampling a Maxwellian: what the notebook will do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LAB 1</a:t>
            </a:r>
            <a:endParaRPr lang="en-US" sz="900" dirty="0"/>
          </a:p>
        </p:txBody>
      </p:sp>
      <p:pic>
        <p:nvPicPr>
          <p:cNvPr id="5" name="Image 0" descr="/mnt/data/week3_work/assets/maxwellian_samp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97748"/>
            <a:ext cx="7543800" cy="28167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23444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3828923048104974e+82" dist="1.1914461524052487e+82" dir="1.6452712980283393e+97">
              <a:srgbClr val="000000">
                <a:alpha val="1.4000000000000001e+9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75320" y="123444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39912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Given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39912" y="1709928"/>
            <a:ext cx="30906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Argon, T = 300 K, and a prescribed bulk drift.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75320" y="269748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0262732271093317e+86" dist="1.5131366135546659e+86" dir="9.871627788170037e+101">
              <a:srgbClr val="000000">
                <a:alpha val="1.4000000000000002e+10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75320" y="269748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39912" y="28346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Generate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439912" y="3172968"/>
            <a:ext cx="30906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Three Gaussian velocity components for each particle.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75320" y="416052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8433669984288512e+90" dist="1.9216834992144256e+90" dir="5.9229766729020215e+106">
              <a:srgbClr val="000000">
                <a:alpha val="1.4e+10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75320" y="4160520"/>
            <a:ext cx="73152" cy="11430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39912" y="429768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Recover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439912" y="4636008"/>
            <a:ext cx="30906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Sample U, T, p, and q from finite particle moments.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histogram is not the result to memorize; the connection between distribution parameters and macroscopic moments is the learning goal.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Finite-particle estimates are random variables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SAMPLING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3383280" cy="1097280"/>
          </a:xfrm>
          <a:prstGeom prst="roundRect">
            <a:avLst>
              <a:gd name="adj" fmla="val 50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8810760880046414e+94" dist="2.4405380440023207e+94" dir="3.553786003741213e+111">
              <a:srgbClr val="000000">
                <a:alpha val="1.4e+11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73152" cy="10972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Bulk velocity estimator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09928"/>
            <a:ext cx="30906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Average all molecular velocities in the sample.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2651760"/>
            <a:ext cx="3383280" cy="1097280"/>
          </a:xfrm>
          <a:prstGeom prst="roundRect">
            <a:avLst>
              <a:gd name="adj" fmla="val 50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6.198966631765894e+98" dist="3.099483315882947e+98" dir="2.1322716022447277e+116">
              <a:srgbClr val="000000">
                <a:alpha val="1.4e+11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651760"/>
            <a:ext cx="73152" cy="10972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78892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Temperature estimator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" y="3127248"/>
            <a:ext cx="30906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Average fluctuation energy after subtracting the sampled bulk velocity.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069080"/>
            <a:ext cx="3383280" cy="1097280"/>
          </a:xfrm>
          <a:prstGeom prst="roundRect">
            <a:avLst>
              <a:gd name="adj" fmla="val 5000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7.872687622342685e+102" dist="3.9363438111713427e+102" dir="1.2793629613468366e+121">
              <a:srgbClr val="000000">
                <a:alpha val="1.4e+12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4069080"/>
            <a:ext cx="73152" cy="10972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42062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Heat-flux estimator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58952" y="4544568"/>
            <a:ext cx="30906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Average a higher-order, signed thermal-energy flux. It is especially noisy.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43400" y="1234440"/>
            <a:ext cx="7132320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3400" y="1234440"/>
            <a:ext cx="73152" cy="393192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07992" y="1371600"/>
            <a:ext cx="683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One possible finite sample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17720" y="1737360"/>
            <a:ext cx="1280160" cy="2743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quantity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1737360"/>
            <a:ext cx="1234440" cy="2743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imposed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35240" y="1737360"/>
            <a:ext cx="1234440" cy="2743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estimated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0" y="1737360"/>
            <a:ext cx="2011680" cy="2743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interpretation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2121408"/>
            <a:ext cx="128016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Ux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172200" y="2121408"/>
            <a:ext cx="123444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100 m/s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635240" y="2121408"/>
            <a:ext cx="123444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near 100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44000" y="2121408"/>
            <a:ext cx="201168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mean drift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17720" y="2743200"/>
            <a:ext cx="12801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Uy, Uz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72200" y="2743200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635240" y="2743200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small nonzero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44000" y="274320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finite-sample fluctuation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17720" y="3364992"/>
            <a:ext cx="128016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3364992"/>
            <a:ext cx="123444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300 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635240" y="3364992"/>
            <a:ext cx="123444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near 300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144000" y="3364992"/>
            <a:ext cx="2011680" cy="457200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thermal variance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17720" y="3986784"/>
            <a:ext cx="12801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q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72200" y="3986784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0 at equilibrium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635240" y="3986784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small nonzero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144000" y="398678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6"/>
                </a:solidFill>
              </a:rPr>
              <a:t>higher-order noise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correct estimator can still be noisy; repeated samples produce a distribution of estimates.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Statistical error falls approximately as 1/sqrt(N)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SAMPLING</a:t>
            </a:r>
            <a:endParaRPr lang="en-US" sz="900" dirty="0"/>
          </a:p>
        </p:txBody>
      </p:sp>
      <p:pic>
        <p:nvPicPr>
          <p:cNvPr id="5" name="Image 0" descr="/mnt/data/week3_work/assets/noise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35458"/>
            <a:ext cx="6858000" cy="412424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234440"/>
            <a:ext cx="3886200" cy="1143000"/>
          </a:xfrm>
          <a:prstGeom prst="roundRect">
            <a:avLst>
              <a:gd name="adj" fmla="val 48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9.998313280375211e+106" dist="4.9991566401876055e+106" dir="7.67617776808102e+125">
              <a:srgbClr val="000000">
                <a:alpha val="1.4e+12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23444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137160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Core scaling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99832" y="1709928"/>
            <a:ext cx="3593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10x smaller standard error needs about 100x more independent samples.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635240" y="2743200"/>
            <a:ext cx="3886200" cy="1143000"/>
          </a:xfrm>
          <a:prstGeom prst="roundRect">
            <a:avLst>
              <a:gd name="adj" fmla="val 4800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2697857866076517e+111" dist="6.348928933038258e+110" dir="4.605706660848612e+130">
              <a:srgbClr val="000000">
                <a:alpha val="1.4e+13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35240" y="2743200"/>
            <a:ext cx="73152" cy="11430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9832" y="288036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Low-speed difficulty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799832" y="3218688"/>
            <a:ext cx="3593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The thermal molecular speed may be much larger than the small bulk-flow signal.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635240" y="4251960"/>
            <a:ext cx="388620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6126279489917177e+115" dist="8.063139744958588e+114" dir="2.763423996509167e+135">
              <a:srgbClr val="000000">
                <a:alpha val="1.4e+13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35240" y="425196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99832" y="438912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ML consequence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99832" y="4727448"/>
            <a:ext cx="3593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Noise creates a label-error floor that a network cannot eliminate by architecture alone.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raw number of stored samples is not always the effective number of independent samples.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Effective sample size is more than particle count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SAMPLING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0480374952194813e+119" dist="1.0240187476097407e+119" dir="1.6580543979055002e+140">
              <a:srgbClr val="000000">
                <a:alpha val="1.3999999999999999e+14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371600"/>
            <a:ext cx="73152" cy="15544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508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Particles per cell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8952" y="1847088"/>
            <a:ext cx="304495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More simultaneous observations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37160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6010076189287412e+123" dist="1.3005038094643706e+123" dir="9.948326387433002e+144">
              <a:srgbClr val="000000">
                <a:alpha val="1.4e+14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371600"/>
            <a:ext cx="73152" cy="155448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508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Number of cells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1847088"/>
            <a:ext cx="304495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Spatial resolution and local count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137160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303279676039501e+127" dist="1.6516398380197506e+127" dir="5.968995832459801e+149">
              <a:srgbClr val="000000">
                <a:alpha val="1.4e+15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371600"/>
            <a:ext cx="73152" cy="15544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1508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Sampling duration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48472" y="1847088"/>
            <a:ext cx="304495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More time observations after transients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514600" y="379476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195165188570166e+131" dist="2.097582594285083e+131" dir="3.581397499475881e+154">
              <a:srgbClr val="000000">
                <a:alpha val="1.4e+15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14600" y="3794760"/>
            <a:ext cx="73152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9192" y="393192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Sampling correlation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679192" y="4270248"/>
            <a:ext cx="304495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Reduces independent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379476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.327859789484111e+135" dist="2.6639298947420556e+135" dir="2.1488384996855287e+159">
              <a:srgbClr val="000000">
                <a:alpha val="1.4e+164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3794760"/>
            <a:ext cx="73152" cy="155448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93192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Repeated random seeds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73952" y="4270248"/>
            <a:ext cx="304495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Estimates run-to-run uncertainty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Long averaging helps only after the transient has decayed and only when the samples add new information.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Noise is not the only data-quality problem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SAMPLING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5257800" cy="3611880"/>
          </a:xfrm>
          <a:prstGeom prst="roundRect">
            <a:avLst>
              <a:gd name="adj" fmla="val 1519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6.766381932644821e+139" dist="3.3831909663224106e+139" dir="1.2893030998113172e+164">
              <a:srgbClr val="000000">
                <a:alpha val="1.4e+16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325880"/>
            <a:ext cx="73152" cy="36118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46304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</a:rPr>
              <a:t>Variance / statistical noise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50392" y="1801368"/>
            <a:ext cx="4965192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Reduced by more particles, longer averaging, multiple seeds, and appropriate estimators.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Visible symptom: rough fields and seed-to-seed scatter.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257800" cy="3611880"/>
          </a:xfrm>
          <a:prstGeom prst="roundRect">
            <a:avLst>
              <a:gd name="adj" fmla="val 1519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8.593305054458923e+143" dist="4.296652527229462e+143" dir="7.735818598867904e+168">
              <a:srgbClr val="000000">
                <a:alpha val="1.4000000000000002e+1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325880"/>
            <a:ext cx="73152" cy="36118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46304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</a:rPr>
              <a:t>Bias / numerical or model error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28232" y="1801368"/>
            <a:ext cx="4965192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Caused by cells that are too large, time steps that are too large, incorrect boundaries, an unsuitable collision model, or unresolved gradients.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Averaging does not remove 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87568" y="2651760"/>
            <a:ext cx="502920" cy="640080"/>
          </a:xfrm>
          <a:prstGeom prst="chevron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smooth, converged average can still be systematically wrong. Independence and validation remain essential.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Near a wall, the distribution need not be Maxwellian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NON-EQUILIBRIUM</a:t>
            </a:r>
            <a:endParaRPr lang="en-US" sz="900" dirty="0"/>
          </a:p>
        </p:txBody>
      </p:sp>
      <p:pic>
        <p:nvPicPr>
          <p:cNvPr id="5" name="Image 0" descr="/mnt/data/week3_work/assets/near_wall_non_equilibr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91723"/>
            <a:ext cx="6812280" cy="392027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23444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0913497419162833e+148" dist="5.4567487095814166e+147" dir="4.6414911593207425e+173">
              <a:srgbClr val="000000">
                <a:alpha val="1.4000000000000003e+17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0" y="1234440"/>
            <a:ext cx="73152" cy="10515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54112" y="137160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Incoming population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54112" y="1709928"/>
            <a:ext cx="373075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Carries information from the gas toward the wall.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589520" y="25603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38601417223368e+152" dist="6.9300708611684e+151" dir="2.7848946955924455e+178">
              <a:srgbClr val="000000">
                <a:alpha val="1.4000000000000003e+18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589520" y="2560320"/>
            <a:ext cx="73152" cy="105156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54112" y="269748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Outgoing population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754112" y="3035808"/>
            <a:ext cx="373075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Carries the wall temperature, velocity, and reflection model.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589520" y="38862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7602379987367734e+156" dist="8.801189993683867e+155" dir="1.6709368173554673e+183">
              <a:srgbClr val="000000">
                <a:alpha val="1.4000000000000003e+18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0" y="3886200"/>
            <a:ext cx="73152" cy="10515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54112" y="402336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Macroscopic signatures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754112" y="4361688"/>
            <a:ext cx="373075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Velocity slip, temperature jump, Knudsen layers, and anisotropic stress/heat flux.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Wall conditions are not a minor implementation detail; they directly shape the kinetic distribution and therefore the training data.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The Boltzmann equation: transport plus collisions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BOLTZMANN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520" y="1276917"/>
            <a:ext cx="6492240" cy="92088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2514600"/>
            <a:ext cx="3337560" cy="2057400"/>
          </a:xfrm>
          <a:prstGeom prst="roundRect">
            <a:avLst>
              <a:gd name="adj" fmla="val 2667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235502258395702e+160" dist="1.117751129197851e+160" dir="1.0025620904132804e+188">
              <a:srgbClr val="000000">
                <a:alpha val="1.4000000000000002e+194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5800" y="2514600"/>
            <a:ext cx="73152" cy="20574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0392" y="2651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Left side: transport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0392" y="2990088"/>
            <a:ext cx="304495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B36"/>
                </a:solidFill>
              </a:rPr>
              <a:t>Molecules move through physical space and, if forces exist, through velocity space.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34840" y="2514600"/>
            <a:ext cx="3337560" cy="2057400"/>
          </a:xfrm>
          <a:prstGeom prst="roundRect">
            <a:avLst>
              <a:gd name="adj" fmla="val 2667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8390878681625417e+164" dist="1.4195439340812709e+164" dir="6.015372542479682e+192">
              <a:srgbClr val="000000">
                <a:alpha val="1.4000000000000003e+19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34840" y="2514600"/>
            <a:ext cx="73152" cy="2057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9432" y="26517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Right side: collisions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99432" y="2990088"/>
            <a:ext cx="304495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B36"/>
                </a:solidFill>
              </a:rPr>
              <a:t>The nonlinear collision operator redistributes molecular velocities while preserving collision invariants.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83880" y="1234440"/>
            <a:ext cx="3383280" cy="3337560"/>
          </a:xfrm>
          <a:prstGeom prst="roundRect">
            <a:avLst>
              <a:gd name="adj" fmla="val 1644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605641592566428e+168" dist="1.802820796283214e+168" dir="3.6092235254878095e+197">
              <a:srgbClr val="000000">
                <a:alpha val="1.4000000000000004e+204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83880" y="1234440"/>
            <a:ext cx="73152" cy="333756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48472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Why we care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348472" y="1709928"/>
            <a:ext cx="3090672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B36"/>
                </a:solidFill>
              </a:rPr>
              <a:t>The equation contains the complete kinetic state, and its moments recover continuum quantities.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B36"/>
                </a:solidFill>
              </a:rPr>
              <a:t>But direct solution is expensive - especially for many parameter cases needed by AI.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DSMC is a stochastic particle method designed to reproduce the Boltzmann dynamics of dilute gases.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Why the Boltzmann equation is difficult to solve directly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BOLTZMANN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579164822559364e+172" dist="2.289582411279682e+172" dir="2.1655341152926858e+202">
              <a:srgbClr val="000000">
                <a:alpha val="1.4000000000000004e+20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325880"/>
            <a:ext cx="73152" cy="15087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High dimension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8952" y="180136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3 physical + 3 velocity coordinates + time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32588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.815539324650392e+176" dist="2.907769662325196e+176" dir="1.2993204691756116e+207">
              <a:srgbClr val="000000">
                <a:alpha val="1.4000000000000004e+21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325880"/>
            <a:ext cx="73152" cy="150876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Nonlinear collision integral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180136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Pre- and post-collision states are coupled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7.385734942305998e+180" dist="3.692867471152999e+180" dir="7.795922815053669e+211">
              <a:srgbClr val="000000">
                <a:alpha val="1.4000000000000004e+21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325880"/>
            <a:ext cx="73152" cy="15087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1463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Boundary physics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48472" y="180136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Diffuse/specular reflection and accommodation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9.379883376728618e+184" dist="4.689941688364309e+184" dir="4.677553689032201e+216">
              <a:srgbClr val="000000">
                <a:alpha val="1.4000000000000005e+22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3291840"/>
            <a:ext cx="73152" cy="150876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Multi-scale structure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58952" y="376732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Bulk flow, Knudsen layers, shocks, corners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89120" y="329184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1912451888445345e+189" dist="5.956225944222673e+188" dir="2.806532213419321e+221">
              <a:srgbClr val="000000">
                <a:alpha val="1.4000000000000004e+22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89120" y="3291840"/>
            <a:ext cx="73152" cy="150876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Large parametric cost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53712" y="376732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Many Kn, wall, geometry, and gas cases for design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0" y="329184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5128813898325588e+193" dist="7.564406949162794e+192" dir="1.6839193280515925e+226">
              <a:srgbClr val="000000">
                <a:alpha val="1.4000000000000004e+234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83880" y="3291840"/>
            <a:ext cx="73152" cy="15087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4847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AI opportunity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348472" y="3767328"/>
            <a:ext cx="3044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Learn mappings only after solver data are validated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high cost of repeated kinetic solutions motivates surrogates; the high complexity also makes extrapolation dangerous.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DSMC separates molecular movement and collisions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9213593650873497e+197" dist="9.606796825436748e+196" dir="1.0103515968309554e+231">
              <a:srgbClr val="000000">
                <a:alpha val="1.4000000000000005e+23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234440"/>
            <a:ext cx="73152" cy="3429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7160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</a:rPr>
              <a:t>Transport substep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50392" y="1709928"/>
            <a:ext cx="4553712" cy="2834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Particles move ballistically during a short time interval. Wall crossings are processed with a gas-surface model.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629400" y="123444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440126393660934e+201" dist="1.220063196830467e+201" dir="6.062109580985733e+235">
              <a:srgbClr val="000000">
                <a:alpha val="1.4000000000000006e+2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234440"/>
            <a:ext cx="73152" cy="3429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137160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</a:rPr>
              <a:t>Collision substep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793992" y="1709928"/>
            <a:ext cx="4553712" cy="2834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Pairs are selected locally inside cells and their velocities are updated stochastically.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650992" y="2514600"/>
            <a:ext cx="777240" cy="713232"/>
          </a:xfrm>
          <a:prstGeom prst="chevron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4983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repeat for many time steps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time step must be short enough that the split transport/collision picture remains accurate.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The DSMC cycle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33272" y="1325880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0989605199493864e+205" dist="1.5494802599746932e+205" dir="3.63726574859144e+240">
              <a:srgbClr val="000000">
                <a:alpha val="1.4000000000000005e+24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874520"/>
            <a:ext cx="73152" cy="23317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Initialize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x, c, species, weight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112264" y="2697480"/>
            <a:ext cx="237744" cy="438912"/>
          </a:xfrm>
          <a:prstGeom prst="chevron">
            <a:avLst/>
          </a:prstGeom>
          <a:solidFill>
            <a:srgbClr val="B5C2CA"/>
          </a:solidFill>
          <a:ln w="12700">
            <a:solidFill>
              <a:srgbClr val="B5C2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1325880"/>
            <a:ext cx="420624" cy="42062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59152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9356798603357206e+209" dist="1.9678399301678603e+209" dir="2.182359449154864e+245">
              <a:srgbClr val="000000">
                <a:alpha val="1.4000000000000004e+25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359152" y="1874520"/>
            <a:ext cx="73152" cy="23317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23744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Move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523744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x &lt;- x + c dt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059936" y="2697480"/>
            <a:ext cx="237744" cy="438912"/>
          </a:xfrm>
          <a:prstGeom prst="chevron">
            <a:avLst/>
          </a:prstGeom>
          <a:solidFill>
            <a:srgbClr val="B5C2CA"/>
          </a:solidFill>
          <a:ln w="12700">
            <a:solidFill>
              <a:srgbClr val="B5C2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28616" y="1325880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06824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9983134226263654e+213" dist="2.4991567113131827e+213" dir="1.3094156694929184e+250">
              <a:srgbClr val="000000">
                <a:alpha val="1.4000000000000004e+25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06824" y="1874520"/>
            <a:ext cx="73152" cy="23317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1416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Walls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71416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reflect / re-emit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007608" y="2697480"/>
            <a:ext cx="237744" cy="438912"/>
          </a:xfrm>
          <a:prstGeom prst="chevron">
            <a:avLst/>
          </a:prstGeom>
          <a:solidFill>
            <a:srgbClr val="B5C2CA"/>
          </a:solidFill>
          <a:ln w="12700">
            <a:solidFill>
              <a:srgbClr val="B5C2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76288" y="132588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4496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6.347858046735484e+217" dist="3.173929023367742e+217" dir="7.85649401695751e+254">
              <a:srgbClr val="000000">
                <a:alpha val="1.4000000000000004e+26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54496" y="1874520"/>
            <a:ext cx="73152" cy="233172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19088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Index cells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19088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local collision neighborhoods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55280" y="2697480"/>
            <a:ext cx="237744" cy="438912"/>
          </a:xfrm>
          <a:prstGeom prst="chevron">
            <a:avLst/>
          </a:prstGeom>
          <a:solidFill>
            <a:srgbClr val="B5C2CA"/>
          </a:solidFill>
          <a:ln w="12700">
            <a:solidFill>
              <a:srgbClr val="B5C2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23960" y="1325880"/>
            <a:ext cx="420624" cy="420624"/>
          </a:xfrm>
          <a:prstGeom prst="ellipse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23960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02168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8.061779719354066e+221" dist="4.030889859677033e+221" dir="4.713896410174506e+259">
              <a:srgbClr val="000000">
                <a:alpha val="1.4000000000000005e+269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02168" y="1874520"/>
            <a:ext cx="73152" cy="233172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66760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Collide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66760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select pairs + update c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902952" y="2697480"/>
            <a:ext cx="237744" cy="438912"/>
          </a:xfrm>
          <a:prstGeom prst="chevron">
            <a:avLst/>
          </a:prstGeom>
          <a:solidFill>
            <a:srgbClr val="B5C2CA"/>
          </a:solidFill>
          <a:ln w="12700">
            <a:solidFill>
              <a:srgbClr val="B5C2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71632" y="1325880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71632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0149840" y="1874520"/>
            <a:ext cx="1673352" cy="2331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0238460243579663e+226" dist="5.1192301217898315e+225" dir="2.8283378461047036e+264">
              <a:srgbClr val="000000">
                <a:alpha val="1.4000000000000004e+274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0149840" y="1874520"/>
            <a:ext cx="73152" cy="23317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14432" y="20116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Sample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314432" y="2350008"/>
            <a:ext cx="1380744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average particle moments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14400" y="4343400"/>
            <a:ext cx="10012680" cy="100584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2377440" y="4983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Continue until transients decay and the desired statistical precision is reached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Week-3 notebook exposes every stage; the later Project-1 code adds VHS, NTC, GPU acceleration, validation, and independence studies.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Step 1 - initialize representative particles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pic>
        <p:nvPicPr>
          <p:cNvPr id="5" name="Image 0" descr="/mnt/data/week3_work/assets/molecular_velocity_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85068"/>
            <a:ext cx="5166360" cy="37335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0" y="123444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3002844509346172e+230" dist="6.501422254673086e+229" dir="1.6970027076628222e+269">
              <a:srgbClr val="000000">
                <a:alpha val="1.4000000000000004e+279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0" y="1234440"/>
            <a:ext cx="73152" cy="10515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08192" y="137160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Positions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08192" y="1709928"/>
            <a:ext cx="514807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Usually sampled throughout the physical domain according to the initial density.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0" y="256032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6513612526869638e+234" dist="8.256806263434819e+233" dir="1.0182016245976934e+274">
              <a:srgbClr val="000000">
                <a:alpha val="1.4000000000000003e+28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43600" y="2560320"/>
            <a:ext cx="73152" cy="105156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08192" y="269748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Velocities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108192" y="3035808"/>
            <a:ext cx="514807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Sampled from a Maxwellian or another prescribed distribution.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43600" y="388620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097228790912444e+238" dist="1.048614395456222e+238" dir="6.10920974758616e+278">
              <a:srgbClr val="000000">
                <a:alpha val="1.4000000000000004e+28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43600" y="3886200"/>
            <a:ext cx="73152" cy="105156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08192" y="402336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Statistical weight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08192" y="4361688"/>
            <a:ext cx="514807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One simulated particle represents many real molecules.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DSMC tracks representative particles, not every physical molecule.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Step 2 - move particles and apply wall physics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4937760" cy="4206240"/>
          </a:xfrm>
          <a:prstGeom prst="rect">
            <a:avLst/>
          </a:prstGeom>
          <a:solidFill>
            <a:srgbClr val="F4F7F9"/>
          </a:solidFill>
          <a:ln w="2540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1170432"/>
            <a:ext cx="347472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196596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</a:rPr>
              <a:t>moving diffuse lid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07008" y="1847088"/>
            <a:ext cx="146304" cy="14630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920240"/>
            <a:ext cx="685800" cy="-457200"/>
          </a:xfrm>
          <a:prstGeom prst="line">
            <a:avLst/>
          </a:prstGeom>
          <a:noFill/>
          <a:ln w="19050">
            <a:solidFill>
              <a:srgbClr val="17365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847088" y="4315968"/>
            <a:ext cx="146304" cy="14630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20240" y="4389120"/>
            <a:ext cx="502920" cy="457200"/>
          </a:xfrm>
          <a:prstGeom prst="line">
            <a:avLst/>
          </a:prstGeom>
          <a:noFill/>
          <a:ln w="19050">
            <a:solidFill>
              <a:srgbClr val="17365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44368" y="2852928"/>
            <a:ext cx="146304" cy="14630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2926080"/>
            <a:ext cx="777240" cy="-594360"/>
          </a:xfrm>
          <a:prstGeom prst="line">
            <a:avLst/>
          </a:prstGeom>
          <a:noFill/>
          <a:ln w="19050">
            <a:solidFill>
              <a:srgbClr val="17365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407408" y="4224528"/>
            <a:ext cx="146304" cy="14630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0560" y="4297680"/>
            <a:ext cx="502920" cy="-640080"/>
          </a:xfrm>
          <a:prstGeom prst="line">
            <a:avLst/>
          </a:prstGeom>
          <a:noFill/>
          <a:ln w="19050">
            <a:solidFill>
              <a:srgbClr val="17365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98848" y="1755648"/>
            <a:ext cx="146304" cy="14630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828800"/>
            <a:ext cx="-594360" cy="-411480"/>
          </a:xfrm>
          <a:prstGeom prst="line">
            <a:avLst/>
          </a:prstGeom>
          <a:noFill/>
          <a:ln w="19050">
            <a:solidFill>
              <a:srgbClr val="17365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80760" y="123444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663480564458804e+242" dist="1.331740282229402e+242" dir="3.6655258485516963e+283">
              <a:srgbClr val="000000">
                <a:alpha val="1.4000000000000005e+294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45352" y="137160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Ballistic move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245352" y="1709928"/>
            <a:ext cx="4965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Update positions with the current molecular velocity during dt.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80760" y="269748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3826203168626813e+246" dist="1.6913101584313407e+246" dir="2.1993155091310177e+288">
              <a:srgbClr val="000000">
                <a:alpha val="1.4000000000000004e+299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80760" y="269748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5352" y="283464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Diffuse reflection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245352" y="3172968"/>
            <a:ext cx="4965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Re-emitted velocity is sampled from the wall temperature and wall velocity.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80760" y="416052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295927802415605e+250" dist="2.1479639012078026e+250" dir="1.3195893054786106e+293">
              <a:srgbClr val="000000">
                <a:alpha val="1.4000000000000003e+304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4160520"/>
            <a:ext cx="73152" cy="11430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45352" y="429768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Kinetic consequence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245352" y="4636008"/>
            <a:ext cx="4965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B36"/>
                </a:solidFill>
              </a:rPr>
              <a:t>The top lid injects tangential momentum; stationary walls remove or redistribute it.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Gas-surface interaction parameters are physics inputs and should later be retained as ML features or metadata.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Step 3 - collision cells enforce locality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475488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8280" y="1234440"/>
            <a:ext cx="0" cy="438912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70760" y="1234440"/>
            <a:ext cx="0" cy="438912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63240" y="1234440"/>
            <a:ext cx="0" cy="438912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5720" y="1234440"/>
            <a:ext cx="0" cy="438912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8200" y="1234440"/>
            <a:ext cx="0" cy="438912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112264"/>
            <a:ext cx="475488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2990088"/>
            <a:ext cx="475488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867912"/>
            <a:ext cx="475488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745736"/>
            <a:ext cx="4754880" cy="0"/>
          </a:xfrm>
          <a:prstGeom prst="line">
            <a:avLst/>
          </a:prstGeom>
          <a:noFill/>
          <a:ln w="12700">
            <a:solidFill>
              <a:srgbClr val="D7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63240" y="2990088"/>
            <a:ext cx="795528" cy="877824"/>
          </a:xfrm>
          <a:prstGeom prst="rect">
            <a:avLst/>
          </a:prstGeom>
          <a:solidFill>
            <a:srgbClr val="DDF4F5"/>
          </a:solidFill>
          <a:ln w="25400">
            <a:solidFill>
              <a:srgbClr val="00A6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46120" y="3200400"/>
            <a:ext cx="100584" cy="1005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429000"/>
            <a:ext cx="100584" cy="1005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3657600"/>
            <a:ext cx="100584" cy="1005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3154680"/>
            <a:ext cx="100584" cy="1005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5257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6B2"/>
                </a:solidFill>
              </a:rPr>
              <a:t>candidate pairs are local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06440" y="1234440"/>
            <a:ext cx="553212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.455828309067819e+254" dist="2.7279141545339093e+254" dir="7.917535832871664e+297">
              <a:srgbClr val="000000">
                <a:alpha val="Infinity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06440" y="123444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1032" y="1371600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Cell-size criterion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971032" y="1709928"/>
            <a:ext cx="523951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Cells should generally resolve the mean free path and important gradients.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38720" y="2606040"/>
            <a:ext cx="2113280" cy="594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5806440" y="352044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6.928901952516129e+258" dist="3.4644509762580647e+258" dir="4.750521499722998e+302">
              <a:srgbClr val="000000">
                <a:alpha val="Infinity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806440" y="3520440"/>
            <a:ext cx="73152" cy="123444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71032" y="3657600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</a:rPr>
              <a:t>Why it matters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971032" y="3995928"/>
            <a:ext cx="523951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If a cell is too large, particles that are far apart may be treated as collision partners, creating nonlocal bias.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At low Kn, resolving the small mean free path makes DSMC expensive - one reason AI acceleration is attractive.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Step 4 - stochastic collisions preserve invariants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4709160" cy="4297680"/>
          </a:xfrm>
          <a:prstGeom prst="roundRect">
            <a:avLst>
              <a:gd name="adj" fmla="val 1277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234440"/>
            <a:ext cx="73152" cy="42976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7160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Before collision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554480" y="2971800"/>
            <a:ext cx="274320" cy="274320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2971800"/>
            <a:ext cx="274320" cy="2743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91640" y="3108960"/>
            <a:ext cx="1234440" cy="-777240"/>
          </a:xfrm>
          <a:prstGeom prst="line">
            <a:avLst/>
          </a:prstGeom>
          <a:noFill/>
          <a:ln w="38100">
            <a:solidFill>
              <a:srgbClr val="00A6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89120" y="3108960"/>
            <a:ext cx="-1143000" cy="685800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423160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B2"/>
                </a:solidFill>
              </a:rPr>
              <a:t>v1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3840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v2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532120" y="2743200"/>
            <a:ext cx="1005840" cy="685800"/>
          </a:xfrm>
          <a:prstGeom prst="chevron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0" y="1234440"/>
            <a:ext cx="4709160" cy="4297680"/>
          </a:xfrm>
          <a:prstGeom prst="roundRect">
            <a:avLst>
              <a:gd name="adj" fmla="val 1277"/>
            </a:avLst>
          </a:prstGeom>
          <a:solidFill>
            <a:srgbClr val="F4F7F9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234440"/>
            <a:ext cx="73152" cy="42976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31152" y="137160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After accepted collision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35240" y="2971800"/>
            <a:ext cx="274320" cy="274320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0" y="2971800"/>
            <a:ext cx="274320" cy="2743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3108960"/>
            <a:ext cx="914400" cy="868680"/>
          </a:xfrm>
          <a:prstGeom prst="line">
            <a:avLst/>
          </a:prstGeom>
          <a:noFill/>
          <a:ln w="38100">
            <a:solidFill>
              <a:srgbClr val="00A6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469880" y="3108960"/>
            <a:ext cx="-960120" cy="-868680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818120" y="4617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</a:rPr>
              <a:t>randomized relative direction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</a:rPr>
              <a:t>pair momentum conserved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80360" y="4709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</a:rPr>
              <a:t>pair kinetic energy conserved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Week-3 teaching model uses a simplified local elastic-pair rule; Project 1 uses VHS collision rates and No-Time-Counter selection.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Step 5 - sample, average, and attach uncertainty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DSMC ALGORITHM</a:t>
            </a:r>
            <a:endParaRPr lang="en-US" sz="900" dirty="0"/>
          </a:p>
        </p:txBody>
      </p:sp>
      <p:pic>
        <p:nvPicPr>
          <p:cNvPr id="5" name="Image 0" descr="/mnt/data/week3_work/assets/mini_cavity_short_vs_be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3857"/>
            <a:ext cx="7726680" cy="394456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23444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8.799705479695485e+262" dist="4.3998527398477425e+262" dir="2.850312899833799e+307">
              <a:srgbClr val="000000">
                <a:alpha val="Infinity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66760" y="1234440"/>
            <a:ext cx="73152" cy="10972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31352" y="137160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Instantaneous field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531352" y="1709928"/>
            <a:ext cx="29535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Very noisy because each cell has a finite particle population.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366760" y="265176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1175625959213265e+267" dist="5.587812979606632e+266" dir="Infinity">
              <a:srgbClr val="000000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366760" y="2651760"/>
            <a:ext cx="73152" cy="10972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31352" y="2788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Time-averaged field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31352" y="3127248"/>
            <a:ext cx="29535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Lower variance after transients, if samples add independent information.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366760" y="406908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4193044968200846e+271" dist="7.096522484100423e+270" dir="Infinity">
              <a:srgbClr val="000000">
                <a:alpha val="Infinity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66760" y="4069080"/>
            <a:ext cx="73152" cy="10972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1352" y="42062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Dataset record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531352" y="4544568"/>
            <a:ext cx="29535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B36"/>
                </a:solidFill>
              </a:rPr>
              <a:t>Store mean values plus PPC, number of samples, seed, grid, dt, and model settings.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Never hide unsmoothed data or omit the sampling settings used to produce a “clean” contour.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DSMC accuracy criteria become AI data-quality criteria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DATA QUALITY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8025167109615074e+275" dist="9.012583554807537e+274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73152" cy="16002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3716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Cell size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099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Resolve mean free path and gradients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dx/lambda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2344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2891962229211143e+279" dist="1.1445981114605571e+279" dir="Infinity">
              <a:srgbClr val="000000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234440"/>
            <a:ext cx="73152" cy="16002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3716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Time 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53712" y="17099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Resolve collision and transport time scales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dt/tau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12344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2.9072792031098153e+283" dist="1.4536396015549076e+283" dir="Infinity">
              <a:srgbClr val="000000">
                <a:alpha val="Infinity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234440"/>
            <a:ext cx="73152" cy="16002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13716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Particles/cell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48472" y="17099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Control local estimator variance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PPC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3.6922445879494656e+287" dist="1.8461222939747328e+287" dir="Infinity">
              <a:srgbClr val="000000">
                <a:alpha val="Infinity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Transient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8952" y="37673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Do not average the startup response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sample_start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89120" y="32918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4.6891506266958215e+291" dist="2.3445753133479108e+291" dir="Infinity">
              <a:srgbClr val="000000">
                <a:alpha val="Infinity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89120" y="3291840"/>
            <a:ext cx="73152" cy="160020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Sampling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53712" y="37673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Use a sufficient averaging window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N samples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0" y="329184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5.955221295903693e+295" dist="2.9776106479518466e+295" dir="Infinity">
              <a:srgbClr val="000000">
                <a:alpha val="Infinity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83880" y="3291840"/>
            <a:ext cx="73152" cy="16002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48472" y="342900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Seeds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48472" y="3767328"/>
            <a:ext cx="304495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Measure stochastic repeatability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Diagnostic: seed spread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polished neural-network prediction cannot be more trustworthy than the simulation data and metadata used to train 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Revisit the cavity: Week 1 and Week 3 side by side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CAVITY STORY</a:t>
            </a:r>
            <a:endParaRPr lang="en-US" sz="900" dirty="0"/>
          </a:p>
        </p:txBody>
      </p:sp>
      <p:pic>
        <p:nvPicPr>
          <p:cNvPr id="5" name="Image 0" descr="/mnt/data/week3_work/assets/continuum_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20002"/>
            <a:ext cx="5120640" cy="4463716"/>
          </a:xfrm>
          <a:prstGeom prst="rect">
            <a:avLst/>
          </a:prstGeom>
        </p:spPr>
      </p:pic>
      <p:pic>
        <p:nvPicPr>
          <p:cNvPr id="6" name="Image 1" descr="/mnt/data/week3_work/assets/mini_cavity_fiel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0338"/>
            <a:ext cx="5806440" cy="18630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5532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</a:rPr>
              <a:t>Continuum CFD: smooth deterministic field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644652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6B2"/>
                </a:solidFill>
              </a:rPr>
              <a:t>Mini molecular model: averaged but noisy field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Same lid-driven mechanism, but molecular wall slip, stochastic sampling, and kinetic validity now enter the interpretation.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What should a rarefied molecular cavity reveal?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CAVITY PHYSICS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7.56313104579769e+299" dist="3.781565522898845e+299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73152" cy="123444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Velocity slip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099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Gas adjacent to the moving lid does not exactly match the wall speed.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2344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9.605176428163068e+303" dist="4.802588214081534e+303" dir="Infinity">
              <a:srgbClr val="000000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234440"/>
            <a:ext cx="73152" cy="12344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Temperature jump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82512" y="17099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Gas temperature next to a wall can differ from wall temperature.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28346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1.2198574063767096e+308" dist="6.099287031883548e+307" dir="Infinity">
              <a:srgbClr val="000000">
                <a:alpha val="Infinity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2834640"/>
            <a:ext cx="73152" cy="12344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9718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Primary recirculation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58952" y="33101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Lid momentum is transferred through collisions and wall interactions.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28346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9718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Corner non-equilibrium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82512" y="33101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Incoming and wall-emitted populations can be strongly different.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94360" y="44348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4434840"/>
            <a:ext cx="73152" cy="123444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" y="45720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Kn-dependent structure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8952" y="49103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Vortex location, slip, and thermal fields change with rarefaction.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17920" y="44348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4434840"/>
            <a:ext cx="73152" cy="123444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45720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Statistical noise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82512" y="49103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Small signals require particles, time averaging, and repeatability checks.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plausible vortex picture is not sufficient validation; students must separate physical trend, sampling noise, and model limitations.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Week 3 uses a mini cavity - deliberately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LAB 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212080" cy="4251960"/>
          </a:xfrm>
          <a:prstGeom prst="roundRect">
            <a:avLst>
              <a:gd name="adj" fmla="val 129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234440"/>
            <a:ext cx="73152" cy="425196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</a:rPr>
              <a:t>Required this week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50392" y="1709928"/>
            <a:ext cx="4919472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Run a fast CPU teaching model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Trace move, walls, cells, collisions, sampling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Compare short and better averaging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Export one ML-ready table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Explain limitations honestly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212080" cy="4251960"/>
          </a:xfrm>
          <a:prstGeom prst="roundRect">
            <a:avLst>
              <a:gd name="adj" fmla="val 129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234440"/>
            <a:ext cx="73152" cy="425196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</a:rPr>
              <a:t>Reserved for Project 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28232" y="1709928"/>
            <a:ext cx="4919472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GPU VHS + NTC solver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Paper validation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Grid, PPC, dt, and sampling independence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Multiple Kn cases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E2B36"/>
                </a:solidFill>
              </a:rPr>
              <a:t>• Vortex-Kn trends and final dataset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This scope keeps Week 3 conceptually strong without turning one weekly exercise into the full research project.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A DSMC field becomes a supervised-learning table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AI BRIDGE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676656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34440"/>
            <a:ext cx="73152" cy="43891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371600"/>
            <a:ext cx="6473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One row = one grid location in one validated case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783080"/>
            <a:ext cx="777240" cy="5029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log10 Kn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1645920" y="1783080"/>
            <a:ext cx="914400" cy="5029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Uwall/c_th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560320" y="1783080"/>
            <a:ext cx="594360" cy="5029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x/L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3154680" y="1783080"/>
            <a:ext cx="594360" cy="502920"/>
          </a:xfrm>
          <a:prstGeom prst="rect">
            <a:avLst/>
          </a:prstGeom>
          <a:solidFill>
            <a:srgbClr val="173650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y/L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3749040" y="1783080"/>
            <a:ext cx="731520" cy="502920"/>
          </a:xfrm>
          <a:prstGeom prst="rect">
            <a:avLst/>
          </a:prstGeom>
          <a:solidFill>
            <a:srgbClr val="00A6B2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rho/rho0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4480560" y="1783080"/>
            <a:ext cx="731520" cy="502920"/>
          </a:xfrm>
          <a:prstGeom prst="rect">
            <a:avLst/>
          </a:prstGeom>
          <a:solidFill>
            <a:srgbClr val="00A6B2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u/Uwall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5212080" y="1783080"/>
            <a:ext cx="731520" cy="502920"/>
          </a:xfrm>
          <a:prstGeom prst="rect">
            <a:avLst/>
          </a:prstGeom>
          <a:solidFill>
            <a:srgbClr val="00A6B2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v/Uwall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5943600" y="1783080"/>
            <a:ext cx="685800" cy="502920"/>
          </a:xfrm>
          <a:prstGeom prst="rect">
            <a:avLst/>
          </a:prstGeom>
          <a:solidFill>
            <a:srgbClr val="00A6B2"/>
          </a:solidFill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T/T0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868680" y="2331720"/>
            <a:ext cx="77724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-1.0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2331720"/>
            <a:ext cx="91440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0.38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60320" y="2331720"/>
            <a:ext cx="59436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0.025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154680" y="2331720"/>
            <a:ext cx="59436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0.025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49040" y="233172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1.02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233172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-0.04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12080" y="233172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0.01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0" y="2331720"/>
            <a:ext cx="68580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0.98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68680" y="2926080"/>
            <a:ext cx="77724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-1.0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645920" y="2926080"/>
            <a:ext cx="91440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0.38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560320" y="2926080"/>
            <a:ext cx="59436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0.075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154680" y="2926080"/>
            <a:ext cx="59436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0.025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749040" y="2926080"/>
            <a:ext cx="73152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1.01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80560" y="2926080"/>
            <a:ext cx="73152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-0.03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12080" y="2926080"/>
            <a:ext cx="73152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0.02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0" y="2926080"/>
            <a:ext cx="68580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0.99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68680" y="3520440"/>
            <a:ext cx="77724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45920" y="3520440"/>
            <a:ext cx="91440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560320" y="3520440"/>
            <a:ext cx="59436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154680" y="3520440"/>
            <a:ext cx="59436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749040" y="352044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480560" y="352044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520440"/>
            <a:ext cx="73152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43600" y="3520440"/>
            <a:ext cx="685800" cy="475488"/>
          </a:xfrm>
          <a:prstGeom prst="rect">
            <a:avLst/>
          </a:prstGeom>
          <a:solidFill>
            <a:srgbClr val="F4F7F9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36"/>
                </a:solidFill>
              </a:rPr>
              <a:t>...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97280" y="4389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650"/>
                </a:solidFill>
              </a:rPr>
              <a:t>features / coordinates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754880" y="4389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6B2"/>
                </a:solidFill>
              </a:rPr>
              <a:t>targets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635240" y="1234440"/>
            <a:ext cx="3931920" cy="1143000"/>
          </a:xfrm>
          <a:prstGeom prst="roundRect">
            <a:avLst>
              <a:gd name="adj" fmla="val 48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635240" y="123444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99832" y="137160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Pointwise surrogate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7799832" y="1709928"/>
            <a:ext cx="363931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Inputs: log Kn, wall conditions, x/L, y/L. Outputs: rho, u, v, T.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635240" y="2743200"/>
            <a:ext cx="3931920" cy="1143000"/>
          </a:xfrm>
          <a:prstGeom prst="roundRect">
            <a:avLst>
              <a:gd name="adj" fmla="val 48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635240" y="274320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99832" y="288036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Case-level surrogate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799832" y="3218688"/>
            <a:ext cx="363931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Inputs: Kn and wall parameters. Outputs: vortex center or integrated quantities.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635240" y="4251960"/>
            <a:ext cx="3931920" cy="1143000"/>
          </a:xfrm>
          <a:prstGeom prst="roundRect">
            <a:avLst>
              <a:gd name="adj" fmla="val 4800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635240" y="4251960"/>
            <a:ext cx="73152" cy="11430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99832" y="438912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</a:rPr>
              <a:t>Metadata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7799832" y="4727448"/>
            <a:ext cx="363931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Grid, PPC, dt, sample count, seed, collision model, wall model, uncertainty.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Do not let the ML table erase the numerical provenance of each target value.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A network learns the labels it receives - not hidden truth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AI + NOISE</a:t>
            </a:r>
            <a:endParaRPr lang="en-US" sz="900" dirty="0"/>
          </a:p>
        </p:txBody>
      </p:sp>
      <p:pic>
        <p:nvPicPr>
          <p:cNvPr id="5" name="Image 0" descr="/mnt/data/week3_work/assets/noisy_labels_m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12141"/>
            <a:ext cx="7818120" cy="303371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58200" y="1234440"/>
            <a:ext cx="3154680" cy="1097280"/>
          </a:xfrm>
          <a:prstGeom prst="roundRect">
            <a:avLst>
              <a:gd name="adj" fmla="val 500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58200" y="1234440"/>
            <a:ext cx="73152" cy="109728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22792" y="13716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Training loss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22792" y="1709928"/>
            <a:ext cx="28620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Measures agreement with the supplied labels.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58200" y="2697480"/>
            <a:ext cx="3154680" cy="1097280"/>
          </a:xfrm>
          <a:prstGeom prst="roundRect">
            <a:avLst>
              <a:gd name="adj" fmla="val 5000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58200" y="2697480"/>
            <a:ext cx="73152" cy="10972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22792" y="283464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Source-data error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22792" y="3172968"/>
            <a:ext cx="28620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Can be statistical noise or numerical bias that the loss never sees.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58200" y="4160520"/>
            <a:ext cx="3154680" cy="1097280"/>
          </a:xfrm>
          <a:prstGeom prst="roundRect">
            <a:avLst>
              <a:gd name="adj" fmla="val 500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458200" y="4160520"/>
            <a:ext cx="73152" cy="10972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22792" y="429768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Correct response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22792" y="4636008"/>
            <a:ext cx="28620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Improve/quantify the data and validate by cases, regimes, and physics.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smooth neural curve is not evidence that the DSMC labels were converged.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How to validate an ML surrogate trained on DSMC data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AI VALIDATION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73152" cy="123444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Case-wise split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8952" y="17099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Hold out entire Kn or wall-condition cases, not random points from the same field.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6217920" y="12344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234440"/>
            <a:ext cx="73152" cy="12344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371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Regime-wise error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382512" y="17099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Report performance separately in slip, transition, and high-Kn regimes.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594360" y="28346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2834640"/>
            <a:ext cx="73152" cy="12344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9718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Wall-region checks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58952" y="33101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Evaluate slip, jump, and near-wall errors, not only global RMSE.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217920" y="28346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9718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Seed repeatability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382512" y="33101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Compare predictions with DSMC seed-to-seed uncertainty.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594360" y="44348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4434840"/>
            <a:ext cx="73152" cy="123444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" y="45720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Physical checks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8952" y="49103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Positivity, symmetry, conservation trends, sensible wall behavior.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217920" y="4434840"/>
            <a:ext cx="52120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4434840"/>
            <a:ext cx="73152" cy="123444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45720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Extrapolation test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382512" y="4910328"/>
            <a:ext cx="4919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E2B36"/>
                </a:solidFill>
              </a:rPr>
              <a:t>Deliberately evaluate outside the training Kn range and state failure.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Randomly splitting grid points from one field can produce severe leakage and falsely optimistic test error.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Week 3 is the on-ramp to Project 1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ROADMAP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08760"/>
            <a:ext cx="73152" cy="34747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Week 3 Lab 1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Maxwellian moments + noise scaling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157984" y="2788920"/>
            <a:ext cx="237744" cy="457200"/>
          </a:xfrm>
          <a:prstGeom prst="chevron">
            <a:avLst/>
          </a:prstGeom>
          <a:solidFill>
            <a:srgbClr val="B6C4CC"/>
          </a:solidFill>
          <a:ln w="12700">
            <a:solidFill>
              <a:srgbClr val="B6C4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04872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04872" y="1508760"/>
            <a:ext cx="73152" cy="34747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Week 3 Lab 2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69464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Mini cavity + ML-ready table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05656" y="2788920"/>
            <a:ext cx="237744" cy="457200"/>
          </a:xfrm>
          <a:prstGeom prst="chevron">
            <a:avLst/>
          </a:prstGeom>
          <a:solidFill>
            <a:srgbClr val="B6C4CC"/>
          </a:solidFill>
          <a:ln w="12700">
            <a:solidFill>
              <a:srgbClr val="B6C4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2544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52544" y="1508760"/>
            <a:ext cx="73152" cy="34747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7136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Project 1A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17136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GPU preflight + baseline DSMC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53328" y="2788920"/>
            <a:ext cx="237744" cy="457200"/>
          </a:xfrm>
          <a:prstGeom prst="chevron">
            <a:avLst/>
          </a:prstGeom>
          <a:solidFill>
            <a:srgbClr val="B6C4CC"/>
          </a:solidFill>
          <a:ln w="12700">
            <a:solidFill>
              <a:srgbClr val="B6C4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0216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0216" y="1508760"/>
            <a:ext cx="73152" cy="347472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4808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Project 1B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64808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Paper validation + independence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2788920"/>
            <a:ext cx="237744" cy="457200"/>
          </a:xfrm>
          <a:prstGeom prst="chevron">
            <a:avLst/>
          </a:prstGeom>
          <a:solidFill>
            <a:srgbClr val="B6C4CC"/>
          </a:solidFill>
          <a:ln w="12700">
            <a:solidFill>
              <a:srgbClr val="B6C4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47888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47888" y="1508760"/>
            <a:ext cx="73152" cy="347472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0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Project 1C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12480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Multi-Kn dataset + vortex trend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788920"/>
            <a:ext cx="237744" cy="457200"/>
          </a:xfrm>
          <a:prstGeom prst="chevron">
            <a:avLst/>
          </a:prstGeom>
          <a:solidFill>
            <a:srgbClr val="B6C4CC"/>
          </a:solidFill>
          <a:ln w="12700">
            <a:solidFill>
              <a:srgbClr val="B6C4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95560" y="1508760"/>
            <a:ext cx="1673352" cy="34747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195560" y="1508760"/>
            <a:ext cx="73152" cy="34747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0152" y="164592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Later AI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360152" y="1984248"/>
            <a:ext cx="1380744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DNN, GPR, DeepONet / operator surrogate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full project philosophy remains: physics -&gt; DSMC solver -&gt; validation -&gt; independence -&gt; dataset -&gt; AI surrogate.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Week 3 submission: exactly three files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ASSIGNMENT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77240" y="1325880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274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17320" y="1188720"/>
            <a:ext cx="99212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17320" y="1188720"/>
            <a:ext cx="73152" cy="114300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81912" y="1325880"/>
            <a:ext cx="9628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Lastname_Firstname_Week3_Lab1.ipynb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81912" y="1664208"/>
            <a:ext cx="96286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Completed Maxwellian, noise, and ML-label notebook with visible outputs.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834640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215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17320" y="2697480"/>
            <a:ext cx="99212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417320" y="2697480"/>
            <a:ext cx="73152" cy="1143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81912" y="2834640"/>
            <a:ext cx="9628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Lastname_Firstname_Week3_Lab2.ipynb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81912" y="3172968"/>
            <a:ext cx="96286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Completed mini-cavity notebook with visible outputs and exported dataset.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343400"/>
            <a:ext cx="420624" cy="42062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43026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417320" y="4206240"/>
            <a:ext cx="9921240" cy="1143000"/>
          </a:xfrm>
          <a:prstGeom prst="roundRect">
            <a:avLst>
              <a:gd name="adj" fmla="val 4800"/>
            </a:avLst>
          </a:prstGeom>
          <a:solidFill>
            <a:srgbClr val="E7F4EC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417320" y="4206240"/>
            <a:ext cx="73152" cy="11430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81912" y="4343400"/>
            <a:ext cx="9628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Lastname_Firstname_Week3_Report.pdf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81912" y="4681728"/>
            <a:ext cx="96286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One report containing every written answer, requested table, figure, and interpretation.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97280" y="5715000"/>
            <a:ext cx="10058400" cy="594360"/>
          </a:xfrm>
          <a:prstGeom prst="roundRect">
            <a:avLst>
              <a:gd name="adj" fmla="val 9231"/>
            </a:avLst>
          </a:prstGeom>
          <a:solidFill>
            <a:srgbClr val="FBE9EC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7280" y="5715000"/>
            <a:ext cx="73152" cy="5943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61872" y="5852160"/>
            <a:ext cx="9765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</a:rPr>
              <a:t>Incomplete submission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261872" y="6190488"/>
            <a:ext cx="976579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B36"/>
                </a:solidFill>
              </a:rPr>
              <a:t>Notebook only = incomplete. PDF only = incomplete. Written answers belong in the PDF; code and outputs remain in the notebooks.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What students will do this week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ASSIGNMENT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166360" cy="4389120"/>
          </a:xfrm>
          <a:prstGeom prst="roundRect">
            <a:avLst>
              <a:gd name="adj" fmla="val 1250"/>
            </a:avLst>
          </a:prstGeom>
          <a:solidFill>
            <a:srgbClr val="DDF4F5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234440"/>
            <a:ext cx="73152" cy="4389120"/>
          </a:xfrm>
          <a:prstGeom prst="rect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7160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</a:rPr>
              <a:t>Lab 1 - Maxwellian, noise, ML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50392" y="1709928"/>
            <a:ext cx="4873752" cy="3794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1. Sample argon velocities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2. Estimate U, T, p, and q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3. Repeat at several particle counts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4. Fit the error slope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5. Train the same small MLP on noisy and cleaner labels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6. Explain why low loss is not data validation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234440"/>
            <a:ext cx="5166360" cy="4389120"/>
          </a:xfrm>
          <a:prstGeom prst="roundRect">
            <a:avLst>
              <a:gd name="adj" fmla="val 1250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0000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234440"/>
            <a:ext cx="73152" cy="43891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37160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</a:rPr>
              <a:t>Lab 2 - Mini molecular cavity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73952" y="1709928"/>
            <a:ext cx="4873752" cy="3794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1. Generate the DSMC flowchart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2. Verify collision conservation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3. Run a quick case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4. Run a better-sampled case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5. Compare fields and centerline profiles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6. Export an ML-ready table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B36"/>
                </a:solidFill>
              </a:rPr>
              <a:t>7. State what the mini model cannot prove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5989320"/>
            <a:ext cx="11155680" cy="438912"/>
          </a:xfrm>
          <a:prstGeom prst="roundRect">
            <a:avLst>
              <a:gd name="adj" fmla="val 8333"/>
            </a:avLst>
          </a:prstGeom>
          <a:solidFill>
            <a:srgbClr val="FFF0DF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6108192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</a:rPr>
              <a:t>The notebooks are scaffolded and CPU-friendly; the intellectual work is interpretation, data-quality reasoning, and clear reporting.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502920"/>
            <a:ext cx="11292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</a:rPr>
              <a:t>Week 3 summary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875520" y="530352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5989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SUMMARY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420624" cy="420624"/>
          </a:xfrm>
          <a:prstGeom prst="ellipse">
            <a:avLst/>
          </a:prstGeom>
          <a:solidFill>
            <a:srgbClr val="00A6B2"/>
          </a:solidFill>
          <a:ln w="12700">
            <a:solidFill>
              <a:srgbClr val="00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213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98448" y="1225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Kinetic state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46120" y="121615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A distribution of molecular velocities, not only a few macroscopic fields.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357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139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DSMC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46120" y="213055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A stochastic approximation to dilute-gas kinetic dynamics using move, wall, cell, collision, and sampling steps.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063240"/>
            <a:ext cx="420624" cy="42062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501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98448" y="3054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Data quality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46120" y="304495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Statistical noise decreases slowly; numerical bias needs separate independence checks.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645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98448" y="39684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Cavity story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46120" y="395935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The same geometry now exposes slip, jump, wall non-equilibrium, and noisy sampling.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" y="4892040"/>
            <a:ext cx="420624" cy="420624"/>
          </a:xfrm>
          <a:prstGeom prst="ellipse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978908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</a:rPr>
              <a:t>AI message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46120" y="487375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B36"/>
                </a:solidFill>
              </a:rPr>
              <a:t>Validate the solver and uncertainty before asking a network to learn the data.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103120" y="5715000"/>
            <a:ext cx="7955280" cy="640080"/>
          </a:xfrm>
          <a:prstGeom prst="roundRect">
            <a:avLst>
              <a:gd name="adj" fmla="val 8571"/>
            </a:avLst>
          </a:prstGeom>
          <a:solidFill>
            <a:srgbClr val="FFF0DF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03120" y="5715000"/>
            <a:ext cx="73152" cy="6400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67712" y="585216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Exit question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267712" y="6190488"/>
            <a:ext cx="7662672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B36"/>
                </a:solidFill>
              </a:rPr>
              <a:t>What information can be lost when a noisy molecular distribution is reduced to a single averaged field - and then compressed again into an ML model?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5758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UMass Amherst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Fluids - Week 3</dc:title>
  <dc:subject>Week 3 - Kinetic Theory, DSMC, and Data Quality for ML</dc:subject>
  <dc:creator>Ehsan Roohi</dc:creator>
  <cp:lastModifiedBy>Ehsan Roohi</cp:lastModifiedBy>
  <cp:revision>1</cp:revision>
  <dcterms:created xsi:type="dcterms:W3CDTF">2026-07-11T15:38:00Z</dcterms:created>
  <dcterms:modified xsi:type="dcterms:W3CDTF">2026-07-11T15:38:00Z</dcterms:modified>
</cp:coreProperties>
</file>