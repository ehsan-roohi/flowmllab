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3e79ecae8446f2" /><Relationship Type="http://schemas.openxmlformats.org/officeDocument/2006/relationships/extended-properties" Target="/docProps/app.xml" Id="Rb22f304d2adf4559" /><Relationship Type="http://schemas.openxmlformats.org/officeDocument/2006/relationships/officeDocument" Target="/ppt/presentation.xml" Id="R5b5d421e54c64e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fab3524b6340cf"/>
  </p:sldMasterIdLst>
  <p:notesMasterIdLst>
    <p:notesMasterId xmlns:r="http://schemas.openxmlformats.org/officeDocument/2006/relationships" r:id="Ra054361d004148e4"/>
  </p:notesMasterIdLst>
  <p:sldIdLst>
    <p:sldId xmlns:r="http://schemas.openxmlformats.org/officeDocument/2006/relationships" id="256" r:id="Rca9a80fd0f384313"/>
    <p:sldId xmlns:r="http://schemas.openxmlformats.org/officeDocument/2006/relationships" id="257" r:id="R4fc01d260010403b"/>
    <p:sldId xmlns:r="http://schemas.openxmlformats.org/officeDocument/2006/relationships" id="258" r:id="R85867b9e3a14418c"/>
    <p:sldId xmlns:r="http://schemas.openxmlformats.org/officeDocument/2006/relationships" id="259" r:id="R5b5f49b966ee40ef"/>
    <p:sldId xmlns:r="http://schemas.openxmlformats.org/officeDocument/2006/relationships" id="260" r:id="R6a1782c1fde04c2c"/>
    <p:sldId xmlns:r="http://schemas.openxmlformats.org/officeDocument/2006/relationships" id="261" r:id="R5b21030920df4ce6"/>
    <p:sldId xmlns:r="http://schemas.openxmlformats.org/officeDocument/2006/relationships" id="262" r:id="R162ef4e64a9b42cc"/>
    <p:sldId xmlns:r="http://schemas.openxmlformats.org/officeDocument/2006/relationships" id="263" r:id="Rd68ecccfec4a4d4f"/>
    <p:sldId xmlns:r="http://schemas.openxmlformats.org/officeDocument/2006/relationships" id="264" r:id="R4d1926086d5145e1"/>
    <p:sldId xmlns:r="http://schemas.openxmlformats.org/officeDocument/2006/relationships" id="265" r:id="R0f7186bc173045ab"/>
    <p:sldId xmlns:r="http://schemas.openxmlformats.org/officeDocument/2006/relationships" id="266" r:id="R9fae1ffcc348429c"/>
    <p:sldId xmlns:r="http://schemas.openxmlformats.org/officeDocument/2006/relationships" id="267" r:id="R86278c1165644a7c"/>
    <p:sldId xmlns:r="http://schemas.openxmlformats.org/officeDocument/2006/relationships" id="268" r:id="R96f8a36cb8094419"/>
    <p:sldId xmlns:r="http://schemas.openxmlformats.org/officeDocument/2006/relationships" id="269" r:id="R42581b9fc03c42c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648531bc024691" /><Relationship Type="http://schemas.openxmlformats.org/officeDocument/2006/relationships/slideMaster" Target="/ppt/slideMasters/slideMaster1.xml" Id="R3efab3524b6340cf" /><Relationship Type="http://schemas.openxmlformats.org/officeDocument/2006/relationships/notesMaster" Target="/ppt/notesMasters/notesMaster1.xml" Id="Ra054361d004148e4" /><Relationship Type="http://schemas.openxmlformats.org/officeDocument/2006/relationships/presProps" Target="/ppt/presProps.xml" Id="Re18fb092c1044380" /><Relationship Type="http://schemas.openxmlformats.org/officeDocument/2006/relationships/tableStyles" Target="/ppt/tableStyles.xml" Id="R6bb53cc2328d4228" /><Relationship Type="http://schemas.openxmlformats.org/officeDocument/2006/relationships/slide" Target="/ppt/slides/slide1.xml" Id="Rca9a80fd0f384313" /><Relationship Type="http://schemas.openxmlformats.org/officeDocument/2006/relationships/slide" Target="/ppt/slides/slide2.xml" Id="R4fc01d260010403b" /><Relationship Type="http://schemas.openxmlformats.org/officeDocument/2006/relationships/slide" Target="/ppt/slides/slide3.xml" Id="R85867b9e3a14418c" /><Relationship Type="http://schemas.openxmlformats.org/officeDocument/2006/relationships/slide" Target="/ppt/slides/slide4.xml" Id="R5b5f49b966ee40ef" /><Relationship Type="http://schemas.openxmlformats.org/officeDocument/2006/relationships/slide" Target="/ppt/slides/slide5.xml" Id="R6a1782c1fde04c2c" /><Relationship Type="http://schemas.openxmlformats.org/officeDocument/2006/relationships/slide" Target="/ppt/slides/slide6.xml" Id="R5b21030920df4ce6" /><Relationship Type="http://schemas.openxmlformats.org/officeDocument/2006/relationships/slide" Target="/ppt/slides/slide7.xml" Id="R162ef4e64a9b42cc" /><Relationship Type="http://schemas.openxmlformats.org/officeDocument/2006/relationships/slide" Target="/ppt/slides/slide8.xml" Id="Rd68ecccfec4a4d4f" /><Relationship Type="http://schemas.openxmlformats.org/officeDocument/2006/relationships/slide" Target="/ppt/slides/slide9.xml" Id="R4d1926086d5145e1" /><Relationship Type="http://schemas.openxmlformats.org/officeDocument/2006/relationships/slide" Target="/ppt/slides/slide10.xml" Id="R0f7186bc173045ab" /><Relationship Type="http://schemas.openxmlformats.org/officeDocument/2006/relationships/slide" Target="/ppt/slides/slide11.xml" Id="R9fae1ffcc348429c" /><Relationship Type="http://schemas.openxmlformats.org/officeDocument/2006/relationships/slide" Target="/ppt/slides/slide12.xml" Id="R86278c1165644a7c" /><Relationship Type="http://schemas.openxmlformats.org/officeDocument/2006/relationships/slide" Target="/ppt/slides/slide13.xml" Id="R96f8a36cb8094419" /><Relationship Type="http://schemas.openxmlformats.org/officeDocument/2006/relationships/slide" Target="/ppt/slides/slide14.xml" Id="R42581b9fc03c42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0a7a7cd5054c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3c0ab5622f4a9e" /><Relationship Type="http://schemas.openxmlformats.org/officeDocument/2006/relationships/notesMaster" Target="/ppt/notesMasters/notesMaster1.xml" Id="R322732c9e8c74c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55c6024d634c36" /><Relationship Type="http://schemas.openxmlformats.org/officeDocument/2006/relationships/notesMaster" Target="/ppt/notesMasters/notesMaster1.xml" Id="R719d6b2774344c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e7cdb4f2b8e4c09" /><Relationship Type="http://schemas.openxmlformats.org/officeDocument/2006/relationships/notesMaster" Target="/ppt/notesMasters/notesMaster1.xml" Id="R3345dc339db641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ffd4e4fc0d4511" /><Relationship Type="http://schemas.openxmlformats.org/officeDocument/2006/relationships/notesMaster" Target="/ppt/notesMasters/notesMaster1.xml" Id="R52f79c132df44f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b5f423f016c4f5e" /><Relationship Type="http://schemas.openxmlformats.org/officeDocument/2006/relationships/notesMaster" Target="/ppt/notesMasters/notesMaster1.xml" Id="R62392415c3864e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41af84e594f4cca" /><Relationship Type="http://schemas.openxmlformats.org/officeDocument/2006/relationships/notesMaster" Target="/ppt/notesMasters/notesMaster1.xml" Id="Re1b5f99a84e745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2fab3b4736424f" /><Relationship Type="http://schemas.openxmlformats.org/officeDocument/2006/relationships/notesMaster" Target="/ppt/notesMasters/notesMaster1.xml" Id="Rf626d5cbd2b842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3b045cb7064c86" /><Relationship Type="http://schemas.openxmlformats.org/officeDocument/2006/relationships/notesMaster" Target="/ppt/notesMasters/notesMaster1.xml" Id="Rba0efc8de0e0436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4e3ac5056949fe" /><Relationship Type="http://schemas.openxmlformats.org/officeDocument/2006/relationships/notesMaster" Target="/ppt/notesMasters/notesMaster1.xml" Id="Re22fd3093cbb4d3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4eebdb48a34f61" /><Relationship Type="http://schemas.openxmlformats.org/officeDocument/2006/relationships/notesMaster" Target="/ppt/notesMasters/notesMaster1.xml" Id="R11727ece8d4c412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4fec54971094d4f" /><Relationship Type="http://schemas.openxmlformats.org/officeDocument/2006/relationships/notesMaster" Target="/ppt/notesMasters/notesMaster1.xml" Id="R1ff9a7cc694c477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d27cb05193241e7" /><Relationship Type="http://schemas.openxmlformats.org/officeDocument/2006/relationships/notesMaster" Target="/ppt/notesMasters/notesMaster1.xml" Id="R2bc90586056b4c0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04f02473224632" /><Relationship Type="http://schemas.openxmlformats.org/officeDocument/2006/relationships/notesMaster" Target="/ppt/notesMasters/notesMaster1.xml" Id="R440a30c81c0348b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4023e4e06084e8b" /><Relationship Type="http://schemas.openxmlformats.org/officeDocument/2006/relationships/notesMaster" Target="/ppt/notesMasters/notesMaster1.xml" Id="R9962cae2f0804d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Communication job: by the end, students should distinguish prediction error from predictive uncertainty and be able to audit a CFD surrogate distribution on untouched physical cases.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https://github.com/Ehsan-Roohi/FlowMLLab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students which prediction they would trust near a wall or operating limit. Emphasize that RMSE alone does not communicate the width or calibration of a predictive distribution.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https://doi.org/10.1198/016214506000001437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intentionally Week 2.1: the lesson depends on Week 2 regression and splitting concepts, then prepares students to interpret uncertainty in later surrogate models.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https://github.com/Ehsan-Roohi/FlowMLLab/blob/main/COURSE_MAP.md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measurement noise, sparse Reynolds-number sampling, and CFD model-form error as concrete examples. The distinction determines what a reported interval can legitimately mean.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https://doi.org/10.1111/1467-9868.00294</a:t>
            </a:r>
          </a:p>
          <a:p xmlns:a="http://schemas.openxmlformats.org/drawingml/2006/main">
            <a:r>
              <a:t>- https://gaussianprocess.org/gpml/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Derive the negative log likelihood up to an additive constant. Ask when constant variance is implausible in a CFD field—for example, near steep gradients or sparse operating regimes.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https://gaussianprocess.org/gpml/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notebook computes this update for a noisy Poiseuille velocity profile. The analytic solution lets students inspect every assumption before moving to Gaussian processes.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https://gaussianprocess.org/gpml/</a:t>
            </a:r>
          </a:p>
          <a:p xmlns:a="http://schemas.openxmlformats.org/drawingml/2006/main">
            <a:r>
              <a:t>- https://github.com/Ehsan-Roohi/FlowMLLab/blob/main/notebooks/week02_1/Probabilistic_UQ_CFD.ipynb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uncertainty in a latent mean from observation noise. Then revisit the taxonomy: neither term here necessarily represents CFD-to-reality discrepancy.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https://gaussianprocess.org/gpml/</a:t>
            </a:r>
          </a:p>
          <a:p xmlns:a="http://schemas.openxmlformats.org/drawingml/2006/main">
            <a:r>
              <a:t>- https://doi.org/10.1111/1467-9868.00294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FlowMLLab fits independent fixed-kernel Gaussian processes to a rank-4 velocity POD representation. Independence is a simplifying assumption, not a general truth about modal coefficients.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https://doi.org/10.1146/annurev.fl.25.010193.002543</a:t>
            </a:r>
          </a:p>
          <a:p xmlns:a="http://schemas.openxmlformats.org/drawingml/2006/main">
            <a:r>
              <a:t>- https://gaussianprocess.org/gpml/</a:t>
            </a:r>
          </a:p>
          <a:p xmlns:a="http://schemas.openxmlformats.org/drawingml/2006/main">
            <a:r>
              <a:t>- https://github.com/Ehsan-Roohi/FlowMLLab/blob/main/results/probabilistic_uq/protocol.json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students identify every decision that must be frozen before opening Re=175, 275, and 375. Pointwise random splits would leak the same physical solution across partitions.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https://github.com/Ehsan-Roohi/FlowMLLab/blob/main/results/probabilistic_uq/protocol.json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very wide interval can cover everything and still be uninformative. A very sharp interval can look decisive and still be badly miscalibrated.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https://doi.org/10.1198/016214506000001437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NLL can be dominated by a few overconfident misses. CRPS has the same units as the target and integrates distribution quality across thresholds. Use both alongside coverage and width.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https://doi.org/10.1198/016214506000001437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from mean error to coverage. The POD–GP mean slightly improves on interpolation, but its uncertainty bands are not calibrated across all blind Reynolds cases.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https://github.com/Ehsan-Roohi/FlowMLLab/blob/main/results/probabilistic_uq/probabilistic_uq_validation.png</a:t>
            </a:r>
          </a:p>
          <a:p xmlns:a="http://schemas.openxmlformats.org/drawingml/2006/main">
            <a:r>
              <a:t>- https://github.com/Ehsan-Roohi/FlowMLLab/blob/main/results/probabilistic_uq/blind_metrics.csv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Retain the failure. The calibrated aggregate coverage is 65.2%, up from 61.5%, but far below 90%. Spatial nodes are correlated, so these values are descriptive rather than finite-sample coverage guarantees.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https://github.com/Ehsan-Roohi/FlowMLLab/blob/main/results/probabilistic_uq/summary.json</a:t>
            </a:r>
          </a:p>
          <a:p xmlns:a="http://schemas.openxmlformats.org/drawingml/2006/main">
            <a:r>
              <a:t>- https://github.com/Ehsan-Roohi/FlowMLLab/blob/main/results/probabilistic_uq/calibration.csv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having students answer the exit prompt before opening Week 4 surrogate models. The notebook is the executable companion to this lecture.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https://github.com/Ehsan-Roohi/FlowMLLab/blob/main/notebooks/week02_1/Probabilistic_UQ_CFD.ipynb</a:t>
            </a:r>
          </a:p>
          <a:p xmlns:a="http://schemas.openxmlformats.org/drawingml/2006/main">
            <a:r>
              <a:t>- https://gaussianprocess.org/gpml/</a:t>
            </a:r>
          </a:p>
          <a:p xmlns:a="http://schemas.openxmlformats.org/drawingml/2006/main">
            <a:r>
              <a:t>- https://doi.org/10.1198/016214506000001437</a:t>
            </a:r>
          </a:p>
          <a:p xmlns:a="http://schemas.openxmlformats.org/drawingml/2006/main">
            <a:r>
              <a:t>- https://doi.org/10.1111/1467-9868.00294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9803bc5312497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6a6eab7b56432b" /><Relationship Type="http://schemas.openxmlformats.org/officeDocument/2006/relationships/slideLayout" Target="/ppt/slideLayouts/slideLayout1.xml" Id="R5f5128921c9d41e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5128921c9d41e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7375a20ee4252" /><Relationship Type="http://schemas.openxmlformats.org/officeDocument/2006/relationships/notesSlide" Target="/ppt/notesSlides/notesSlide1.xml" Id="R75cc952b14f947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e8799e2b7c423a" /><Relationship Type="http://schemas.openxmlformats.org/officeDocument/2006/relationships/notesSlide" Target="/ppt/notesSlides/notesSlide2.xml" Id="Rc5cb979fe551443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4979ba4f00494a" /><Relationship Type="http://schemas.openxmlformats.org/officeDocument/2006/relationships/notesSlide" Target="/ppt/notesSlides/notesSlide3.xml" Id="R8059855b11c14e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eb3ab2f9a3410c" /><Relationship Type="http://schemas.openxmlformats.org/officeDocument/2006/relationships/notesSlide" Target="/ppt/notesSlides/notesSlide4.xml" Id="R2df7292ca41047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f1c9ce47fb4f66" /><Relationship Type="http://schemas.openxmlformats.org/officeDocument/2006/relationships/notesSlide" Target="/ppt/notesSlides/notesSlide5.xml" Id="R85c04a5b75b544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5783ccecfe406b" /><Relationship Type="http://schemas.openxmlformats.org/officeDocument/2006/relationships/notesSlide" Target="/ppt/notesSlides/notesSlide6.xml" Id="Racefceb4001d48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d3a711fb84c6d" /><Relationship Type="http://schemas.openxmlformats.org/officeDocument/2006/relationships/notesSlide" Target="/ppt/notesSlides/notesSlide7.xml" Id="Rf51e41d4d4564f2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cf610ef99f4b8c" /><Relationship Type="http://schemas.openxmlformats.org/officeDocument/2006/relationships/notesSlide" Target="/ppt/notesSlides/notesSlide8.xml" Id="Rac142dd3551a4b3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d90a7ca7cf4ede" /><Relationship Type="http://schemas.openxmlformats.org/officeDocument/2006/relationships/notesSlide" Target="/ppt/notesSlides/notesSlide9.xml" Id="Red3c1d7d59ae4ce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92e3097854239" /><Relationship Type="http://schemas.openxmlformats.org/officeDocument/2006/relationships/notesSlide" Target="/ppt/notesSlides/notesSlide10.xml" Id="Rf6fbd13cd2944a4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ce776a2f25473d" /><Relationship Type="http://schemas.openxmlformats.org/officeDocument/2006/relationships/notesSlide" Target="/ppt/notesSlides/notesSlide11.xml" Id="R73602996635149b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9771217a854c51" /><Relationship Type="http://schemas.openxmlformats.org/officeDocument/2006/relationships/image" Target="/ppt/media/image.png" Id="R9103bbeec9e44392" /><Relationship Type="http://schemas.openxmlformats.org/officeDocument/2006/relationships/notesSlide" Target="/ppt/notesSlides/notesSlide12.xml" Id="R9dabf24676274e0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6e13966a784943" /><Relationship Type="http://schemas.openxmlformats.org/officeDocument/2006/relationships/notesSlide" Target="/ppt/notesSlides/notesSlide13.xml" Id="R08853a412148442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7e29d59d44493b" /><Relationship Type="http://schemas.openxmlformats.org/officeDocument/2006/relationships/notesSlide" Target="/ppt/notesSlides/notesSlide14.xml" Id="R9b96fcf9bc6643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9F219B-D391-4388-949C-B9282B0F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72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FLOWMLLAB • WEEK 2.1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7F8DB7-3862-4B15-9137-77125C9F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52625"/>
            <a:ext cx="9906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Probabilistic uncertainty</a:t>
            </a:r>
          </a:p>
          <a:p xmlns:a="http://schemas.openxmlformats.org/drawingml/2006/main">
            <a:pPr algn="l">
              <a:defRPr sz="5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CFD surrogates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E54F5A-6401-49AE-8BAC-BB5B9144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0125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From a loss function to a calibrated predictive distribution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B50098-7159-415C-BCF3-BC94D153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00050"/>
            <a:ext cx="952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344543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CE93039A-D75D-4B63-9D98-0EA02DF4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point estimate cannot express confidence</a:t>
            </a:r>
          </a:p>
        </p:txBody>
      </p:sp>
      <p:cxnSp>
        <p:nvCxnSpPr>
          <p:cNvPr id="18" name=""/>
          <p:cNvCxnSpPr/>
          <p:nvPr/>
        </p:nvCxnSpPr>
        <p:spPr>
          <a:xfrm xmlns:a="http://schemas.openxmlformats.org/drawingml/2006/main">
            <a:off x="495300" y="1123950"/>
            <a:ext cx="11201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A18700-4036-45F5-A177-1185306B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419850"/>
            <a:ext cx="245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WEEK 2.1  •  2 /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06F65E-99B3-4CAA-9269-51100B7A8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SAME MEAN ERROR, DIFFERENT SCIENTIFIC RISK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EF247C-DFA1-4C27-8751-65C2D95F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200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ŷ(x)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65BEA4-8080-44E9-86F2-CF3858E8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242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One best guess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3762375" y="1743075"/>
            <a:ext cx="9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6A58F9-7CEF-4EC5-93B9-19B77EEA3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52650"/>
            <a:ext cx="6477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4762500" y="2600325"/>
            <a:ext cx="5981700" cy="9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D8DFF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38BFF0-D759-41CF-A78F-74079DAE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5050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7665D3-1FFD-4D99-8B4B-5B8A9884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4325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narrow distribution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30702A-9FE9-4C4B-863F-D41ECA14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95750"/>
            <a:ext cx="6477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0">
            <a:solidFill>
              <a:srgbClr val="F6F6F6"/>
            </a:solidFill>
            <a:prstDash val="solid"/>
          </a:ln>
        </p:spPr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4762500" y="4543425"/>
            <a:ext cx="5981700" cy="9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D97706"/>
            </a:solidFill>
            <a:prstDash val="soli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9B96AB-915D-474A-9CBE-5D0DEF03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4481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C67FB4-916B-4452-99FE-3A96CACB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8635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wide distribution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FE84B9-58CF-474B-9379-796DE33D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667375"/>
            <a:ext cx="647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mean can be identical while the decision should change.</a:t>
            </a:r>
          </a:p>
        </p:txBody>
      </p:sp>
    </p:spTree>
    <p:extLst>
      <p:ext uri="{BB962C8B-B14F-4D97-AF65-F5344CB8AC3E}">
        <p14:creationId xmlns:p14="http://schemas.microsoft.com/office/powerpoint/2010/main" val="1087691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075BF014-5CDF-4EC3-AC9E-286A8C72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Week 2.1 extends supervised regression</a:t>
            </a:r>
          </a:p>
        </p:txBody>
      </p:sp>
      <p:cxnSp>
        <p:nvCxnSpPr>
          <p:cNvPr id="11" name=""/>
          <p:cNvCxnSpPr/>
          <p:nvPr/>
        </p:nvCxnSpPr>
        <p:spPr>
          <a:xfrm xmlns:a="http://schemas.openxmlformats.org/drawingml/2006/main">
            <a:off x="495300" y="1123950"/>
            <a:ext cx="11201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A2EAED-BC4D-44FA-BE29-42BEFD99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419850"/>
            <a:ext cx="245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WEEK 2.1  •  3 /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5929B9-32FA-46F0-AFC6-A95855A2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Week 2 already gives 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89D829-CA09-4387-8A12-8A058A69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0"/>
            <a:ext cx="3619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features and targets</a:t>
            </a:r>
          </a:p>
          <a:p xmlns:a="http://schemas.openxmlformats.org/drawingml/2006/main">
            <a:pPr algn="l">
              <a:defRPr sz="225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scaling</a:t>
            </a:r>
          </a:p>
          <a:p xmlns:a="http://schemas.openxmlformats.org/drawingml/2006/main">
            <a:pPr algn="l">
              <a:defRPr sz="225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losses</a:t>
            </a:r>
          </a:p>
          <a:p xmlns:a="http://schemas.openxmlformats.org/drawingml/2006/main">
            <a:pPr algn="l">
              <a:defRPr sz="225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case-wise splits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EA3D0A-4227-4938-B24D-E6512700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447800"/>
            <a:ext cx="762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8963F-41FD-4B97-99BE-14423746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6002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increment adds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061A4-C8AC-40A6-8619-CA6F95B9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86000"/>
            <a:ext cx="59436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write an observation model</a:t>
            </a:r>
          </a:p>
          <a:p xmlns:a="http://schemas.openxmlformats.org/drawingml/2006/main">
            <a:pPr algn="l">
              <a:defRPr sz="22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  compute posterior prediction</a:t>
            </a:r>
          </a:p>
          <a:p xmlns:a="http://schemas.openxmlformats.org/drawingml/2006/main">
            <a:pPr algn="l">
              <a:defRPr sz="22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  score the full distribution</a:t>
            </a:r>
          </a:p>
          <a:p xmlns:a="http://schemas.openxmlformats.org/drawingml/2006/main">
            <a:pPr algn="l">
              <a:defRPr sz="22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  calibrate without touching blind cases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50D0EA-5DC5-4D16-8386-5A471609D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010150"/>
            <a:ext cx="581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No new neural architecture is required.</a:t>
            </a:r>
          </a:p>
        </p:txBody>
      </p:sp>
    </p:spTree>
    <p:extLst>
      <p:ext uri="{BB962C8B-B14F-4D97-AF65-F5344CB8AC3E}">
        <p14:creationId xmlns:p14="http://schemas.microsoft.com/office/powerpoint/2010/main" val="21405710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A7BE9D7B-5F01-445D-9B21-76C26DFFE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Uncertainty has three different causes</a:t>
            </a:r>
          </a:p>
        </p:txBody>
      </p:sp>
      <p:cxnSp>
        <p:nvCxnSpPr>
          <p:cNvPr id="18" name=""/>
          <p:cNvCxnSpPr/>
          <p:nvPr/>
        </p:nvCxnSpPr>
        <p:spPr>
          <a:xfrm xmlns:a="http://schemas.openxmlformats.org/drawingml/2006/main">
            <a:off x="495300" y="1123950"/>
            <a:ext cx="11201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A0F20B-321A-4D65-AFB1-D8E12A5F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419850"/>
            <a:ext cx="245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WEEK 2.1  •  4 /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D925D-75ED-48A6-9760-DC63EAA0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DD50A8-1DB7-4B95-9270-57C2269A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6DCBF4"/>
                </a:solidFill>
                <a:latin typeface="Arial"/>
                <a:ea typeface="Arial"/>
                <a:cs typeface="Arial"/>
              </a:rPr>
              <a:t>ALEATORIC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DEACD0-20E4-47DA-8009-5DCC5FCE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2415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Noise or unresolved variability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464C3F-07F7-4EBD-A32A-7B2DF472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71950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More data may not remove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B4857C-F612-455A-A95D-D9098B773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1925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CD112A-CB67-438A-845A-648849BA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574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EPISTEMIC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B3138D-814C-4B54-8231-4492B9F8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Limited knowledge of the map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BAB510-FE49-4CE7-92DB-05E09EC7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171950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More informative data can reduce it.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9888F1-52ED-474C-A139-52D68D35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1925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894178-A77B-4E15-9FE6-0CAF70F5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574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DISCREPANCY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674E20-27E5-4835-8947-B2E18359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2415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simulator misses reality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042F61-F1B0-41CB-ADFC-F457E1CF7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171950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A confident surrogate can still be wrong.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12323F-6588-4157-997C-11A28D0E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102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 not collapse these mechanisms into one unexplained error bar.</a:t>
            </a:r>
          </a:p>
        </p:txBody>
      </p:sp>
    </p:spTree>
    <p:extLst>
      <p:ext uri="{BB962C8B-B14F-4D97-AF65-F5344CB8AC3E}">
        <p14:creationId xmlns:p14="http://schemas.microsoft.com/office/powerpoint/2010/main" val="16389955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D411BE55-5D26-451D-8B08-114FFBCA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likelihood turns loss into a modeling choice</a:t>
            </a:r>
          </a:p>
        </p:txBody>
      </p:sp>
      <p:cxnSp>
        <p:nvCxnSpPr>
          <p:cNvPr id="11" name=""/>
          <p:cNvCxnSpPr/>
          <p:nvPr/>
        </p:nvCxnSpPr>
        <p:spPr>
          <a:xfrm xmlns:a="http://schemas.openxmlformats.org/drawingml/2006/main">
            <a:off x="495300" y="1123950"/>
            <a:ext cx="11201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B2C89A-BBBC-4505-B855-3025F97E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419850"/>
            <a:ext cx="245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WEEK 2.1  •  5 /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ACF742-890F-4EB8-B4AE-81DD670D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 = fθ(x) + 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EFB47B-5B0A-44CE-B7C2-B12AF600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0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750" b="0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ε ~ 𝒩(0, σ²)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96DE17-690B-4815-A218-AC89B58E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57350"/>
            <a:ext cx="54102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A96EA-9B01-48B9-831D-7835A06E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1930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GAUSSIAN OBSERVATION 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B348A0-40D6-43A5-8AA4-851A0DA8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19375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−log p(y | θ, σ²)</a:t>
            </a:r>
          </a:p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= constant + Σ(y − fθ(x))² / 2σ²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41E552-FBA0-4E0E-8E25-DC001509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0"/>
            <a:ext cx="1028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MSE is therefore not neutral: it encodes constant-variance Gaussian residuals.</a:t>
            </a:r>
          </a:p>
        </p:txBody>
      </p:sp>
    </p:spTree>
    <p:extLst>
      <p:ext uri="{BB962C8B-B14F-4D97-AF65-F5344CB8AC3E}">
        <p14:creationId xmlns:p14="http://schemas.microsoft.com/office/powerpoint/2010/main" val="13669024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B96D9FD9-2160-4919-9AA1-E6421F10C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Bayesian linear regression is an exact update</a:t>
            </a:r>
          </a:p>
        </p:txBody>
      </p:sp>
      <p:cxnSp>
        <p:nvCxnSpPr>
          <p:cNvPr id="19" name=""/>
          <p:cNvCxnSpPr/>
          <p:nvPr/>
        </p:nvCxnSpPr>
        <p:spPr>
          <a:xfrm xmlns:a="http://schemas.openxmlformats.org/drawingml/2006/main">
            <a:off x="495300" y="1123950"/>
            <a:ext cx="11201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676896-85CE-411D-AB97-2949C301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419850"/>
            <a:ext cx="245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WEEK 2.1  •  6 / 14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666750" y="3238500"/>
            <a:ext cx="105727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E52015-5228-4C92-83D7-84B5DDB6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015E73-641F-4941-A92A-556D101A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98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PRIOR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D62AA3-1AFD-4E3D-B365-DCB03777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3000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Plausible before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0A2A5F-D9C9-464C-BF45-509DDE0B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3000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w ~ 𝒩(m₀, S₀)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4C9A84-6886-49CF-8C22-5AF1F472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DD2474-B2BE-41B5-8D79-87504462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098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LIKELIHOOD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28C5E9-310C-4162-9732-32B92DF9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14750"/>
            <a:ext cx="3000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 from 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EE6A31-F9DB-4C8C-93BD-029370FF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724400"/>
            <a:ext cx="3000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y | w ~ 𝒩(Φw, σ²I)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0FC315-B6E3-4493-BDEF-0C55C446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F3D45F-4346-4BEB-88E0-3A3A316D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098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POSTERIOR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B84825-42F5-437E-B32C-DA14A097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714750"/>
            <a:ext cx="3000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Plausible after data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935041-F0F9-4F7F-9C29-8CAFCC31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724400"/>
            <a:ext cx="3000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w | y ~ 𝒩(mₙ, Sₙ)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27652F-82B7-4D7E-9BA1-0057D8C1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1500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Posterior precision = prior precision + data precision</a:t>
            </a:r>
          </a:p>
        </p:txBody>
      </p:sp>
    </p:spTree>
    <p:extLst>
      <p:ext uri="{BB962C8B-B14F-4D97-AF65-F5344CB8AC3E}">
        <p14:creationId xmlns:p14="http://schemas.microsoft.com/office/powerpoint/2010/main" val="16391161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AEC1E50F-1BD4-409C-BD91-4CE317E7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Prediction uncertainty has two terms</a:t>
            </a:r>
          </a:p>
        </p:txBody>
      </p:sp>
      <p:cxnSp>
        <p:nvCxnSpPr>
          <p:cNvPr id="15" name=""/>
          <p:cNvCxnSpPr/>
          <p:nvPr/>
        </p:nvCxnSpPr>
        <p:spPr>
          <a:xfrm xmlns:a="http://schemas.openxmlformats.org/drawingml/2006/main">
            <a:off x="495300" y="1123950"/>
            <a:ext cx="11201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598F3C-06D7-4A86-92E9-C4C96D99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419850"/>
            <a:ext cx="245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WEEK 2.1  •  7 /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305899-256D-46EF-86CB-DABD6C3C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Var[y* | x*, D]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08FE1-B996-4CB3-AE34-3C1A7FCE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81200"/>
            <a:ext cx="552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7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383CF3-1591-4303-9495-F8C08CAD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57350"/>
            <a:ext cx="25241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B2F489-67AE-4460-A474-4DB700AE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952625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7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σ²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86EF4A-236F-412A-8214-676CCE7D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68605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observation noise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E06E50-4795-4D44-9736-E55B7A77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981200"/>
            <a:ext cx="552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7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AFC817-C334-4845-99B2-4F438C08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657350"/>
            <a:ext cx="27241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759E23-1D66-4881-A608-7D4535D5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952625"/>
            <a:ext cx="2305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φ*ᵀ Sₙ φ*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085379-45C2-40C0-9985-E5A8EA53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6860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parameter uncertainty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4189CF-4957-465E-AF66-E33F6A8B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572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Report which terms are included. A posterior over weights does not automatically include simulator discrepancy.</a:t>
            </a:r>
          </a:p>
        </p:txBody>
      </p:sp>
    </p:spTree>
    <p:extLst>
      <p:ext uri="{BB962C8B-B14F-4D97-AF65-F5344CB8AC3E}">
        <p14:creationId xmlns:p14="http://schemas.microsoft.com/office/powerpoint/2010/main" val="13653692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1394C35D-F002-4C27-8203-06EA597A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POD compresses field uncertainty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495300" y="1123950"/>
            <a:ext cx="11201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4344DA-E19D-414F-9DC6-7737B8D1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419850"/>
            <a:ext cx="245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WEEK 2.1  •  8 /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7CDD2E-4FF4-4602-AF74-B2A3F58E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8804E0-C05B-4B83-92C2-A0F47026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A9B99-7906-421A-AC58-64F458A1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CFD cases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889419-7E63-4C86-8648-3A8BB784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766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u(x; Re)</a:t>
            </a:r>
          </a:p>
        </p:txBody>
      </p:sp>
      <p:cxnSp>
        <p:nvCxnSpPr>
          <p:cNvPr id="36" name=""/>
          <p:cNvCxnSpPr/>
          <p:nvPr/>
        </p:nvCxnSpPr>
        <p:spPr>
          <a:xfrm xmlns:a="http://schemas.openxmlformats.org/drawingml/2006/main">
            <a:off x="2324100" y="3171825"/>
            <a:ext cx="43815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890E70-51D1-463D-9529-E243F649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F6F51A-82D6-48C2-ADBC-360F38220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57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576AD5-87DD-436E-A4FF-B775E43B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0990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POD basis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28FE41-4FF2-4B17-BAB7-ACD82459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6766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Φ₁ … Φᵣ</a:t>
            </a:r>
          </a:p>
        </p:txBody>
      </p:sp>
      <p:cxnSp>
        <p:nvCxnSpPr>
          <p:cNvPr id="41" name=""/>
          <p:cNvCxnSpPr/>
          <p:nvPr/>
        </p:nvCxnSpPr>
        <p:spPr>
          <a:xfrm xmlns:a="http://schemas.openxmlformats.org/drawingml/2006/main">
            <a:off x="4591050" y="3171825"/>
            <a:ext cx="43815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06539D-4D04-4328-87F5-3162B413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669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A215FE-C329-4B66-8330-3AC07CC7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457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9DF009-639E-4B39-B411-0D5392B8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0990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Coefficients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8DCBF7-295A-497B-BE59-F5C17958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6766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a₁(Re)…aᵣ(Re)</a:t>
            </a:r>
          </a:p>
        </p:txBody>
      </p:sp>
      <p:cxnSp>
        <p:nvCxnSpPr>
          <p:cNvPr id="46" name=""/>
          <p:cNvCxnSpPr/>
          <p:nvPr/>
        </p:nvCxnSpPr>
        <p:spPr>
          <a:xfrm xmlns:a="http://schemas.openxmlformats.org/drawingml/2006/main">
            <a:off x="6858000" y="3171825"/>
            <a:ext cx="43815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D7308B-9E16-4132-830C-E2036355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669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CCA32D-6609-4846-B8BB-642F902E5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2FD6E8-8268-4A3F-B69F-1DC4249E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00990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Gaussian process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98C597-ADA7-4F27-9A26-A68B02BC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766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p(aⱼ* | Re*)</a:t>
            </a:r>
          </a:p>
        </p:txBody>
      </p:sp>
      <p:cxnSp>
        <p:nvCxnSpPr>
          <p:cNvPr id="51" name=""/>
          <p:cNvCxnSpPr/>
          <p:nvPr/>
        </p:nvCxnSpPr>
        <p:spPr>
          <a:xfrm xmlns:a="http://schemas.openxmlformats.org/drawingml/2006/main">
            <a:off x="9124950" y="3171825"/>
            <a:ext cx="43815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C0A90A-B882-4DFC-B479-2B973F74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669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3AA114-AF4F-4091-B05C-115373D1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57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5C632A-9732-46E7-9DAD-72AC8CCD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00990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Field distribution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422B1F-1EA5-4E65-8B1C-77012929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766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μu(x), σu(x)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2A64D4-03DE-4AB9-ABA9-72299147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149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Low-rank structure reduces a spatial field to a few probabilistic coefficient functions.</a:t>
            </a:r>
          </a:p>
        </p:txBody>
      </p:sp>
    </p:spTree>
    <p:extLst>
      <p:ext uri="{BB962C8B-B14F-4D97-AF65-F5344CB8AC3E}">
        <p14:creationId xmlns:p14="http://schemas.microsoft.com/office/powerpoint/2010/main" val="14049261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D01EC0DE-4EA5-4D16-9089-25C0C9B2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Calibration must stop before the blind gate</a:t>
            </a:r>
          </a:p>
        </p:txBody>
      </p:sp>
      <p:cxnSp>
        <p:nvCxnSpPr>
          <p:cNvPr id="19" name=""/>
          <p:cNvCxnSpPr/>
          <p:nvPr/>
        </p:nvCxnSpPr>
        <p:spPr>
          <a:xfrm xmlns:a="http://schemas.openxmlformats.org/drawingml/2006/main">
            <a:off x="495300" y="1123950"/>
            <a:ext cx="11201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03AAC5-935A-46B3-92D0-E4199719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419850"/>
            <a:ext cx="245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WEEK 2.1  •  9 / 14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666750" y="3238500"/>
            <a:ext cx="105727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84E631-0EDB-4448-8854-9C82F656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9C7131-5AEA-4820-83F2-71BDC3DB1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98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DEVELOP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2C33F3-FBA0-437E-B8AD-4D2F8197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3000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Fit POD + GP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C677F1-9C1A-4A03-A8F3-F59D87B1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3000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Re = 100, 150, 200, 225, 250, 350, 400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C448F5-C1D0-4CD8-A2E4-01474201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94A739-C9E1-4BAE-8E4E-612AD535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098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CALIBRATE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66A207-F4DA-4D3B-84DF-8E529D2F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14750"/>
            <a:ext cx="3000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Scale interval width once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B84025-5D06-47A9-BDA4-D6B303BD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686300"/>
            <a:ext cx="3000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Re = 300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E2D75C-F9B1-4A6C-9E59-180F2F6D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71A987-BF0A-41AE-B522-C35B95C7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098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D9770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D97706"/>
                </a:solidFill>
                <a:latin typeface="Arial"/>
                <a:ea typeface="Arial"/>
                <a:cs typeface="Arial"/>
              </a:rPr>
              <a:t>BLIND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EA541D-0A9F-4775-8BFD-6C596C95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714750"/>
            <a:ext cx="3000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Measure without tuning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3DBB7E-ACDF-4E7B-B15D-1422EBE5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686300"/>
            <a:ext cx="3000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Re = 175, 275, 375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1B0581-04E0-4B8F-99EE-E3933A86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9120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split unit is a complete Reynolds-number case—not individual grid nodes.</a:t>
            </a:r>
          </a:p>
        </p:txBody>
      </p:sp>
    </p:spTree>
    <p:extLst>
      <p:ext uri="{BB962C8B-B14F-4D97-AF65-F5344CB8AC3E}">
        <p14:creationId xmlns:p14="http://schemas.microsoft.com/office/powerpoint/2010/main" val="20177528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53DF0006-5ED1-40CA-906A-7F542915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Judge accuracy, calibration, and sharpness</a:t>
            </a:r>
          </a:p>
        </p:txBody>
      </p:sp>
      <p:cxnSp>
        <p:nvCxnSpPr>
          <p:cNvPr id="18" name=""/>
          <p:cNvCxnSpPr/>
          <p:nvPr/>
        </p:nvCxnSpPr>
        <p:spPr>
          <a:xfrm xmlns:a="http://schemas.openxmlformats.org/drawingml/2006/main">
            <a:off x="495300" y="1123950"/>
            <a:ext cx="11201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5A1235-B002-43A6-94A1-DDF0FC22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419850"/>
            <a:ext cx="245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WEEK 2.1  •  10 /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02565-9EA0-4183-B44E-1A48CE40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57550"/>
            <a:ext cx="33337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D554A5-DEED-4336-A060-69F917C3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57550"/>
            <a:ext cx="952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D44337-EE50-44EE-810E-E506470B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67125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728FD-3DAA-43D4-ACA8-78ADFC42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86300"/>
            <a:ext cx="274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Accuracy</a:t>
            </a:r>
          </a:p>
          <a:p xmlns:a="http://schemas.openxmlformats.org/drawingml/2006/main">
            <a:pPr algn="l">
              <a:defRPr sz="18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Is the predictive mass near truth?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38FF28-9F73-4D45-B40C-BAD017D0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257550"/>
            <a:ext cx="33337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407945-5C22-487B-B0E8-0445BE52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257550"/>
            <a:ext cx="952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798ED7-1650-4C09-AC49-7E89E368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667125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F3A919-59BC-40FC-AA45-031017CA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4686300"/>
            <a:ext cx="274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Calibration</a:t>
            </a:r>
          </a:p>
          <a:p xmlns:a="http://schemas.openxmlformats.org/drawingml/2006/main">
            <a:pPr algn="l">
              <a:defRPr sz="18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Do nominal levels match frequency?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234381-66AA-4205-AC8A-75575418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57550"/>
            <a:ext cx="33337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1BC579-B28C-4BA9-B897-C3D776C9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57550"/>
            <a:ext cx="952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570A92-8113-457A-8744-AF920FFF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67125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424CF8-F50B-41DC-980C-DE4C28B0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86300"/>
            <a:ext cx="274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Sharpness</a:t>
            </a:r>
          </a:p>
          <a:p xmlns:a="http://schemas.openxmlformats.org/drawingml/2006/main">
            <a:pPr algn="l">
              <a:defRPr sz="18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Are intervals as narrow as justified?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84AD1B-510D-4237-BC08-E7CCEEF8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668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Optimizing only one can produce a useless distribution.</a:t>
            </a:r>
          </a:p>
        </p:txBody>
      </p:sp>
    </p:spTree>
    <p:extLst>
      <p:ext uri="{BB962C8B-B14F-4D97-AF65-F5344CB8AC3E}">
        <p14:creationId xmlns:p14="http://schemas.microsoft.com/office/powerpoint/2010/main" val="71237709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9A15FEE4-7C76-434A-B1C7-D10730653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 the distribution, not only its mean</a:t>
            </a:r>
          </a:p>
        </p:txBody>
      </p:sp>
      <p:cxnSp>
        <p:nvCxnSpPr>
          <p:cNvPr id="12" name=""/>
          <p:cNvCxnSpPr/>
          <p:nvPr/>
        </p:nvCxnSpPr>
        <p:spPr>
          <a:xfrm xmlns:a="http://schemas.openxmlformats.org/drawingml/2006/main">
            <a:off x="495300" y="1123950"/>
            <a:ext cx="11201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856F46-BE91-4E17-AD17-337015FF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419850"/>
            <a:ext cx="245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WEEK 2.1  •  11 /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86AA66-B641-4F9E-805C-D44333A4B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GAUSSIAN NEGATIVE LOG LIKELIHOOD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F38628-6D1D-402B-9133-3C8F419C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NLL = ½ log(2πσ²) + ½(y−μ)²/σ²</a:t>
            </a:r>
          </a:p>
        </p:txBody>
      </p:sp>
      <p:cxnSp>
        <p:nvCxnSpPr>
          <p:cNvPr id="16" name=""/>
          <p:cNvCxnSpPr/>
          <p:nvPr/>
        </p:nvCxnSpPr>
        <p:spPr>
          <a:xfrm xmlns:a="http://schemas.openxmlformats.org/drawingml/2006/main">
            <a:off x="552450" y="3105150"/>
            <a:ext cx="106680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E7D3B6-308D-455C-8824-18FCE511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6710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CONTINUOUS RANKED PROBABILITY SCORE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D7E82-B39F-448C-8ABF-739074BA9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CRPS compares the predictive CDF with the observed step CDF.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E1E78F-89B5-4F8E-875F-5662ABF7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05400"/>
            <a:ext cx="1066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BBC785-0472-4375-BB4A-CF5726F2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05425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is better. Both scores penalize confident errors.</a:t>
            </a:r>
          </a:p>
        </p:txBody>
      </p:sp>
    </p:spTree>
    <p:extLst>
      <p:ext uri="{BB962C8B-B14F-4D97-AF65-F5344CB8AC3E}">
        <p14:creationId xmlns:p14="http://schemas.microsoft.com/office/powerpoint/2010/main" val="25932281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958474B0-06F4-48F6-BD94-5F9F159B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Blind evidence beats a polished uncertainty story</a:t>
            </a:r>
          </a:p>
        </p:txBody>
      </p:sp>
      <p:cxnSp>
        <p:nvCxnSpPr>
          <p:cNvPr id="7" name=""/>
          <p:cNvCxnSpPr/>
          <p:nvPr/>
        </p:nvCxnSpPr>
        <p:spPr>
          <a:xfrm xmlns:a="http://schemas.openxmlformats.org/drawingml/2006/main">
            <a:off x="495300" y="1123950"/>
            <a:ext cx="11201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FBBDBC-BB09-4CB2-8B92-3544B65D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419850"/>
            <a:ext cx="245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WEEK 2.1  •  12 /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74CEC7-5416-43FE-8102-0D49C5E0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52550"/>
            <a:ext cx="113538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03bbeec9e44392"/>
          <a:stretch xmlns:a="http://schemas.openxmlformats.org/drawingml/2006/main"/>
        </p:blipFill>
        <p:spPr>
          <a:xfrm xmlns:a="http://schemas.openxmlformats.org/drawingml/2006/main">
            <a:off x="571500" y="2567517"/>
            <a:ext cx="11049000" cy="233256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91470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7DC52DCA-04F4-43D3-9373-5EF22A5A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mean improved; coverage did not</a:t>
            </a:r>
          </a:p>
        </p:txBody>
      </p:sp>
      <p:cxnSp>
        <p:nvCxnSpPr>
          <p:cNvPr id="19" name=""/>
          <p:cNvCxnSpPr/>
          <p:nvPr/>
        </p:nvCxnSpPr>
        <p:spPr>
          <a:xfrm xmlns:a="http://schemas.openxmlformats.org/drawingml/2006/main">
            <a:off x="495300" y="1123950"/>
            <a:ext cx="11201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00CD76-BD31-4714-A46A-811C7D75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419850"/>
            <a:ext cx="2457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WEEK 2.1  •  13 /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E9FEB4-5095-4A11-8858-BBB17D91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Validation-only scaling increased blind 90% coverage, but did not approach the nominal target.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9E2344-ACD0-42E1-BE50-27C7482C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57550"/>
            <a:ext cx="33337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3D288C-079B-44C4-819F-037B0FE4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57550"/>
            <a:ext cx="952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1B5B99-23E7-4CB6-8EC1-76D90934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67125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0.333%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D9A687-24EA-4E60-9B06-58D52D3D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86300"/>
            <a:ext cx="274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Mean POD–GP relative L₂ error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0DEAB1-0FE3-478C-BA5D-3BFAFE02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257550"/>
            <a:ext cx="33337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DA253B-2E31-429D-A83E-BFD1FCF9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257550"/>
            <a:ext cx="952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F316FD-7EEB-4AA8-BC83-0890D9C8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667125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0.414%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8415C7-A2B8-4E8C-A7F4-2107B5A1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4686300"/>
            <a:ext cx="274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Mean interpolation relative L₂ error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847DDB-E81A-4EEB-97C1-F562B2A4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57550"/>
            <a:ext cx="33337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B57453-AF5B-4C08-8CEA-74D925E7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57550"/>
            <a:ext cx="952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A413C1-500A-4A63-AD47-66310D84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67125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65.2%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9FA711-EA27-4EED-98BC-EA50E30C1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86300"/>
            <a:ext cx="274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5B616B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B616B"/>
                </a:solidFill>
                <a:latin typeface="Arial"/>
                <a:ea typeface="Arial"/>
                <a:cs typeface="Arial"/>
              </a:rPr>
              <a:t>Calibrated coverage at nominal 90%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70DD06-86F1-463E-B208-D8065A53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695950"/>
            <a:ext cx="3333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3685483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2C8A3D-EB41-4780-B71D-B62D2A31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72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WEEK 2.1 • EXIT CHECKLIST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E544CB-3C3B-4907-A635-5711F407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85900"/>
            <a:ext cx="9429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Make the uncertainty claim</a:t>
            </a:r>
          </a:p>
          <a:p xmlns:a="http://schemas.openxmlformats.org/drawingml/2006/main">
            <a:pPr algn="l">
              <a:defRPr sz="46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auditable as the mean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A8F494-0362-4E81-BA1C-467586FA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6953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□ State what is random</a:t>
            </a:r>
          </a:p>
          <a:p xmlns:a="http://schemas.openxmlformats.org/drawingml/2006/main">
            <a:pPr algn="l">
              <a:defRPr sz="21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□ Keep physical cases intact</a:t>
            </a:r>
          </a:p>
          <a:p xmlns:a="http://schemas.openxmlformats.org/drawingml/2006/main">
            <a:pPr algn="l">
              <a:defRPr sz="21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□ Freeze calibration before blind testing</a:t>
            </a:r>
          </a:p>
          <a:p xmlns:a="http://schemas.openxmlformats.org/drawingml/2006/main">
            <a:pPr algn="l">
              <a:defRPr sz="21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□ Report accuracy, coverage, and width</a:t>
            </a:r>
          </a:p>
          <a:p xmlns:a="http://schemas.openxmlformats.org/drawingml/2006/main">
            <a:pPr algn="l">
              <a:defRPr sz="21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□ Preserve under-coverage as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661B0E-C976-4D4B-A297-BF7AF62D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19450"/>
            <a:ext cx="35242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8A1465-9407-45F7-8657-98654FA7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62350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Exit prompt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FF3AE1-90AA-41E3-966E-7BEDAD01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171950"/>
            <a:ext cx="28003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new data would separate epistemic uncertainty from CFD model discrepancy?</a:t>
            </a:r>
          </a:p>
        </p:txBody>
      </p:sp>
    </p:spTree>
    <p:extLst>
      <p:ext uri="{BB962C8B-B14F-4D97-AF65-F5344CB8AC3E}">
        <p14:creationId xmlns:p14="http://schemas.microsoft.com/office/powerpoint/2010/main" val="9613463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2026-09-03T23:20:00.9550000Z</dcterms:created>
  <dcterms:modified xsi:type="dcterms:W3CDTF">2026-09-03T23:20:00.9550000Z</dcterms:modified>
</coreProperties>
</file>