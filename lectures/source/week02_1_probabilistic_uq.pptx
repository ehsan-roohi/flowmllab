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70e835575641a7" /><Relationship Type="http://schemas.openxmlformats.org/officeDocument/2006/relationships/extended-properties" Target="/docProps/app.xml" Id="Raf50c4e431334f1f" /><Relationship Type="http://schemas.openxmlformats.org/officeDocument/2006/relationships/officeDocument" Target="/ppt/presentation.xml" Id="R38ef1765995f4e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ec34e209fc4cbf"/>
  </p:sldMasterIdLst>
  <p:notesMasterIdLst>
    <p:notesMasterId xmlns:r="http://schemas.openxmlformats.org/officeDocument/2006/relationships" r:id="R4ef760076294462b"/>
  </p:notesMasterIdLst>
  <p:sldIdLst>
    <p:sldId xmlns:r="http://schemas.openxmlformats.org/officeDocument/2006/relationships" id="256" r:id="R7b43c598d2c9452f"/>
    <p:sldId xmlns:r="http://schemas.openxmlformats.org/officeDocument/2006/relationships" id="257" r:id="R6de3477ab41b426c"/>
    <p:sldId xmlns:r="http://schemas.openxmlformats.org/officeDocument/2006/relationships" id="258" r:id="Rdc5ee032b8e745cf"/>
    <p:sldId xmlns:r="http://schemas.openxmlformats.org/officeDocument/2006/relationships" id="259" r:id="R0e25f877c2ea46e4"/>
    <p:sldId xmlns:r="http://schemas.openxmlformats.org/officeDocument/2006/relationships" id="260" r:id="Rd4f1ba17557d4caf"/>
    <p:sldId xmlns:r="http://schemas.openxmlformats.org/officeDocument/2006/relationships" id="261" r:id="Rb2b97708d38c4a29"/>
    <p:sldId xmlns:r="http://schemas.openxmlformats.org/officeDocument/2006/relationships" id="262" r:id="R6f6185df28e842ad"/>
    <p:sldId xmlns:r="http://schemas.openxmlformats.org/officeDocument/2006/relationships" id="263" r:id="R9368a9e30c714588"/>
    <p:sldId xmlns:r="http://schemas.openxmlformats.org/officeDocument/2006/relationships" id="264" r:id="Rad1621c64cca4e9b"/>
    <p:sldId xmlns:r="http://schemas.openxmlformats.org/officeDocument/2006/relationships" id="265" r:id="R961419c6c7af4629"/>
    <p:sldId xmlns:r="http://schemas.openxmlformats.org/officeDocument/2006/relationships" id="266" r:id="Re8b04715f3fb408f"/>
    <p:sldId xmlns:r="http://schemas.openxmlformats.org/officeDocument/2006/relationships" id="267" r:id="Rf1c9b85d421b4710"/>
    <p:sldId xmlns:r="http://schemas.openxmlformats.org/officeDocument/2006/relationships" id="268" r:id="R488d6c450b214b31"/>
    <p:sldId xmlns:r="http://schemas.openxmlformats.org/officeDocument/2006/relationships" id="269" r:id="R287fecebc68843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bef64db9a24586" /><Relationship Type="http://schemas.openxmlformats.org/officeDocument/2006/relationships/slideMaster" Target="/ppt/slideMasters/slideMaster1.xml" Id="Rb5ec34e209fc4cbf" /><Relationship Type="http://schemas.openxmlformats.org/officeDocument/2006/relationships/notesMaster" Target="/ppt/notesMasters/notesMaster1.xml" Id="R4ef760076294462b" /><Relationship Type="http://schemas.openxmlformats.org/officeDocument/2006/relationships/presProps" Target="/ppt/presProps.xml" Id="R628bc694d8594975" /><Relationship Type="http://schemas.openxmlformats.org/officeDocument/2006/relationships/tableStyles" Target="/ppt/tableStyles.xml" Id="R10fd666830d146a7" /><Relationship Type="http://schemas.openxmlformats.org/officeDocument/2006/relationships/slide" Target="/ppt/slides/slide1.xml" Id="R7b43c598d2c9452f" /><Relationship Type="http://schemas.openxmlformats.org/officeDocument/2006/relationships/slide" Target="/ppt/slides/slide2.xml" Id="R6de3477ab41b426c" /><Relationship Type="http://schemas.openxmlformats.org/officeDocument/2006/relationships/slide" Target="/ppt/slides/slide3.xml" Id="Rdc5ee032b8e745cf" /><Relationship Type="http://schemas.openxmlformats.org/officeDocument/2006/relationships/slide" Target="/ppt/slides/slide4.xml" Id="R0e25f877c2ea46e4" /><Relationship Type="http://schemas.openxmlformats.org/officeDocument/2006/relationships/slide" Target="/ppt/slides/slide5.xml" Id="Rd4f1ba17557d4caf" /><Relationship Type="http://schemas.openxmlformats.org/officeDocument/2006/relationships/slide" Target="/ppt/slides/slide6.xml" Id="Rb2b97708d38c4a29" /><Relationship Type="http://schemas.openxmlformats.org/officeDocument/2006/relationships/slide" Target="/ppt/slides/slide7.xml" Id="R6f6185df28e842ad" /><Relationship Type="http://schemas.openxmlformats.org/officeDocument/2006/relationships/slide" Target="/ppt/slides/slide8.xml" Id="R9368a9e30c714588" /><Relationship Type="http://schemas.openxmlformats.org/officeDocument/2006/relationships/slide" Target="/ppt/slides/slide9.xml" Id="Rad1621c64cca4e9b" /><Relationship Type="http://schemas.openxmlformats.org/officeDocument/2006/relationships/slide" Target="/ppt/slides/slide10.xml" Id="R961419c6c7af4629" /><Relationship Type="http://schemas.openxmlformats.org/officeDocument/2006/relationships/slide" Target="/ppt/slides/slide11.xml" Id="Re8b04715f3fb408f" /><Relationship Type="http://schemas.openxmlformats.org/officeDocument/2006/relationships/slide" Target="/ppt/slides/slide12.xml" Id="Rf1c9b85d421b4710" /><Relationship Type="http://schemas.openxmlformats.org/officeDocument/2006/relationships/slide" Target="/ppt/slides/slide13.xml" Id="R488d6c450b214b31" /><Relationship Type="http://schemas.openxmlformats.org/officeDocument/2006/relationships/slide" Target="/ppt/slides/slide14.xml" Id="R287fecebc68843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1c8eaf34040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38310975b841d0" /><Relationship Type="http://schemas.openxmlformats.org/officeDocument/2006/relationships/notesMaster" Target="/ppt/notesMasters/notesMaster1.xml" Id="R271536de2e2045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c0cba27d54cc5" /><Relationship Type="http://schemas.openxmlformats.org/officeDocument/2006/relationships/notesMaster" Target="/ppt/notesMasters/notesMaster1.xml" Id="R99d28f31aead48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1471a3d0324a9d" /><Relationship Type="http://schemas.openxmlformats.org/officeDocument/2006/relationships/notesMaster" Target="/ppt/notesMasters/notesMaster1.xml" Id="R5d4f73e2b7ce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a0cccfb23b4698" /><Relationship Type="http://schemas.openxmlformats.org/officeDocument/2006/relationships/notesMaster" Target="/ppt/notesMasters/notesMaster1.xml" Id="Rb92e83367ca6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8fa218a2a449b3" /><Relationship Type="http://schemas.openxmlformats.org/officeDocument/2006/relationships/notesMaster" Target="/ppt/notesMasters/notesMaster1.xml" Id="R8fc362e0b7c346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bf2cdf1e8e4466" /><Relationship Type="http://schemas.openxmlformats.org/officeDocument/2006/relationships/notesMaster" Target="/ppt/notesMasters/notesMaster1.xml" Id="R109d53aaf27240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6e2fccea994ce0" /><Relationship Type="http://schemas.openxmlformats.org/officeDocument/2006/relationships/notesMaster" Target="/ppt/notesMasters/notesMaster1.xml" Id="R22195620b4c942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f33e03bd174082" /><Relationship Type="http://schemas.openxmlformats.org/officeDocument/2006/relationships/notesMaster" Target="/ppt/notesMasters/notesMaster1.xml" Id="R80833b88c2ef49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7f9ffa69ec4533" /><Relationship Type="http://schemas.openxmlformats.org/officeDocument/2006/relationships/notesMaster" Target="/ppt/notesMasters/notesMaster1.xml" Id="R1132b25a3b4b4c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65fc8736524709" /><Relationship Type="http://schemas.openxmlformats.org/officeDocument/2006/relationships/notesMaster" Target="/ppt/notesMasters/notesMaster1.xml" Id="R92efe6a0292047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abdac7d273407f" /><Relationship Type="http://schemas.openxmlformats.org/officeDocument/2006/relationships/notesMaster" Target="/ppt/notesMasters/notesMaster1.xml" Id="R3499819f40f34e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18318699794bf0" /><Relationship Type="http://schemas.openxmlformats.org/officeDocument/2006/relationships/notesMaster" Target="/ppt/notesMasters/notesMaster1.xml" Id="R44cb6d4bc6b146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12c74e17744670" /><Relationship Type="http://schemas.openxmlformats.org/officeDocument/2006/relationships/notesMaster" Target="/ppt/notesMasters/notesMaster1.xml" Id="R7d941d5c833843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80deb75d0e4736" /><Relationship Type="http://schemas.openxmlformats.org/officeDocument/2006/relationships/notesMaster" Target="/ppt/notesMasters/notesMaster1.xml" Id="Rc9f9e2d5c72c44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Communication job: by the end, students should distinguish prediction error from predictive uncertainty and be able to audit a CFD surrogate distribution on untouched physical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https://github.com/Ehsan-Roohi/FlowMLLab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prediction they would trust near a wall or operating limit. Emphasize that RMSE alone does not communicate the width or calibration of a predictive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intentionally Week 2.1: the lesson depends on Week 2 regression and splitting concepts, then prepares students to interpret uncertainty in later surrogate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https://github.com/Ehsan-Roohi/FlowMLLab/blob/main/COURSE_MAP.md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measurement noise, sparse Reynolds-number sampling, and CFD model-form error as concrete examples. The distinction determines what a reported interval can legitimately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https://doi.org/10.1111/1467-9868.00294</a:t>
            </a:r>
          </a:p>
          <a:p xmlns:a="http://schemas.openxmlformats.org/drawingml/2006/main">
            <a:r>
              <a:t>- https://gaussianprocess.org/gpml/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 the negative log likelihood up to an additive constant. Ask when constant variance is implausible in a CFD field—for example, near steep gradients or sparse operating regimes.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https://gaussianprocess.org/gpml/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computes this update for a noisy Poiseuille velocity profile. The analytic solution lets students inspect every assumption before moving to Gaussian processes.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https://gaussianprocess.org/gpml/</a:t>
            </a:r>
          </a:p>
          <a:p xmlns:a="http://schemas.openxmlformats.org/drawingml/2006/main">
            <a:r>
              <a:t>- https://github.com/Ehsan-Roohi/FlowMLLab/blob/main/notebooks/week02_1/Probabilistic_UQ_CFD.ipynb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uncertainty in a latent mean from observation noise. Then revisit the taxonomy: neither term here necessarily represents CFD-to-reality discrepancy.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https://gaussianprocess.org/gpml/</a:t>
            </a:r>
          </a:p>
          <a:p xmlns:a="http://schemas.openxmlformats.org/drawingml/2006/main">
            <a:r>
              <a:t>- https://doi.org/10.1111/1467-9868.00294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FlowMLLab fits independent fixed-kernel Gaussian processes to a rank-4 velocity POD representation. Independence is a simplifying assumption, not a general truth about modal coefficients.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https://doi.org/10.1146/annurev.fl.25.010193.002543</a:t>
            </a:r>
          </a:p>
          <a:p xmlns:a="http://schemas.openxmlformats.org/drawingml/2006/main">
            <a:r>
              <a:t>- https://gaussianprocess.org/gpml/</a:t>
            </a:r>
          </a:p>
          <a:p xmlns:a="http://schemas.openxmlformats.org/drawingml/2006/main">
            <a:r>
              <a:t>- https://github.com/Ehsan-Roohi/FlowMLLab/blob/main/results/probabilistic_uq/protocol.json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students identify every decision that must be frozen before opening Re=175, 275, and 375. Pointwise random splits would leak the same physical solution across partitions.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https://github.com/Ehsan-Roohi/FlowMLLab/blob/main/results/probabilistic_uq/protocol.json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very wide interval can cover everything and still be uninformative. A very sharp interval can look decisive and still be badly miscalibrated.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NLL can be dominated by a few overconfident misses. CRPS has the same units as the target and integrates distribution quality across thresholds. Use both alongside coverage and width.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mean error to coverage. The POD–GP mean slightly improves on interpolation, but its uncertainty bands are not calibrated across all blind Reynolds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https://github.com/Ehsan-Roohi/FlowMLLab/blob/main/results/probabilistic_uq/probabilistic_uq_validation.png</a:t>
            </a:r>
          </a:p>
          <a:p xmlns:a="http://schemas.openxmlformats.org/drawingml/2006/main">
            <a:r>
              <a:t>- https://github.com/Ehsan-Roohi/FlowMLLab/blob/main/results/probabilistic_uq/blind_metrics.csv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failure. The calibrated aggregate coverage is 65.2%, up from 61.5%, but far below 90%. Spatial nodes are correlated, so these values are descriptive rather than finite-sample coverage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https://github.com/Ehsan-Roohi/FlowMLLab/blob/main/results/probabilistic_uq/summary.json</a:t>
            </a:r>
          </a:p>
          <a:p xmlns:a="http://schemas.openxmlformats.org/drawingml/2006/main">
            <a:r>
              <a:t>- https://github.com/Ehsan-Roohi/FlowMLLab/blob/main/results/probabilistic_uq/calibration.csv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having students answer the exit prompt before opening Week 4 surrogate models. The notebook is the executable companion to this lecture.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https://github.com/Ehsan-Roohi/FlowMLLab/blob/main/notebooks/week02_1/Probabilistic_UQ_CFD.ipynb</a:t>
            </a:r>
          </a:p>
          <a:p xmlns:a="http://schemas.openxmlformats.org/drawingml/2006/main">
            <a:r>
              <a:t>- https://gaussianprocess.org/gpml/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https://doi.org/10.1111/1467-9868.00294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015b66bc348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060851cfa42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53cbe330f44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9dc33eaf045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6e935c8f84c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e5f126fe54a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F354A-F9E6-49EF-873D-2740E4448A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869445-0F9D-4AA7-B145-D59B15E474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89EBD3-A44C-4F9C-ACFA-E67DFD6B01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D57C50-3F02-4090-94E6-F4F6915B5B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B6EB1B-AD97-4917-AE9D-55C51945E5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377F13-CA31-4275-92DB-DB046765A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394509-3132-4A84-849D-40F9815223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702D77-B04F-4241-9429-F711FD581E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337409-707D-43DA-8865-8AEF70AF1E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0C5EDF-ADDD-40A0-B02D-AF91EC7BB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09daf8e4d247e9" /><Relationship Type="http://schemas.openxmlformats.org/officeDocument/2006/relationships/slideLayout" Target="/ppt/slideLayouts/slideLayout1.xml" Id="R2132ba9c6eda40f0" /><Relationship Type="http://schemas.openxmlformats.org/officeDocument/2006/relationships/slideLayout" Target="/ppt/slideLayouts/slideLayout2.xml" Id="Raa69b4d0675649ce" /><Relationship Type="http://schemas.openxmlformats.org/officeDocument/2006/relationships/slideLayout" Target="/ppt/slideLayouts/slideLayout3.xml" Id="Re25c23e84ba44d99" /><Relationship Type="http://schemas.openxmlformats.org/officeDocument/2006/relationships/slideLayout" Target="/ppt/slideLayouts/slideLayout4.xml" Id="R16c5f333016d4cc8" /><Relationship Type="http://schemas.openxmlformats.org/officeDocument/2006/relationships/slideLayout" Target="/ppt/slideLayouts/slideLayout5.xml" Id="R1842a46c3fc1490d" /><Relationship Type="http://schemas.openxmlformats.org/officeDocument/2006/relationships/slideLayout" Target="/ppt/slideLayouts/slideLayout6.xml" Id="Rf0ce596f6e7f49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32ba9c6eda40f0"/>
    <p:sldLayoutId xmlns:r="http://schemas.openxmlformats.org/officeDocument/2006/relationships" id="2147483650" r:id="Raa69b4d0675649ce"/>
    <p:sldLayoutId xmlns:r="http://schemas.openxmlformats.org/officeDocument/2006/relationships" id="2147483651" r:id="Re25c23e84ba44d99"/>
    <p:sldLayoutId xmlns:r="http://schemas.openxmlformats.org/officeDocument/2006/relationships" id="2147483652" r:id="R16c5f333016d4cc8"/>
    <p:sldLayoutId xmlns:r="http://schemas.openxmlformats.org/officeDocument/2006/relationships" id="2147483653" r:id="R1842a46c3fc1490d"/>
    <p:sldLayoutId xmlns:r="http://schemas.openxmlformats.org/officeDocument/2006/relationships" id="2147483654" r:id="Rf0ce596f6e7f49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cf6a0c9a24d18" /><Relationship Type="http://schemas.openxmlformats.org/officeDocument/2006/relationships/notesSlide" Target="/ppt/notesSlides/notesSlide1.xml" Id="R6117141fac16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d03577b944b90" /><Relationship Type="http://schemas.openxmlformats.org/officeDocument/2006/relationships/notesSlide" Target="/ppt/notesSlides/notesSlide2.xml" Id="R28727fcd76544e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2a75bcd404776" /><Relationship Type="http://schemas.openxmlformats.org/officeDocument/2006/relationships/notesSlide" Target="/ppt/notesSlides/notesSlide3.xml" Id="R973d7f39b43145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5e92f67054c35" /><Relationship Type="http://schemas.openxmlformats.org/officeDocument/2006/relationships/notesSlide" Target="/ppt/notesSlides/notesSlide4.xml" Id="Rff48ec4b2e2a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c919226334bbb" /><Relationship Type="http://schemas.openxmlformats.org/officeDocument/2006/relationships/notesSlide" Target="/ppt/notesSlides/notesSlide5.xml" Id="R6048bff30acd4d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2a6e7c5ce4bd5" /><Relationship Type="http://schemas.openxmlformats.org/officeDocument/2006/relationships/notesSlide" Target="/ppt/notesSlides/notesSlide6.xml" Id="R8b62479ccf9443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1443eb18646fa" /><Relationship Type="http://schemas.openxmlformats.org/officeDocument/2006/relationships/notesSlide" Target="/ppt/notesSlides/notesSlide7.xml" Id="R02b89699560c4c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0ff58ccc84897" /><Relationship Type="http://schemas.openxmlformats.org/officeDocument/2006/relationships/notesSlide" Target="/ppt/notesSlides/notesSlide8.xml" Id="R46a1d9ceae7840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450d729dc4bc7" /><Relationship Type="http://schemas.openxmlformats.org/officeDocument/2006/relationships/notesSlide" Target="/ppt/notesSlides/notesSlide9.xml" Id="R4cee998702d144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c8ebbcab14273" /><Relationship Type="http://schemas.openxmlformats.org/officeDocument/2006/relationships/notesSlide" Target="/ppt/notesSlides/notesSlide10.xml" Id="Rbf4914c4e3294b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5f3aa937f4c4e" /><Relationship Type="http://schemas.openxmlformats.org/officeDocument/2006/relationships/notesSlide" Target="/ppt/notesSlides/notesSlide11.xml" Id="Rd8f5f8159a454b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1cab91dee4203" /><Relationship Type="http://schemas.openxmlformats.org/officeDocument/2006/relationships/image" Target="/ppt/media/image.png" Id="Rd0edfa1a8b5b4d8d" /><Relationship Type="http://schemas.openxmlformats.org/officeDocument/2006/relationships/notesSlide" Target="/ppt/notesSlides/notesSlide12.xml" Id="R1622835d92044f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3c210f9924f5a" /><Relationship Type="http://schemas.openxmlformats.org/officeDocument/2006/relationships/notesSlide" Target="/ppt/notesSlides/notesSlide13.xml" Id="Ra3ea151a9b3d46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dd32a592b44da" /><Relationship Type="http://schemas.openxmlformats.org/officeDocument/2006/relationships/notesSlide" Target="/ppt/notesSlides/notesSlide14.xml" Id="R1ca705016c804c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6696B-97D4-4BB4-BEF2-D99CA409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FLOWMLLAB • WEEK 2.1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5931C-B16D-4E44-9791-1F3EB4C3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def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Probabilistic uncertainty</a:t>
            </a:r>
          </a:p>
          <a:p xmlns:a="http://schemas.openxmlformats.org/drawingml/2006/main">
            <a:pPr algn="l">
              <a:def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 CFD surrogates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D3DCC-4B4D-4665-92B8-BC42390D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a loss function to a calibrated predictive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8F5CB-C7C6-4C41-A1C2-A49421D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00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4372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40E64E4-D37B-4547-A124-41DDCB98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point estimate cannot express confidence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23B71-2535-4D61-A2E4-DDAE5E180FE5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03D89-BEE8-489B-8B85-C1887A0B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2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4081B-D608-4223-BE3A-83AFDC20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SAME MEAN ERROR, DIFFERENT SCIENTIFIC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A85A5-0C47-4ECA-80D7-99D2205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ŷ(x)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8B5DA-D466-444A-AC78-4D8B8922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 best guess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CF60F-7724-4622-A311-9DB7E26F2A3F}"/>
              </a:ext>
            </a:extLst>
          </p:cNvPr>
          <p:cNvCxnSpPr/>
          <p:nvPr/>
        </p:nvCxnSpPr>
        <p:spPr>
          <a:xfrm xmlns:a="http://schemas.openxmlformats.org/drawingml/2006/main">
            <a:off x="3762375" y="1743075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A4A8D-5528-4BCA-B277-E51DD605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647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9BB5D-5B19-4122-9647-F9E405448ED4}"/>
              </a:ext>
            </a:extLst>
          </p:cNvPr>
          <p:cNvCxnSpPr/>
          <p:nvPr/>
        </p:nvCxnSpPr>
        <p:spPr>
          <a:xfrm xmlns:a="http://schemas.openxmlformats.org/drawingml/2006/main">
            <a:off x="6257925" y="2600325"/>
            <a:ext cx="29908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B3E6E-EC84-4146-B7B5-3A446F91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05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1709E-4A9E-41D0-9EC3-84BE9B55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narrow interval (same scale)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5533A-631D-4240-BCF3-B43CE145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647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CE32-E1FF-40E3-9568-BE85BF089EB0}"/>
              </a:ext>
            </a:extLst>
          </p:cNvPr>
          <p:cNvCxnSpPr/>
          <p:nvPr/>
        </p:nvCxnSpPr>
        <p:spPr>
          <a:xfrm xmlns:a="http://schemas.openxmlformats.org/drawingml/2006/main">
            <a:off x="4762500" y="4543425"/>
            <a:ext cx="598170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D97706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4CB57-661F-4DE8-AC3E-E828D386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48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B103A-761E-46FC-9384-2024B34A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86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wide interval (twice the width)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EC5E8-1951-404C-9147-C53C878F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673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mean can be identical while the decision should change.</a:t>
            </a:r>
          </a:p>
        </p:txBody>
      </p:sp>
    </p:spTree>
    <p:extLst>
      <p:ext uri="{BB962C8B-B14F-4D97-AF65-F5344CB8AC3E}">
        <p14:creationId xmlns:p14="http://schemas.microsoft.com/office/powerpoint/2010/main" val="915422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1CAA9DD-F36E-4D84-87D9-3F85217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extends supervised regression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C2CA0-2A31-4A4F-8331-7918D8CA7D26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9CB5B-2F48-40BD-8DCC-201562FB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3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02AFE-6604-4631-9DA3-E7D367F1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 already gives 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333D8-9CA9-4888-8307-FEB21222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361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features and targets</a:t>
            </a:r>
          </a:p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scaling</a:t>
            </a:r>
          </a:p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losses</a:t>
            </a:r>
          </a:p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case-wise splits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0F97F-C879-4A23-86CB-33C90DF0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4780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36A88-FC8E-495D-915C-B85A77AC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002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increment adds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57007-37A6-4BFA-92B4-3F70E4A9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43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 write an observation model</a:t>
            </a:r>
          </a:p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 compute posterior prediction</a:t>
            </a:r>
          </a:p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  score the full distribution</a:t>
            </a:r>
          </a:p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 calibrate without touching blind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F8C8A-8135-44E2-8F85-9D1971B3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new neural architecture is required.</a:t>
            </a:r>
          </a:p>
        </p:txBody>
      </p:sp>
    </p:spTree>
    <p:extLst>
      <p:ext uri="{BB962C8B-B14F-4D97-AF65-F5344CB8AC3E}">
        <p14:creationId xmlns:p14="http://schemas.microsoft.com/office/powerpoint/2010/main" val="9997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B190BC9-AD24-4933-A824-5B633DA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Uncertainty has three different causes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2CD79-7583-4327-A519-89A3139F51E3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8746E-33BE-4228-B3AA-D9DF6B3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4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68F91-EAF8-4257-8254-E46EDDF5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AF168-F0B6-437B-B87D-0265897A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ALEATORIC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1C907-2FCD-4349-95D6-2287319C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Noise or unresolved variability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73A3D-EB42-4E06-8646-75EE0160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 data may not remove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031C6-3211-4A0C-BF2F-55E3FE9A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EBFCB-91D9-4E9F-BEE4-B693BCF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EPISTEMIC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21FA4-52F9-46CD-ABF9-CD04C584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Limited knowledge of the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87A91-61DC-4920-A326-59CA40F3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 informative data can reduce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8A45C-FA33-4865-B63F-918FFA04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D77B5-6068-45B1-9A12-FCB126B4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DISCREPANCY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B54BE-CC5F-447B-B1A3-831025A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simulator misses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EA750-F0F0-497B-9EEB-B20DCEA3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confident surrogate can still be wrong.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84CF9-84CD-4754-93D9-5E14696B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 not collapse these mechanisms into one unexplained error bar.</a:t>
            </a:r>
          </a:p>
        </p:txBody>
      </p:sp>
    </p:spTree>
    <p:extLst>
      <p:ext uri="{BB962C8B-B14F-4D97-AF65-F5344CB8AC3E}">
        <p14:creationId xmlns:p14="http://schemas.microsoft.com/office/powerpoint/2010/main" val="8333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846F6BB-723C-4DB5-BB82-941FA8F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likelihood turns loss into a modeling choice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FBADA-5129-4E6D-9E1F-E18318C02C6E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CBB2D-C7E5-4025-8743-475631BE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5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52601-66EA-478D-A72B-7F2DC770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 = fθ(x) + 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07EBB-2E52-407C-95CE-CD951137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ε ~ 𝒩(0, σ²)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6B7DC-2E39-461A-A773-B89C4B7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5410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36AE2-E143-40DA-926E-D05D95D2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GAUSSIAN OBSERVATION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81915-91FB-48EC-8287-4C15CC3F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19375"/>
            <a:ext cx="4686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−log p(y | θ, σ²)</a:t>
            </a:r>
          </a:p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 n log σ + constant + SSE / 2σ²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F6EC9-46FA-4F20-9B26-10903D18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 known fixed σ, minimizing NLL in θ is equivalent to MSE. If σ is learned, retain n log σ.</a:t>
            </a:r>
          </a:p>
        </p:txBody>
      </p:sp>
    </p:spTree>
    <p:extLst>
      <p:ext uri="{BB962C8B-B14F-4D97-AF65-F5344CB8AC3E}">
        <p14:creationId xmlns:p14="http://schemas.microsoft.com/office/powerpoint/2010/main" val="222977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0492277-6779-4D7F-B27D-183A825E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Bayesian linear regression is an exact update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3D992-F3C1-4842-8429-02297B3245BB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7D0C5-B3C3-4215-91A6-AE3748A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6 / 14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3E52B-F805-46F4-A5A2-8F8768E6F2E2}"/>
              </a:ext>
            </a:extLst>
          </p:cNvPr>
          <p:cNvCxnSpPr/>
          <p:nvPr/>
        </p:nvCxnSpPr>
        <p:spPr>
          <a:xfrm xmlns:a="http://schemas.openxmlformats.org/drawingml/2006/main">
            <a:off x="666750" y="3238500"/>
            <a:ext cx="10572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226BA-9B8D-46ED-9B15-1AFF9794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D6D1F-586D-4B2F-B404-5EAC7A4C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4EA53-F11D-41DC-BAF6-58B6545E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Plausible before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EFCD9-0AAA-4730-BE2A-F893643A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 ~ 𝒩(m₀, S₀)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88BF4-3A69-4494-B65C-E753E487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B89CB-C199-46C0-BD76-0C490867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LIKELIHOOD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0B55D-433D-414E-9C21-3E10579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147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Evidence from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E5985-0CFC-4B56-B8DB-F28386D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 | w ~ 𝒩(Φw, σ²I)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41DD7-C27C-45D9-A3EC-A70C6DDB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B7681-4D31-4354-BBC6-DD0A26E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POSTERIOR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8F1BD-7663-41C0-95C0-2B8C5FB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Plausible after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E747D-2BF8-43BF-8F7E-4C67088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244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 | y ~ 𝒩(mₙ, Sₙ)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5F7F4-6FFC-4176-86F3-D31B74F8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Posterior precision = prior precision + data precision</a:t>
            </a:r>
          </a:p>
        </p:txBody>
      </p:sp>
    </p:spTree>
    <p:extLst>
      <p:ext uri="{BB962C8B-B14F-4D97-AF65-F5344CB8AC3E}">
        <p14:creationId xmlns:p14="http://schemas.microsoft.com/office/powerpoint/2010/main" val="186103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BBFEAF2-1A5C-402F-B727-AC0907D0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Prediction uncertainty has two terms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E7D59-D3C1-4CD0-BE5E-EF0639B8EDFC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81377-064C-4278-8340-B0129104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7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1BE57-9207-497C-8687-0FCD648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Var[y* | x*, D]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6898E-D54D-416D-BF29-89F3CFD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552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4F1BC-0DCA-40CC-909D-EE995214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57350"/>
            <a:ext cx="2524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BFFD2-A458-4FA4-86E8-42459CB8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σ²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659F2-97B6-4116-A892-BE39CCE7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 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25559-BCCE-4407-B15A-5A1540C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81200"/>
            <a:ext cx="552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7EA9D-DAEF-4D6A-83CB-95FC54EC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5735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986E0-12BE-4257-BE6B-791C8AD3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φ*ᵀ Sₙ φ*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49F0B-BD7D-4661-BD2C-E886C9B0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860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parameter 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DBBF6-094C-4167-B7B5-9B39059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Report which terms are included. A posterior over weights does not automatically include simulator discrepancy.</a:t>
            </a:r>
          </a:p>
        </p:txBody>
      </p:sp>
    </p:spTree>
    <p:extLst>
      <p:ext uri="{BB962C8B-B14F-4D97-AF65-F5344CB8AC3E}">
        <p14:creationId xmlns:p14="http://schemas.microsoft.com/office/powerpoint/2010/main" val="2061003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27A4B45-9407-4498-8115-44479230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POD compresses field uncertainty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8B180-791B-4609-ADAB-75417070CF04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CBEEB-45F8-46FE-8F94-D42614D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8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D9B5E-586C-4F4C-A8DE-7AD4A14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23A16-8A96-475C-8615-4D30FEDB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F8114-96C0-4FA0-9555-F305D98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CFD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45CAC-A288-4812-8BD6-50AD16FB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u(x; Re)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41D25-8013-4942-B905-98C80855810E}"/>
              </a:ext>
            </a:extLst>
          </p:cNvPr>
          <p:cNvCxnSpPr/>
          <p:nvPr/>
        </p:nvCxnSpPr>
        <p:spPr>
          <a:xfrm xmlns:a="http://schemas.openxmlformats.org/drawingml/2006/main">
            <a:off x="2324100" y="3171825"/>
            <a:ext cx="4381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546FD-0DBF-46A7-BD07-38DC9E9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60141-6E57-4F51-BAA8-5E4857DB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53948-4157-42C9-BECC-5717B1C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POD basis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F0FC2-2B39-48D5-9C85-5E3E5424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Φ₁ … Φᵣ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2A5CE-72D2-4FFC-AC91-B7CBC509BE79}"/>
              </a:ext>
            </a:extLst>
          </p:cNvPr>
          <p:cNvCxnSpPr/>
          <p:nvPr/>
        </p:nvCxnSpPr>
        <p:spPr>
          <a:xfrm xmlns:a="http://schemas.openxmlformats.org/drawingml/2006/main">
            <a:off x="4591050" y="3171825"/>
            <a:ext cx="4381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E6349-213F-43CE-9256-DF0377AF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E5429-535F-40A0-AB78-B4C7C34B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43271-4573-4297-8930-FA29F0E5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Coefficients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D924E-E081-4539-A686-D198552E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a₁(Re)…aᵣ(Re)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29EDE-039E-478C-A6AD-E990A9DB9594}"/>
              </a:ext>
            </a:extLst>
          </p:cNvPr>
          <p:cNvCxnSpPr/>
          <p:nvPr/>
        </p:nvCxnSpPr>
        <p:spPr>
          <a:xfrm xmlns:a="http://schemas.openxmlformats.org/drawingml/2006/main">
            <a:off x="6858000" y="3171825"/>
            <a:ext cx="4381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415C3-C1D1-43AA-B9DB-5BADA7CA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669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781CB-0C0C-4625-BB3F-20313772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863DD-9E72-4FC9-9DB1-EAAE2D55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99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Gaussian 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80BB2-DDC9-4C5E-AF81-F9332F8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766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p(aⱼ* | Re*)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0F5D4-36F0-492B-9508-FB8EE080A073}"/>
              </a:ext>
            </a:extLst>
          </p:cNvPr>
          <p:cNvCxnSpPr/>
          <p:nvPr/>
        </p:nvCxnSpPr>
        <p:spPr>
          <a:xfrm xmlns:a="http://schemas.openxmlformats.org/drawingml/2006/main">
            <a:off x="9124950" y="3171825"/>
            <a:ext cx="4381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1EC50B-0366-478A-B6AA-781B2772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74ABA-9A64-48C5-81D9-D94F5028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2BC7D-BF9A-4D94-9BE7-5288869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Field distribution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B9054-D45D-49E6-9747-993E35D0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766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μu(x), σu(x)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4FE354-22FE-4B0D-9C6E-420B5D3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Low-rank structure reduces a spatial field to a few probabilistic coefficient functions.</a:t>
            </a:r>
          </a:p>
        </p:txBody>
      </p:sp>
    </p:spTree>
    <p:extLst>
      <p:ext uri="{BB962C8B-B14F-4D97-AF65-F5344CB8AC3E}">
        <p14:creationId xmlns:p14="http://schemas.microsoft.com/office/powerpoint/2010/main" val="1240961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3B125D9-E531-4299-AC88-374031D6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Calibration must stop before the blind gate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5DF75-675B-45A0-8395-9C416563D8CC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AB554-D45F-42F5-8721-D9EEEA2D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9 / 14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30273-E30E-418B-AC78-97C6E7C5EBAF}"/>
              </a:ext>
            </a:extLst>
          </p:cNvPr>
          <p:cNvCxnSpPr/>
          <p:nvPr/>
        </p:nvCxnSpPr>
        <p:spPr>
          <a:xfrm xmlns:a="http://schemas.openxmlformats.org/drawingml/2006/main">
            <a:off x="666750" y="3238500"/>
            <a:ext cx="10572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75A55-C8EA-481C-958F-54EE7CFD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8FF51-C5C0-4457-AA77-564B5AC4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03F51-D434-4B95-83A5-8381EAA3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Fit POD + GP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C2826-1725-4A7A-B0E6-1700DE61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300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 = 100, 150, 200, 225, 250, 350, 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D74F2-7153-4E38-A3DE-9646D16A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DD6E5-386D-4A06-9AE5-5B80E274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CALIBRATE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6E581-47DB-4405-A923-5A3C222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147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Scale interval width once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12E21-E351-4907-86E4-5D4BEDA5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300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 = 300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203CC-A808-49FA-ACB5-3BCE5D25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E861C-32FF-4008-BF3F-D328EB42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BLIND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D9157-50B2-42D9-B30C-5115CBEE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Measure without tuning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09716-3089-4DA8-8658-6F87BBD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300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 = 175, 275, 375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C27E0-9C2E-4301-AABE-B1EC3F0E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split unit is a complete Reynolds-number case—not individual grid nodes.</a:t>
            </a:r>
          </a:p>
        </p:txBody>
      </p:sp>
    </p:spTree>
    <p:extLst>
      <p:ext uri="{BB962C8B-B14F-4D97-AF65-F5344CB8AC3E}">
        <p14:creationId xmlns:p14="http://schemas.microsoft.com/office/powerpoint/2010/main" val="1194657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78FC36ED-3C14-4713-A976-BC1CADAD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Judge accuracy, calibration, and sharpness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CC0EA-C1E7-4F10-B0B9-864B6B2DB118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E2C3B-FBF0-4EA9-A8AB-DA538258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10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876E4-FED7-49E7-8F2E-B9147309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AF402-AD12-45D5-8AAE-68CCF6AA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95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F6946-4A4B-40E0-8207-6C73690C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92451-5A20-49A2-B848-7654F11E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Accuracy</a:t>
            </a:r>
          </a:p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 the predictive mass near truth?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186DB-AD47-418E-9D9D-C19D788A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A52D1-8278-4104-8ECB-C14667A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95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EEF1A-C89A-4773-A3D6-0FD50A7D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39131-D0A8-48DE-A6A6-B14FC54A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863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Calibration</a:t>
            </a:r>
          </a:p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 nominal levels match frequency?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F5577-9AC4-4643-995A-8F27026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D0267-35D1-4930-ABCF-D2D6A654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95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E3D3D-3C59-4EC6-A279-F4BA38DE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2D343-1CA0-4BDF-8093-6F59C466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Sharpness</a:t>
            </a:r>
          </a:p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 intervals as narrow as justified?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7F2BA-6858-4A15-80E3-ABA5DDAF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Optimizing only one can produce a useless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961359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883642F8-3352-44CD-9A72-1D44E501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 the distribution, not only its mean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FBAF8-A605-4F02-AD70-358BD0F43C70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E6ED2-FBD1-490D-A054-3C694B97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11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55EDF-E5F4-4D63-81BF-D748DA49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GAUSSIAN NEGATIVE LOG LIKELIHOOD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FC54F-A919-4752-839E-9206D449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NLL = ½ log(2πσ²) + ½(y−μ)²/σ²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9DF51-8AD6-494C-B862-5F0294A876F5}"/>
              </a:ext>
            </a:extLst>
          </p:cNvPr>
          <p:cNvCxnSpPr/>
          <p:nvPr/>
        </p:nvCxnSpPr>
        <p:spPr>
          <a:xfrm xmlns:a="http://schemas.openxmlformats.org/drawingml/2006/main">
            <a:off x="552450" y="31051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959D1-89E3-425D-AA34-EE22CA96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 RANKED PROBABILITY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104D7-E4BA-4710-A3F6-FF98603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CRPS compares the predictive CDF with the observed step CDF.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FC974-85FB-4C60-9226-055FDDF1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9B222-8C76-43A2-B578-9D26B13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Lower is better. Both scores penalize confident errors.</a:t>
            </a:r>
          </a:p>
        </p:txBody>
      </p:sp>
    </p:spTree>
    <p:extLst>
      <p:ext uri="{BB962C8B-B14F-4D97-AF65-F5344CB8AC3E}">
        <p14:creationId xmlns:p14="http://schemas.microsoft.com/office/powerpoint/2010/main" val="11205869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0D5AF5FF-460E-4C98-B121-82A92FF3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Blind evidence beats a polished uncertainty story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D9F37-73BA-4477-A6E9-6B11AB13222F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1FCDE-ABFB-409D-B772-B8A3E02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12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304D3-3994-4974-A008-09205BD5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113538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CB327-D1BE-4E4F-A000-4A82C00099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dfa1a8b5b4d8d"/>
          <a:stretch xmlns:a="http://schemas.openxmlformats.org/drawingml/2006/main"/>
        </p:blipFill>
        <p:spPr>
          <a:xfrm xmlns:a="http://schemas.openxmlformats.org/drawingml/2006/main">
            <a:off x="3180476" y="1466850"/>
            <a:ext cx="5831048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452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27394ADD-A8B0-4A56-B222-491AD70E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mean improved; coverage did not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251A9-94BE-4B6B-A4F8-33D60AD73FC9}"/>
              </a:ext>
            </a:extLst>
          </p:cNvPr>
          <p:cNvCxnSpPr/>
          <p:nvPr/>
        </p:nvCxnSpPr>
        <p:spPr>
          <a:xfrm xmlns:a="http://schemas.openxmlformats.org/drawingml/2006/main">
            <a:off x="495300" y="11239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6CB54-BF5C-4BC7-A144-FEFC6480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 •  13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2DC42-23C7-4A6E-A7EB-AF4A8B71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Validation-only scaling increased blind 90% coverage, but did not approach the nominal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35B43-7621-42BE-8A58-70C6DFF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8585A-3AA3-4DC2-8E08-B9D8EF0B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95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B35F8-DCC0-4F22-865F-48246815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0.333%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CFB44-18A7-44DB-8D22-8DF2DC84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Mean POD–GP relative L₂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CA7FA-D472-4839-8AF4-296A24A8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114A8-A56A-468B-AC42-E8F702E3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95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06E3C-9619-42D7-AFF0-C54208C5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0.414%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EE763-0A56-483D-B45D-769EA51F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863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Mean interpolation relative L₂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13AF9-605F-40DC-A338-18118249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E2860-D650-486D-9E0D-94B8635A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95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C583B-584B-4CB9-80C7-EBFB9F50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65.2%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1DFA3-2FA0-47B6-BC4E-F7A82B39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Calibrated coverage at nominal 90%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D53E7-43A0-4A40-8BEA-F06F764D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959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69717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389E4-5F9F-4307-A99C-F8AC774F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2.1 • EXIT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25213-6DFC-4030-962D-544F0C88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942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Make the uncertainty claim</a:t>
            </a:r>
          </a:p>
          <a:p xmlns:a="http://schemas.openxmlformats.org/drawingml/2006/main">
            <a:pPr algn="l">
              <a:def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 auditable as the mean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B4769-1CED-4EAF-A48C-A024386C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695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□ State what is random</a:t>
            </a:r>
          </a:p>
          <a:p xmlns:a="http://schemas.openxmlformats.org/drawingml/2006/main">
            <a: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□ Keep physical cases intact</a:t>
            </a:r>
          </a:p>
          <a:p xmlns:a="http://schemas.openxmlformats.org/drawingml/2006/main">
            <a: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□ Freeze calibration before blind testing</a:t>
            </a:r>
          </a:p>
          <a:p xmlns:a="http://schemas.openxmlformats.org/drawingml/2006/main">
            <a: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□ Report accuracy, coverage, and width</a:t>
            </a:r>
          </a:p>
          <a:p xmlns:a="http://schemas.openxmlformats.org/drawingml/2006/main">
            <a:pPr algn="l"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□ Preserve under-coverage as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51931-8759-4881-902F-89CC8A0C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3524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B88C2-3B4A-4BCD-B2C5-50FC20C1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Exit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AEBE0-5C4E-47EE-AC3B-790B07B7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2800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new data would separate epistemic uncertainty from CFD model discrepancy?</a:t>
            </a:r>
          </a:p>
        </p:txBody>
      </p:sp>
    </p:spTree>
    <p:extLst>
      <p:ext uri="{BB962C8B-B14F-4D97-AF65-F5344CB8AC3E}">
        <p14:creationId xmlns:p14="http://schemas.microsoft.com/office/powerpoint/2010/main" val="24136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2026-10-19T00:30:05.8830000Z</dcterms:created>
  <dcterms:modified xsi:type="dcterms:W3CDTF">2026-10-19T00:30:05.8840000Z</dcterms:modified>
</coreProperties>
</file>